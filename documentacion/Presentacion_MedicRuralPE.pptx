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314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Presentar el proyecto como un prototipo de inventario. No es un sistema clínico ni contiene información de pacientes. Introducción muy breve antes de explicar el problema.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números son un ejemplo para entender el problema, no resultados de una clínica real. Guantes: 5 frente al mínimo 30, faltan 25; paracetamol: 8 frente a 20, faltan 12; jeringas: 16 frente a 10, no requiere atención por mínimo. La idea principal es pasar de mirar una lista a saber qué hace falta primero.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responde qué hace el programa. RF significa Requerimiento Funcional. El usuario puede registrar, ver y actualizar; el programa reconoce stock bajo, muestra los críticos, los ordena según el faltante y presenta un resumen. No es necesario explicar métodos Java aquí.</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más alineada con el criterio 2.1: cada decisión de diseño está conectada con un requisito o restricción. RD es Restricción de Diseño. RD02 significa trabajar en memoria y RD03 no usar datos personales: facilitan el prototipo pero los registros se pierden al cerrar. RD04 pide separar responsabilidades. No dediquemos tiempo a definir tecnicismos innecesarios.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 clases y objetos, como un producto con código, nombre y stock. Funcional: analizar la lista con operaciones como filter. Eventos: el programa reacciona cuando el usuario pulsa un botón. Ejemplo completo: Ver críticos llama al analizador, que evalúa los objetos y presenta la tabla. Los tres enfoques están presentes en el código.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dibujo simplifica el UML completo del informe. FrmMedicRural es la ventana y conecta con Inventario y AnalizadorInventario. Inventario conserva los objetos RecursoMedico. Medicamento e InsumoMedico heredan datos y reglas de la clase abstracta RecursoMedico. Abstracta significa que es la base compartida, no un producto que creamos directamente. Singleton hace que Inventario.getInstancia() devuelva la misma instancia. Factory agrupa la creación de subtipos en RecursoFactory.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ver código, 8 es menor que el mínimo 20, por eso es crítico; el faltante son 12 unidades. En Java &lt;= significa menor o igual. El método esCritico() devuelve verdadero o falso. filter conserva los productos cuya regla es verdadera. map toma un dato de cada producto, como el stock. reduce suma esos datos. sorted también ordena los críticos por faltante, pero no es necesario detenernos en su sintaxis.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trata de una captura real del programa Java Swing, con tres registros ficticios creados para visualizar la tabla. Swing es la biblioteca gráfica de Java; NetBeans es el entorno de desarrollo y la JVM es la máquina virtual que ejecuta Java. En este flujo, al pulsar Ver críticos se dispara un evento; el handler llama al analizador y la tabla se actualiza. El programa muestra avisos por cantidades incorrectas o códigos repetidos.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pruebas están en el proyecto y sus XML registran 1 test y cero errores para cada clase: RecursoMedicoTest, InventarioTest y AnalizadorInventarioTest. Primer caso: un producto con 10 y mínimo 20 se considera crítico. Segundo: dos recursos con el mismo código TEST001 causan una excepción controlada. Tercero: el faltante 25 se ordena antes que el de 12. La prueba automatizada NO cubre toda la GUI. En este momento realizar la demostración en vivo en NetBeans y enseñar una prueba JUnit; reservar unos cuatro minutos.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Concluir diciendo que MedicRural-PE resuelve el escenario académico de inventario: registra, consulta, actualiza, analiza y resume. Funciona en memoria, así que al cerrar se pierden los registros; no está listo para implantación clínica. Futuro: persistencia y pruebas más amplias, siempre manteniendo la seguridad y el alcance apropiado. Preguntas: todos deben explicar cualquiera de estas partes.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principales de esta presentación fueron la guía de evaluación del curso, el informe técnico del equipo y el código Java real junto con sus tres pruebas JUnit. Estas referencias son fuentes del propio proyecto y no afirman haber realizado estudios externos.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92929"/>
        </a:solidFill>
        <a:effectLst/>
      </p:bgPr>
    </p:bg>
    <p:spTree>
      <p:nvGrpSpPr>
        <p:cNvPr id="1" name=""/>
        <p:cNvGrpSpPr/>
        <p:nvPr/>
      </p:nvGrpSpPr>
      <p:grpSpPr>
        <a:xfrm>
          <a:off x="0" y="0"/>
          <a:ext cx="0" cy="0"/>
          <a:chOff x="0" y="0"/>
          <a:chExt cx="0" cy="0"/>
        </a:xfrm>
      </p:grpSpPr>
      <p:sp>
        <p:nvSpPr>
          <p:cNvPr id="2" name="Shape 0"/>
          <p:cNvSpPr/>
          <p:nvPr/>
        </p:nvSpPr>
        <p:spPr>
          <a:xfrm>
            <a:off x="640080" y="640080"/>
            <a:ext cx="64008" cy="5486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96112" y="795528"/>
            <a:ext cx="4379976" cy="237744"/>
          </a:xfrm>
          <a:prstGeom prst="rect">
            <a:avLst/>
          </a:prstGeom>
          <a:noFill/>
          <a:ln/>
        </p:spPr>
        <p:txBody>
          <a:bodyPr wrap="square" lIns="0" tIns="0" rIns="0" bIns="0" rtlCol="0" anchor="ctr">
            <a:normAutofit/>
          </a:bodyPr>
          <a:lstStyle/>
          <a:p>
            <a:pPr marL="0" indent="0" algn="l">
              <a:buNone/>
            </a:pPr>
            <a:r>
              <a:rPr lang="en-US" sz="1250" b="1" kern="0" spc="105" dirty="0">
                <a:solidFill>
                  <a:srgbClr val="D9D2CC"/>
                </a:solidFill>
                <a:latin typeface="Aptos" pitchFamily="34" charset="0"/>
                <a:ea typeface="Aptos" pitchFamily="34" charset="-122"/>
                <a:cs typeface="Aptos" pitchFamily="34" charset="-120"/>
              </a:rPr>
              <a:t>UNIVERSIDAD PRIVADA DEL NORTE   /   UAIN1288P</a:t>
            </a:r>
            <a:endParaRPr lang="en-US" sz="1250" dirty="0"/>
          </a:p>
        </p:txBody>
      </p:sp>
      <p:sp>
        <p:nvSpPr>
          <p:cNvPr id="4" name="Text 2"/>
          <p:cNvSpPr/>
          <p:nvPr/>
        </p:nvSpPr>
        <p:spPr>
          <a:xfrm>
            <a:off x="813816" y="1591056"/>
            <a:ext cx="8321040" cy="868680"/>
          </a:xfrm>
          <a:prstGeom prst="rect">
            <a:avLst/>
          </a:prstGeom>
          <a:noFill/>
          <a:ln/>
        </p:spPr>
        <p:txBody>
          <a:bodyPr wrap="square" lIns="0" tIns="0" rIns="0" bIns="0" rtlCol="0" anchor="ctr">
            <a:normAutofit/>
          </a:bodyPr>
          <a:lstStyle/>
          <a:p>
            <a:pPr marL="0" indent="0" algn="l">
              <a:buNone/>
            </a:pPr>
            <a:r>
              <a:rPr lang="en-US" sz="4750" b="1" dirty="0">
                <a:solidFill>
                  <a:srgbClr val="FFFFFF"/>
                </a:solidFill>
                <a:latin typeface="Aptos Display" pitchFamily="34" charset="0"/>
                <a:ea typeface="Aptos Display" pitchFamily="34" charset="-122"/>
                <a:cs typeface="Aptos Display" pitchFamily="34" charset="-120"/>
              </a:rPr>
              <a:t>MedicRural-PE</a:t>
            </a:r>
            <a:endParaRPr lang="en-US" sz="4750" dirty="0"/>
          </a:p>
        </p:txBody>
      </p:sp>
      <p:sp>
        <p:nvSpPr>
          <p:cNvPr id="5" name="Text 3"/>
          <p:cNvSpPr/>
          <p:nvPr/>
        </p:nvSpPr>
        <p:spPr>
          <a:xfrm>
            <a:off x="859536" y="2587752"/>
            <a:ext cx="6903720" cy="777240"/>
          </a:xfrm>
          <a:prstGeom prst="rect">
            <a:avLst/>
          </a:prstGeom>
          <a:noFill/>
          <a:ln/>
        </p:spPr>
        <p:txBody>
          <a:bodyPr wrap="square" lIns="0" tIns="0" rIns="0" bIns="0" rtlCol="0" anchor="t">
            <a:normAutofit/>
          </a:bodyPr>
          <a:lstStyle/>
          <a:p>
            <a:pPr marL="0" indent="0" algn="l">
              <a:buNone/>
            </a:pPr>
            <a:r>
              <a:rPr lang="en-US" sz="2400" dirty="0">
                <a:solidFill>
                  <a:srgbClr val="EADBD0"/>
                </a:solidFill>
                <a:latin typeface="Aptos" pitchFamily="34" charset="0"/>
                <a:ea typeface="Aptos" pitchFamily="34" charset="-122"/>
                <a:cs typeface="Aptos" pitchFamily="34" charset="-120"/>
              </a:rPr>
              <a:t>Del registro de productos a una decisión clara:</a:t>
            </a:r>
            <a:endParaRPr lang="en-US" sz="2400" dirty="0"/>
          </a:p>
          <a:p>
            <a:pPr marL="0" indent="0" algn="l">
              <a:buNone/>
            </a:pPr>
            <a:r>
              <a:rPr lang="en-US" sz="2400" dirty="0">
                <a:solidFill>
                  <a:srgbClr val="EADBD0"/>
                </a:solidFill>
                <a:latin typeface="Aptos" pitchFamily="34" charset="0"/>
                <a:ea typeface="Aptos" pitchFamily="34" charset="-122"/>
                <a:cs typeface="Aptos" pitchFamily="34" charset="-120"/>
              </a:rPr>
              <a:t>¿qué hace falta reponer primero?</a:t>
            </a:r>
            <a:endParaRPr lang="en-US" sz="2400" dirty="0"/>
          </a:p>
        </p:txBody>
      </p:sp>
      <p:sp>
        <p:nvSpPr>
          <p:cNvPr id="6" name="Shape 4"/>
          <p:cNvSpPr/>
          <p:nvPr/>
        </p:nvSpPr>
        <p:spPr>
          <a:xfrm>
            <a:off x="868680" y="3594998"/>
            <a:ext cx="6236208" cy="0"/>
          </a:xfrm>
          <a:prstGeom prst="line">
            <a:avLst/>
          </a:prstGeom>
          <a:noFill/>
          <a:ln w="12700">
            <a:solidFill>
              <a:srgbClr val="6A605A"/>
            </a:solidFill>
            <a:prstDash val="solid"/>
          </a:ln>
        </p:spPr>
        <p:txBody>
          <a:bodyPr/>
          <a:lstStyle/>
          <a:p>
            <a:endParaRPr lang="en-US"/>
          </a:p>
        </p:txBody>
      </p:sp>
      <p:sp>
        <p:nvSpPr>
          <p:cNvPr id="7" name="Shape 5"/>
          <p:cNvSpPr/>
          <p:nvPr/>
        </p:nvSpPr>
        <p:spPr>
          <a:xfrm>
            <a:off x="877824" y="3911756"/>
            <a:ext cx="1920240" cy="356616"/>
          </a:xfrm>
          <a:prstGeom prst="roundRect">
            <a:avLst>
              <a:gd name="adj" fmla="val 30769"/>
            </a:avLst>
          </a:prstGeom>
          <a:solidFill>
            <a:srgbClr val="514842"/>
          </a:solidFill>
          <a:ln w="12700">
            <a:solidFill>
              <a:srgbClr val="514842">
                <a:alpha val="0"/>
              </a:srgbClr>
            </a:solidFill>
            <a:prstDash val="solid"/>
          </a:ln>
        </p:spPr>
        <p:txBody>
          <a:bodyPr/>
          <a:lstStyle/>
          <a:p>
            <a:endParaRPr lang="en-US"/>
          </a:p>
        </p:txBody>
      </p:sp>
      <p:sp>
        <p:nvSpPr>
          <p:cNvPr id="8" name="Text 6"/>
          <p:cNvSpPr/>
          <p:nvPr/>
        </p:nvSpPr>
        <p:spPr>
          <a:xfrm>
            <a:off x="987552" y="3939188"/>
            <a:ext cx="1700784" cy="28346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Java + Swing</a:t>
            </a:r>
            <a:endParaRPr lang="en-US" sz="1300" dirty="0"/>
          </a:p>
        </p:txBody>
      </p:sp>
      <p:sp>
        <p:nvSpPr>
          <p:cNvPr id="9" name="Shape 7"/>
          <p:cNvSpPr/>
          <p:nvPr/>
        </p:nvSpPr>
        <p:spPr>
          <a:xfrm>
            <a:off x="2926080" y="3911756"/>
            <a:ext cx="2350008" cy="356616"/>
          </a:xfrm>
          <a:prstGeom prst="roundRect">
            <a:avLst>
              <a:gd name="adj" fmla="val 30769"/>
            </a:avLst>
          </a:prstGeom>
          <a:solidFill>
            <a:srgbClr val="514842"/>
          </a:solidFill>
          <a:ln w="12700">
            <a:solidFill>
              <a:srgbClr val="514842">
                <a:alpha val="0"/>
              </a:srgbClr>
            </a:solidFill>
            <a:prstDash val="solid"/>
          </a:ln>
        </p:spPr>
        <p:txBody>
          <a:bodyPr/>
          <a:lstStyle/>
          <a:p>
            <a:endParaRPr lang="en-US"/>
          </a:p>
        </p:txBody>
      </p:sp>
      <p:sp>
        <p:nvSpPr>
          <p:cNvPr id="10" name="Text 8"/>
          <p:cNvSpPr/>
          <p:nvPr/>
        </p:nvSpPr>
        <p:spPr>
          <a:xfrm>
            <a:off x="3035808" y="3939188"/>
            <a:ext cx="2130552" cy="283464"/>
          </a:xfrm>
          <a:prstGeom prst="rect">
            <a:avLst/>
          </a:prstGeom>
          <a:noFill/>
          <a:ln/>
        </p:spPr>
        <p:txBody>
          <a:bodyPr wrap="square" lIns="0" tIns="0" rIns="0" bIns="0"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Orientado a objetos</a:t>
            </a:r>
            <a:endParaRPr lang="en-US" sz="1220" dirty="0"/>
          </a:p>
        </p:txBody>
      </p:sp>
      <p:sp>
        <p:nvSpPr>
          <p:cNvPr id="11" name="Shape 9"/>
          <p:cNvSpPr/>
          <p:nvPr/>
        </p:nvSpPr>
        <p:spPr>
          <a:xfrm>
            <a:off x="5385816" y="3911756"/>
            <a:ext cx="2322576" cy="356616"/>
          </a:xfrm>
          <a:prstGeom prst="roundRect">
            <a:avLst>
              <a:gd name="adj" fmla="val 30769"/>
            </a:avLst>
          </a:prstGeom>
          <a:solidFill>
            <a:srgbClr val="514842"/>
          </a:solidFill>
          <a:ln w="12700">
            <a:solidFill>
              <a:srgbClr val="514842">
                <a:alpha val="0"/>
              </a:srgbClr>
            </a:solidFill>
            <a:prstDash val="solid"/>
          </a:ln>
        </p:spPr>
        <p:txBody>
          <a:bodyPr/>
          <a:lstStyle/>
          <a:p>
            <a:endParaRPr lang="en-US"/>
          </a:p>
        </p:txBody>
      </p:sp>
      <p:sp>
        <p:nvSpPr>
          <p:cNvPr id="12" name="Text 10"/>
          <p:cNvSpPr/>
          <p:nvPr/>
        </p:nvSpPr>
        <p:spPr>
          <a:xfrm>
            <a:off x="5495544" y="3939188"/>
            <a:ext cx="2103120" cy="283464"/>
          </a:xfrm>
          <a:prstGeom prst="rect">
            <a:avLst/>
          </a:prstGeom>
          <a:noFill/>
          <a:ln/>
        </p:spPr>
        <p:txBody>
          <a:bodyPr wrap="square" lIns="0" tIns="0" rIns="0" bIns="0"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Funcional + eventos</a:t>
            </a:r>
            <a:endParaRPr lang="en-US" sz="1220" dirty="0"/>
          </a:p>
        </p:txBody>
      </p:sp>
      <p:sp>
        <p:nvSpPr>
          <p:cNvPr id="13" name="Text 11"/>
          <p:cNvSpPr/>
          <p:nvPr/>
        </p:nvSpPr>
        <p:spPr>
          <a:xfrm>
            <a:off x="859537" y="4699062"/>
            <a:ext cx="1830605" cy="219456"/>
          </a:xfrm>
          <a:prstGeom prst="rect">
            <a:avLst/>
          </a:prstGeom>
          <a:noFill/>
          <a:ln/>
        </p:spPr>
        <p:txBody>
          <a:bodyPr wrap="square" lIns="0" tIns="0" rIns="0" bIns="0" rtlCol="0" anchor="ctr">
            <a:normAutofit/>
          </a:bodyPr>
          <a:lstStyle/>
          <a:p>
            <a:pPr marL="285750" indent="-285750" algn="l">
              <a:buFont typeface="Arial" panose="020B0604020202020204" pitchFamily="34" charset="0"/>
              <a:buChar char="•"/>
            </a:pPr>
            <a:r>
              <a:rPr lang="en-US" sz="1250" dirty="0">
                <a:solidFill>
                  <a:srgbClr val="E0DAD6"/>
                </a:solidFill>
                <a:latin typeface="Aptos" pitchFamily="34" charset="0"/>
                <a:ea typeface="Aptos" pitchFamily="34" charset="-122"/>
                <a:cs typeface="Aptos" pitchFamily="34" charset="-120"/>
              </a:rPr>
              <a:t>Jeremy Farfan</a:t>
            </a:r>
            <a:endParaRPr lang="en-US" sz="1250" dirty="0"/>
          </a:p>
        </p:txBody>
      </p:sp>
      <p:sp>
        <p:nvSpPr>
          <p:cNvPr id="14" name="Text 12"/>
          <p:cNvSpPr/>
          <p:nvPr/>
        </p:nvSpPr>
        <p:spPr>
          <a:xfrm>
            <a:off x="868680" y="6327648"/>
            <a:ext cx="10835640" cy="219456"/>
          </a:xfrm>
          <a:prstGeom prst="rect">
            <a:avLst/>
          </a:prstGeom>
          <a:noFill/>
          <a:ln/>
        </p:spPr>
        <p:txBody>
          <a:bodyPr wrap="square" lIns="0" tIns="0" rIns="0" bIns="0" rtlCol="0" anchor="ctr">
            <a:normAutofit/>
          </a:bodyPr>
          <a:lstStyle/>
          <a:p>
            <a:pPr marL="0" indent="0" algn="l">
              <a:buNone/>
            </a:pPr>
            <a:r>
              <a:rPr lang="en-US" sz="1130" dirty="0">
                <a:solidFill>
                  <a:srgbClr val="BBB4AF"/>
                </a:solidFill>
                <a:latin typeface="Aptos" pitchFamily="34" charset="0"/>
                <a:ea typeface="Aptos" pitchFamily="34" charset="-122"/>
                <a:cs typeface="Aptos" pitchFamily="34" charset="-120"/>
              </a:rPr>
              <a:t>Docente: Williams Alfonso Chullo Villagaray     ·     2026-II</a:t>
            </a:r>
            <a:endParaRPr lang="en-US" sz="1130" dirty="0"/>
          </a:p>
        </p:txBody>
      </p:sp>
      <p:sp>
        <p:nvSpPr>
          <p:cNvPr id="15" name="Shape 13"/>
          <p:cNvSpPr/>
          <p:nvPr/>
        </p:nvSpPr>
        <p:spPr>
          <a:xfrm>
            <a:off x="8412480" y="1527048"/>
            <a:ext cx="3090672" cy="3493008"/>
          </a:xfrm>
          <a:prstGeom prst="roundRect">
            <a:avLst>
              <a:gd name="adj" fmla="val 4438"/>
            </a:avLst>
          </a:prstGeom>
          <a:solidFill>
            <a:srgbClr val="3C3A38"/>
          </a:solidFill>
          <a:ln w="8890">
            <a:solidFill>
              <a:srgbClr val="6C625B"/>
            </a:solidFill>
            <a:prstDash val="solid"/>
          </a:ln>
        </p:spPr>
        <p:txBody>
          <a:bodyPr/>
          <a:lstStyle/>
          <a:p>
            <a:endParaRPr lang="en-US"/>
          </a:p>
        </p:txBody>
      </p:sp>
      <p:sp>
        <p:nvSpPr>
          <p:cNvPr id="16" name="Text 14"/>
          <p:cNvSpPr/>
          <p:nvPr/>
        </p:nvSpPr>
        <p:spPr>
          <a:xfrm>
            <a:off x="8650224" y="1819656"/>
            <a:ext cx="2660904" cy="246888"/>
          </a:xfrm>
          <a:prstGeom prst="rect">
            <a:avLst/>
          </a:prstGeom>
          <a:noFill/>
          <a:ln/>
        </p:spPr>
        <p:txBody>
          <a:bodyPr wrap="square" lIns="0" tIns="0" rIns="0" bIns="0" rtlCol="0" anchor="ctr">
            <a:normAutofit/>
          </a:bodyPr>
          <a:lstStyle/>
          <a:p>
            <a:pPr marL="0" indent="0" algn="l">
              <a:buNone/>
            </a:pPr>
            <a:r>
              <a:rPr lang="en-US" sz="1270" b="1" kern="0" spc="90" dirty="0">
                <a:solidFill>
                  <a:srgbClr val="DAD1C9"/>
                </a:solidFill>
                <a:latin typeface="Aptos" pitchFamily="34" charset="0"/>
                <a:ea typeface="Aptos" pitchFamily="34" charset="-122"/>
                <a:cs typeface="Aptos" pitchFamily="34" charset="-120"/>
              </a:rPr>
              <a:t>ESTADO DE INVENTARIO</a:t>
            </a:r>
            <a:endParaRPr lang="en-US" sz="1270" dirty="0"/>
          </a:p>
        </p:txBody>
      </p:sp>
      <p:sp>
        <p:nvSpPr>
          <p:cNvPr id="17" name="Shape 15"/>
          <p:cNvSpPr/>
          <p:nvPr/>
        </p:nvSpPr>
        <p:spPr>
          <a:xfrm>
            <a:off x="8622792" y="2340864"/>
            <a:ext cx="2651760" cy="658368"/>
          </a:xfrm>
          <a:prstGeom prst="roundRect">
            <a:avLst>
              <a:gd name="adj" fmla="val 8333"/>
            </a:avLst>
          </a:prstGeom>
          <a:solidFill>
            <a:srgbClr val="514B47"/>
          </a:solidFill>
          <a:ln w="12700">
            <a:solidFill>
              <a:srgbClr val="514B47">
                <a:alpha val="0"/>
              </a:srgbClr>
            </a:solidFill>
            <a:prstDash val="solid"/>
          </a:ln>
        </p:spPr>
        <p:txBody>
          <a:bodyPr/>
          <a:lstStyle/>
          <a:p>
            <a:endParaRPr lang="en-US"/>
          </a:p>
        </p:txBody>
      </p:sp>
      <p:sp>
        <p:nvSpPr>
          <p:cNvPr id="18" name="Shape 16"/>
          <p:cNvSpPr/>
          <p:nvPr/>
        </p:nvSpPr>
        <p:spPr>
          <a:xfrm>
            <a:off x="8769096" y="2560320"/>
            <a:ext cx="146304" cy="146304"/>
          </a:xfrm>
          <a:prstGeom prst="ellipse">
            <a:avLst/>
          </a:prstGeom>
          <a:solidFill>
            <a:srgbClr val="D7BBA6"/>
          </a:solidFill>
          <a:ln w="12700">
            <a:solidFill>
              <a:srgbClr val="D7BBA6">
                <a:alpha val="0"/>
              </a:srgbClr>
            </a:solidFill>
            <a:prstDash val="solid"/>
          </a:ln>
        </p:spPr>
        <p:txBody>
          <a:bodyPr/>
          <a:lstStyle/>
          <a:p>
            <a:endParaRPr lang="en-US"/>
          </a:p>
        </p:txBody>
      </p:sp>
      <p:sp>
        <p:nvSpPr>
          <p:cNvPr id="19" name="Text 17"/>
          <p:cNvSpPr/>
          <p:nvPr/>
        </p:nvSpPr>
        <p:spPr>
          <a:xfrm>
            <a:off x="9034272" y="2450592"/>
            <a:ext cx="1261872" cy="228600"/>
          </a:xfrm>
          <a:prstGeom prst="rect">
            <a:avLst/>
          </a:prstGeom>
          <a:noFill/>
          <a:ln/>
        </p:spPr>
        <p:txBody>
          <a:bodyPr wrap="square" lIns="0" tIns="0" rIns="0" bIns="0" rtlCol="0" anchor="ctr">
            <a:normAutofit lnSpcReduction="10000"/>
          </a:bodyPr>
          <a:lstStyle/>
          <a:p>
            <a:pPr marL="0" indent="0" algn="l">
              <a:buNone/>
            </a:pPr>
            <a:r>
              <a:rPr lang="en-US" sz="1520" b="1" dirty="0">
                <a:solidFill>
                  <a:srgbClr val="FFFFFF"/>
                </a:solidFill>
                <a:latin typeface="Aptos" pitchFamily="34" charset="0"/>
                <a:ea typeface="Aptos" pitchFamily="34" charset="-122"/>
                <a:cs typeface="Aptos" pitchFamily="34" charset="-120"/>
              </a:rPr>
              <a:t>Guantes</a:t>
            </a:r>
            <a:endParaRPr lang="en-US" sz="1520" dirty="0"/>
          </a:p>
        </p:txBody>
      </p:sp>
      <p:sp>
        <p:nvSpPr>
          <p:cNvPr id="20" name="Text 18"/>
          <p:cNvSpPr/>
          <p:nvPr/>
        </p:nvSpPr>
        <p:spPr>
          <a:xfrm>
            <a:off x="10341864" y="2450592"/>
            <a:ext cx="758952" cy="228600"/>
          </a:xfrm>
          <a:prstGeom prst="rect">
            <a:avLst/>
          </a:prstGeom>
          <a:noFill/>
          <a:ln/>
        </p:spPr>
        <p:txBody>
          <a:bodyPr wrap="square" lIns="0" tIns="0" rIns="0" bIns="0" rtlCol="0" anchor="ctr">
            <a:normAutofit/>
          </a:bodyPr>
          <a:lstStyle/>
          <a:p>
            <a:pPr marL="0" indent="0" algn="r">
              <a:buNone/>
            </a:pPr>
            <a:r>
              <a:rPr lang="en-US" sz="1310" dirty="0">
                <a:solidFill>
                  <a:srgbClr val="E9E3DD"/>
                </a:solidFill>
                <a:latin typeface="Aptos" pitchFamily="34" charset="0"/>
                <a:ea typeface="Aptos" pitchFamily="34" charset="-122"/>
                <a:cs typeface="Aptos" pitchFamily="34" charset="-120"/>
              </a:rPr>
              <a:t>05 / 30</a:t>
            </a:r>
            <a:endParaRPr lang="en-US" sz="1310" dirty="0"/>
          </a:p>
        </p:txBody>
      </p:sp>
      <p:sp>
        <p:nvSpPr>
          <p:cNvPr id="21" name="Shape 19"/>
          <p:cNvSpPr/>
          <p:nvPr/>
        </p:nvSpPr>
        <p:spPr>
          <a:xfrm>
            <a:off x="8622792" y="3145536"/>
            <a:ext cx="2651760" cy="658368"/>
          </a:xfrm>
          <a:prstGeom prst="roundRect">
            <a:avLst>
              <a:gd name="adj" fmla="val 8333"/>
            </a:avLst>
          </a:prstGeom>
          <a:solidFill>
            <a:srgbClr val="514B47"/>
          </a:solidFill>
          <a:ln w="12700">
            <a:solidFill>
              <a:srgbClr val="514B47">
                <a:alpha val="0"/>
              </a:srgbClr>
            </a:solidFill>
            <a:prstDash val="solid"/>
          </a:ln>
        </p:spPr>
        <p:txBody>
          <a:bodyPr/>
          <a:lstStyle/>
          <a:p>
            <a:endParaRPr lang="en-US"/>
          </a:p>
        </p:txBody>
      </p:sp>
      <p:sp>
        <p:nvSpPr>
          <p:cNvPr id="22" name="Shape 20"/>
          <p:cNvSpPr/>
          <p:nvPr/>
        </p:nvSpPr>
        <p:spPr>
          <a:xfrm>
            <a:off x="8769096" y="3364992"/>
            <a:ext cx="146304" cy="146304"/>
          </a:xfrm>
          <a:prstGeom prst="ellipse">
            <a:avLst/>
          </a:prstGeom>
          <a:solidFill>
            <a:srgbClr val="D7BBA6"/>
          </a:solidFill>
          <a:ln w="12700">
            <a:solidFill>
              <a:srgbClr val="D7BBA6">
                <a:alpha val="0"/>
              </a:srgbClr>
            </a:solidFill>
            <a:prstDash val="solid"/>
          </a:ln>
        </p:spPr>
        <p:txBody>
          <a:bodyPr/>
          <a:lstStyle/>
          <a:p>
            <a:endParaRPr lang="en-US"/>
          </a:p>
        </p:txBody>
      </p:sp>
      <p:sp>
        <p:nvSpPr>
          <p:cNvPr id="23" name="Text 21"/>
          <p:cNvSpPr/>
          <p:nvPr/>
        </p:nvSpPr>
        <p:spPr>
          <a:xfrm>
            <a:off x="9034272" y="3255264"/>
            <a:ext cx="1261872" cy="228600"/>
          </a:xfrm>
          <a:prstGeom prst="rect">
            <a:avLst/>
          </a:prstGeom>
          <a:noFill/>
          <a:ln/>
        </p:spPr>
        <p:txBody>
          <a:bodyPr wrap="square" lIns="0" tIns="0" rIns="0" bIns="0" rtlCol="0" anchor="ctr">
            <a:normAutofit lnSpcReduction="10000"/>
          </a:bodyPr>
          <a:lstStyle/>
          <a:p>
            <a:pPr marL="0" indent="0" algn="l">
              <a:buNone/>
            </a:pPr>
            <a:r>
              <a:rPr lang="en-US" sz="1520" b="1" dirty="0">
                <a:solidFill>
                  <a:srgbClr val="FFFFFF"/>
                </a:solidFill>
                <a:latin typeface="Aptos" pitchFamily="34" charset="0"/>
                <a:ea typeface="Aptos" pitchFamily="34" charset="-122"/>
                <a:cs typeface="Aptos" pitchFamily="34" charset="-120"/>
              </a:rPr>
              <a:t>Paracetamol</a:t>
            </a:r>
            <a:endParaRPr lang="en-US" sz="1520" dirty="0"/>
          </a:p>
        </p:txBody>
      </p:sp>
      <p:sp>
        <p:nvSpPr>
          <p:cNvPr id="24" name="Text 22"/>
          <p:cNvSpPr/>
          <p:nvPr/>
        </p:nvSpPr>
        <p:spPr>
          <a:xfrm>
            <a:off x="10341864" y="3255264"/>
            <a:ext cx="758952" cy="228600"/>
          </a:xfrm>
          <a:prstGeom prst="rect">
            <a:avLst/>
          </a:prstGeom>
          <a:noFill/>
          <a:ln/>
        </p:spPr>
        <p:txBody>
          <a:bodyPr wrap="square" lIns="0" tIns="0" rIns="0" bIns="0" rtlCol="0" anchor="ctr">
            <a:normAutofit/>
          </a:bodyPr>
          <a:lstStyle/>
          <a:p>
            <a:pPr marL="0" indent="0" algn="r">
              <a:buNone/>
            </a:pPr>
            <a:r>
              <a:rPr lang="en-US" sz="1310" dirty="0">
                <a:solidFill>
                  <a:srgbClr val="E9E3DD"/>
                </a:solidFill>
                <a:latin typeface="Aptos" pitchFamily="34" charset="0"/>
                <a:ea typeface="Aptos" pitchFamily="34" charset="-122"/>
                <a:cs typeface="Aptos" pitchFamily="34" charset="-120"/>
              </a:rPr>
              <a:t>08 / 20</a:t>
            </a:r>
            <a:endParaRPr lang="en-US" sz="1310" dirty="0"/>
          </a:p>
        </p:txBody>
      </p:sp>
      <p:sp>
        <p:nvSpPr>
          <p:cNvPr id="25" name="Shape 23"/>
          <p:cNvSpPr/>
          <p:nvPr/>
        </p:nvSpPr>
        <p:spPr>
          <a:xfrm>
            <a:off x="8622792" y="3950208"/>
            <a:ext cx="2651760" cy="658368"/>
          </a:xfrm>
          <a:prstGeom prst="roundRect">
            <a:avLst>
              <a:gd name="adj" fmla="val 8333"/>
            </a:avLst>
          </a:prstGeom>
          <a:solidFill>
            <a:srgbClr val="514B47"/>
          </a:solidFill>
          <a:ln w="12700">
            <a:solidFill>
              <a:srgbClr val="514B47">
                <a:alpha val="0"/>
              </a:srgbClr>
            </a:solidFill>
            <a:prstDash val="solid"/>
          </a:ln>
        </p:spPr>
        <p:txBody>
          <a:bodyPr/>
          <a:lstStyle/>
          <a:p>
            <a:endParaRPr lang="en-US"/>
          </a:p>
        </p:txBody>
      </p:sp>
      <p:sp>
        <p:nvSpPr>
          <p:cNvPr id="26" name="Shape 24"/>
          <p:cNvSpPr/>
          <p:nvPr/>
        </p:nvSpPr>
        <p:spPr>
          <a:xfrm>
            <a:off x="8769096" y="4169664"/>
            <a:ext cx="146304" cy="146304"/>
          </a:xfrm>
          <a:prstGeom prst="ellipse">
            <a:avLst/>
          </a:prstGeom>
          <a:solidFill>
            <a:srgbClr val="C7D7CC"/>
          </a:solidFill>
          <a:ln w="12700">
            <a:solidFill>
              <a:srgbClr val="C7D7CC">
                <a:alpha val="0"/>
              </a:srgbClr>
            </a:solidFill>
            <a:prstDash val="solid"/>
          </a:ln>
        </p:spPr>
        <p:txBody>
          <a:bodyPr/>
          <a:lstStyle/>
          <a:p>
            <a:endParaRPr lang="en-US"/>
          </a:p>
        </p:txBody>
      </p:sp>
      <p:sp>
        <p:nvSpPr>
          <p:cNvPr id="27" name="Text 25"/>
          <p:cNvSpPr/>
          <p:nvPr/>
        </p:nvSpPr>
        <p:spPr>
          <a:xfrm>
            <a:off x="9034272" y="4059936"/>
            <a:ext cx="1261872" cy="228600"/>
          </a:xfrm>
          <a:prstGeom prst="rect">
            <a:avLst/>
          </a:prstGeom>
          <a:noFill/>
          <a:ln/>
        </p:spPr>
        <p:txBody>
          <a:bodyPr wrap="square" lIns="0" tIns="0" rIns="0" bIns="0" rtlCol="0" anchor="ctr">
            <a:normAutofit lnSpcReduction="10000"/>
          </a:bodyPr>
          <a:lstStyle/>
          <a:p>
            <a:pPr marL="0" indent="0" algn="l">
              <a:buNone/>
            </a:pPr>
            <a:r>
              <a:rPr lang="en-US" sz="1520" b="1" dirty="0">
                <a:solidFill>
                  <a:srgbClr val="FFFFFF"/>
                </a:solidFill>
                <a:latin typeface="Aptos" pitchFamily="34" charset="0"/>
                <a:ea typeface="Aptos" pitchFamily="34" charset="-122"/>
                <a:cs typeface="Aptos" pitchFamily="34" charset="-120"/>
              </a:rPr>
              <a:t>Jeringas</a:t>
            </a:r>
            <a:endParaRPr lang="en-US" sz="1520" dirty="0"/>
          </a:p>
        </p:txBody>
      </p:sp>
      <p:sp>
        <p:nvSpPr>
          <p:cNvPr id="28" name="Text 26"/>
          <p:cNvSpPr/>
          <p:nvPr/>
        </p:nvSpPr>
        <p:spPr>
          <a:xfrm>
            <a:off x="10341864" y="4059936"/>
            <a:ext cx="758952" cy="228600"/>
          </a:xfrm>
          <a:prstGeom prst="rect">
            <a:avLst/>
          </a:prstGeom>
          <a:noFill/>
          <a:ln/>
        </p:spPr>
        <p:txBody>
          <a:bodyPr wrap="square" lIns="0" tIns="0" rIns="0" bIns="0" rtlCol="0" anchor="ctr">
            <a:normAutofit/>
          </a:bodyPr>
          <a:lstStyle/>
          <a:p>
            <a:pPr marL="0" indent="0" algn="r">
              <a:buNone/>
            </a:pPr>
            <a:r>
              <a:rPr lang="en-US" sz="1310" dirty="0">
                <a:solidFill>
                  <a:srgbClr val="E9E3DD"/>
                </a:solidFill>
                <a:latin typeface="Aptos" pitchFamily="34" charset="0"/>
                <a:ea typeface="Aptos" pitchFamily="34" charset="-122"/>
                <a:cs typeface="Aptos" pitchFamily="34" charset="-120"/>
              </a:rPr>
              <a:t>16 / 10</a:t>
            </a:r>
            <a:endParaRPr lang="en-US" sz="1310" dirty="0"/>
          </a:p>
        </p:txBody>
      </p:sp>
      <p:sp>
        <p:nvSpPr>
          <p:cNvPr id="29" name="Text 27"/>
          <p:cNvSpPr/>
          <p:nvPr/>
        </p:nvSpPr>
        <p:spPr>
          <a:xfrm>
            <a:off x="8650224" y="4690872"/>
            <a:ext cx="2468880" cy="182880"/>
          </a:xfrm>
          <a:prstGeom prst="rect">
            <a:avLst/>
          </a:prstGeom>
          <a:noFill/>
          <a:ln/>
        </p:spPr>
        <p:txBody>
          <a:bodyPr wrap="square" lIns="0" tIns="0" rIns="0" bIns="0" rtlCol="0" anchor="ctr">
            <a:normAutofit/>
          </a:bodyPr>
          <a:lstStyle/>
          <a:p>
            <a:pPr marL="0" indent="0" algn="l">
              <a:buNone/>
            </a:pPr>
            <a:r>
              <a:rPr lang="en-US" sz="1000" i="1" dirty="0">
                <a:solidFill>
                  <a:srgbClr val="B7AEA7"/>
                </a:solidFill>
                <a:latin typeface="Aptos" pitchFamily="34" charset="0"/>
                <a:ea typeface="Aptos" pitchFamily="34" charset="-122"/>
                <a:cs typeface="Aptos" pitchFamily="34" charset="-120"/>
              </a:rPr>
              <a:t>Datos ilustrativos</a:t>
            </a:r>
            <a:endParaRPr lang="en-US" sz="1000" dirty="0"/>
          </a:p>
        </p:txBody>
      </p:sp>
      <p:sp>
        <p:nvSpPr>
          <p:cNvPr id="31" name="Text 11">
            <a:extLst>
              <a:ext uri="{FF2B5EF4-FFF2-40B4-BE49-F238E27FC236}">
                <a16:creationId xmlns:a16="http://schemas.microsoft.com/office/drawing/2014/main" id="{90C33B02-6998-D414-B42C-B6A58065848C}"/>
              </a:ext>
            </a:extLst>
          </p:cNvPr>
          <p:cNvSpPr/>
          <p:nvPr/>
        </p:nvSpPr>
        <p:spPr>
          <a:xfrm>
            <a:off x="859537" y="4939100"/>
            <a:ext cx="1830605" cy="219456"/>
          </a:xfrm>
          <a:prstGeom prst="rect">
            <a:avLst/>
          </a:prstGeom>
          <a:noFill/>
          <a:ln/>
        </p:spPr>
        <p:txBody>
          <a:bodyPr wrap="square" lIns="0" tIns="0" rIns="0" bIns="0" rtlCol="0" anchor="ctr">
            <a:normAutofit/>
          </a:bodyPr>
          <a:lstStyle/>
          <a:p>
            <a:pPr marL="285750" indent="-285750" algn="l">
              <a:buFont typeface="Arial" panose="020B0604020202020204" pitchFamily="34" charset="0"/>
              <a:buChar char="•"/>
            </a:pPr>
            <a:r>
              <a:rPr lang="en-US" sz="1250" dirty="0">
                <a:solidFill>
                  <a:srgbClr val="E0DAD6"/>
                </a:solidFill>
                <a:latin typeface="Aptos" pitchFamily="34" charset="0"/>
                <a:ea typeface="Aptos" pitchFamily="34" charset="-122"/>
                <a:cs typeface="Aptos" pitchFamily="34" charset="-120"/>
              </a:rPr>
              <a:t>German Flores</a:t>
            </a:r>
            <a:endParaRPr lang="en-US" sz="1250" dirty="0"/>
          </a:p>
        </p:txBody>
      </p:sp>
      <p:sp>
        <p:nvSpPr>
          <p:cNvPr id="33" name="Text 11">
            <a:extLst>
              <a:ext uri="{FF2B5EF4-FFF2-40B4-BE49-F238E27FC236}">
                <a16:creationId xmlns:a16="http://schemas.microsoft.com/office/drawing/2014/main" id="{2F522D2A-E749-958C-DEC5-5EDFEB8AAD6F}"/>
              </a:ext>
            </a:extLst>
          </p:cNvPr>
          <p:cNvSpPr/>
          <p:nvPr/>
        </p:nvSpPr>
        <p:spPr>
          <a:xfrm>
            <a:off x="859536" y="5179138"/>
            <a:ext cx="1635391" cy="219456"/>
          </a:xfrm>
          <a:prstGeom prst="rect">
            <a:avLst/>
          </a:prstGeom>
          <a:noFill/>
          <a:ln/>
        </p:spPr>
        <p:txBody>
          <a:bodyPr wrap="square" lIns="0" tIns="0" rIns="0" bIns="0" rtlCol="0" anchor="ctr">
            <a:normAutofit/>
          </a:bodyPr>
          <a:lstStyle/>
          <a:p>
            <a:pPr marL="285750" indent="-285750" algn="l">
              <a:buFont typeface="Arial" panose="020B0604020202020204" pitchFamily="34" charset="0"/>
              <a:buChar char="•"/>
            </a:pPr>
            <a:r>
              <a:rPr lang="en-US" sz="1250" dirty="0">
                <a:solidFill>
                  <a:srgbClr val="E0DAD6"/>
                </a:solidFill>
                <a:latin typeface="Aptos" pitchFamily="34" charset="0"/>
                <a:ea typeface="Aptos" pitchFamily="34" charset="-122"/>
                <a:cs typeface="Aptos" pitchFamily="34" charset="-120"/>
              </a:rPr>
              <a:t>Eduard Gozme</a:t>
            </a:r>
            <a:endParaRPr lang="en-US" sz="1250" dirty="0"/>
          </a:p>
        </p:txBody>
      </p:sp>
      <p:sp>
        <p:nvSpPr>
          <p:cNvPr id="35" name="Text 11">
            <a:extLst>
              <a:ext uri="{FF2B5EF4-FFF2-40B4-BE49-F238E27FC236}">
                <a16:creationId xmlns:a16="http://schemas.microsoft.com/office/drawing/2014/main" id="{F9E1F15A-BEFF-4BDB-4BCC-25CDED27E0E7}"/>
              </a:ext>
            </a:extLst>
          </p:cNvPr>
          <p:cNvSpPr/>
          <p:nvPr/>
        </p:nvSpPr>
        <p:spPr>
          <a:xfrm>
            <a:off x="859537" y="5419176"/>
            <a:ext cx="2133366" cy="219456"/>
          </a:xfrm>
          <a:prstGeom prst="rect">
            <a:avLst/>
          </a:prstGeom>
          <a:noFill/>
          <a:ln/>
        </p:spPr>
        <p:txBody>
          <a:bodyPr wrap="square" lIns="0" tIns="0" rIns="0" bIns="0" rtlCol="0" anchor="ctr">
            <a:normAutofit/>
          </a:bodyPr>
          <a:lstStyle/>
          <a:p>
            <a:pPr marL="285750" indent="-285750" algn="l">
              <a:buFont typeface="Arial" panose="020B0604020202020204" pitchFamily="34" charset="0"/>
              <a:buChar char="•"/>
            </a:pPr>
            <a:r>
              <a:rPr lang="en-US" sz="1250" dirty="0">
                <a:solidFill>
                  <a:srgbClr val="E0DAD6"/>
                </a:solidFill>
                <a:latin typeface="Aptos" pitchFamily="34" charset="0"/>
                <a:ea typeface="Aptos" pitchFamily="34" charset="-122"/>
                <a:cs typeface="Aptos" pitchFamily="34" charset="-120"/>
              </a:rPr>
              <a:t>Sebastian Huaman</a:t>
            </a:r>
            <a:endParaRPr lang="en-US" sz="1250" dirty="0"/>
          </a:p>
        </p:txBody>
      </p:sp>
      <p:sp>
        <p:nvSpPr>
          <p:cNvPr id="37" name="Text 11">
            <a:extLst>
              <a:ext uri="{FF2B5EF4-FFF2-40B4-BE49-F238E27FC236}">
                <a16:creationId xmlns:a16="http://schemas.microsoft.com/office/drawing/2014/main" id="{675BEA6E-882A-5011-92F2-87190ABBC332}"/>
              </a:ext>
            </a:extLst>
          </p:cNvPr>
          <p:cNvSpPr/>
          <p:nvPr/>
        </p:nvSpPr>
        <p:spPr>
          <a:xfrm>
            <a:off x="859537" y="5659214"/>
            <a:ext cx="1910747" cy="219456"/>
          </a:xfrm>
          <a:prstGeom prst="rect">
            <a:avLst/>
          </a:prstGeom>
          <a:noFill/>
          <a:ln/>
        </p:spPr>
        <p:txBody>
          <a:bodyPr wrap="square" lIns="0" tIns="0" rIns="0" bIns="0" rtlCol="0" anchor="ctr">
            <a:normAutofit/>
          </a:bodyPr>
          <a:lstStyle/>
          <a:p>
            <a:pPr marL="285750" indent="-285750" algn="l">
              <a:buFont typeface="Arial" panose="020B0604020202020204" pitchFamily="34" charset="0"/>
              <a:buChar char="•"/>
            </a:pPr>
            <a:r>
              <a:rPr lang="en-US" sz="1250" dirty="0">
                <a:solidFill>
                  <a:srgbClr val="E0DAD6"/>
                </a:solidFill>
                <a:latin typeface="Aptos" pitchFamily="34" charset="0"/>
                <a:ea typeface="Aptos" pitchFamily="34" charset="-122"/>
                <a:cs typeface="Aptos" pitchFamily="34" charset="-120"/>
              </a:rPr>
              <a:t>Gonzalo Portillo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5488"/>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5780"/>
            <a:ext cx="1763620"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01  ·  EL PROBLEMA</a:t>
            </a:r>
            <a:endParaRPr lang="en-US" sz="1120" dirty="0"/>
          </a:p>
        </p:txBody>
      </p:sp>
      <p:sp>
        <p:nvSpPr>
          <p:cNvPr id="4" name="Text 2"/>
          <p:cNvSpPr/>
          <p:nvPr/>
        </p:nvSpPr>
        <p:spPr>
          <a:xfrm>
            <a:off x="621792" y="914400"/>
            <a:ext cx="8193024"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Una lista no siempre muestra qué atender primero</a:t>
            </a:r>
            <a:endParaRPr lang="en-US" sz="2950" dirty="0"/>
          </a:p>
        </p:txBody>
      </p:sp>
      <p:sp>
        <p:nvSpPr>
          <p:cNvPr id="5" name="Text 3"/>
          <p:cNvSpPr/>
          <p:nvPr/>
        </p:nvSpPr>
        <p:spPr>
          <a:xfrm>
            <a:off x="649224" y="1527048"/>
            <a:ext cx="5030607"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Imaginemos un pequeño inventario con tres productos.</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01 / 09</a:t>
            </a:r>
            <a:endParaRPr lang="en-US" sz="910" dirty="0"/>
          </a:p>
        </p:txBody>
      </p:sp>
      <p:sp>
        <p:nvSpPr>
          <p:cNvPr id="9" name="Shape 7"/>
          <p:cNvSpPr/>
          <p:nvPr/>
        </p:nvSpPr>
        <p:spPr>
          <a:xfrm>
            <a:off x="713232" y="2098548"/>
            <a:ext cx="7040880" cy="914400"/>
          </a:xfrm>
          <a:prstGeom prst="roundRect">
            <a:avLst>
              <a:gd name="adj" fmla="val 12000"/>
            </a:avLst>
          </a:prstGeom>
          <a:solidFill>
            <a:srgbClr val="FFFFFF"/>
          </a:solidFill>
          <a:ln w="8890">
            <a:solidFill>
              <a:srgbClr val="DEDAD5"/>
            </a:solidFill>
            <a:prstDash val="solid"/>
          </a:ln>
        </p:spPr>
        <p:txBody>
          <a:bodyPr/>
          <a:lstStyle/>
          <a:p>
            <a:endParaRPr lang="en-US"/>
          </a:p>
        </p:txBody>
      </p:sp>
      <p:sp>
        <p:nvSpPr>
          <p:cNvPr id="10" name="Shape 8"/>
          <p:cNvSpPr/>
          <p:nvPr/>
        </p:nvSpPr>
        <p:spPr>
          <a:xfrm>
            <a:off x="960120" y="2359152"/>
            <a:ext cx="393192" cy="393192"/>
          </a:xfrm>
          <a:prstGeom prst="ellipse">
            <a:avLst/>
          </a:prstGeom>
          <a:solidFill>
            <a:srgbClr val="F7ECE8"/>
          </a:solidFill>
          <a:ln w="12700">
            <a:solidFill>
              <a:srgbClr val="F7ECE8">
                <a:alpha val="0"/>
              </a:srgbClr>
            </a:solidFill>
            <a:prstDash val="solid"/>
          </a:ln>
        </p:spPr>
        <p:txBody>
          <a:bodyPr/>
          <a:lstStyle/>
          <a:p>
            <a:endParaRPr lang="en-US"/>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848" y="2450592"/>
            <a:ext cx="164592" cy="173736"/>
          </a:xfrm>
          <a:prstGeom prst="rect">
            <a:avLst/>
          </a:prstGeom>
        </p:spPr>
      </p:pic>
      <p:sp>
        <p:nvSpPr>
          <p:cNvPr id="12" name="Text 9"/>
          <p:cNvSpPr/>
          <p:nvPr/>
        </p:nvSpPr>
        <p:spPr>
          <a:xfrm>
            <a:off x="1517904" y="2249424"/>
            <a:ext cx="2514834" cy="256032"/>
          </a:xfrm>
          <a:prstGeom prst="rect">
            <a:avLst/>
          </a:prstGeom>
          <a:noFill/>
          <a:ln/>
        </p:spPr>
        <p:txBody>
          <a:bodyPr wrap="square" lIns="0" tIns="0" rIns="0" bIns="0" rtlCol="0" anchor="ctr">
            <a:normAutofit fontScale="92500" lnSpcReduction="20000"/>
          </a:bodyPr>
          <a:lstStyle/>
          <a:p>
            <a:pPr marL="0" indent="0" algn="l">
              <a:buNone/>
            </a:pPr>
            <a:r>
              <a:rPr lang="en-US" sz="2000" b="1" dirty="0">
                <a:solidFill>
                  <a:srgbClr val="292929"/>
                </a:solidFill>
                <a:latin typeface="Aptos" pitchFamily="34" charset="0"/>
                <a:ea typeface="Aptos" pitchFamily="34" charset="-122"/>
                <a:cs typeface="Aptos" pitchFamily="34" charset="-120"/>
              </a:rPr>
              <a:t>Guantes descartables</a:t>
            </a:r>
            <a:endParaRPr lang="en-US" sz="2000" dirty="0"/>
          </a:p>
        </p:txBody>
      </p:sp>
      <p:sp>
        <p:nvSpPr>
          <p:cNvPr id="13" name="Text 10"/>
          <p:cNvSpPr/>
          <p:nvPr/>
        </p:nvSpPr>
        <p:spPr>
          <a:xfrm>
            <a:off x="1517904" y="2606040"/>
            <a:ext cx="2063496" cy="210312"/>
          </a:xfrm>
          <a:prstGeom prst="rect">
            <a:avLst/>
          </a:prstGeom>
          <a:noFill/>
          <a:ln/>
        </p:spPr>
        <p:txBody>
          <a:bodyPr wrap="square" lIns="0" tIns="0" rIns="0" bIns="0" rtlCol="0" anchor="ctr">
            <a:normAutofit/>
          </a:bodyPr>
          <a:lstStyle/>
          <a:p>
            <a:pPr marL="0" indent="0" algn="l">
              <a:buNone/>
            </a:pPr>
            <a:r>
              <a:rPr lang="en-US" sz="1370" dirty="0">
                <a:solidFill>
                  <a:srgbClr val="6E6A66"/>
                </a:solidFill>
                <a:latin typeface="Aptos" pitchFamily="34" charset="0"/>
                <a:ea typeface="Aptos" pitchFamily="34" charset="-122"/>
                <a:cs typeface="Aptos" pitchFamily="34" charset="-120"/>
              </a:rPr>
              <a:t>5 disponibles  /  mínimo 30</a:t>
            </a:r>
            <a:endParaRPr lang="en-US" sz="1370" dirty="0"/>
          </a:p>
        </p:txBody>
      </p:sp>
      <p:grpSp>
        <p:nvGrpSpPr>
          <p:cNvPr id="39" name="Grupo 38">
            <a:extLst>
              <a:ext uri="{FF2B5EF4-FFF2-40B4-BE49-F238E27FC236}">
                <a16:creationId xmlns:a16="http://schemas.microsoft.com/office/drawing/2014/main" id="{C53A4D8C-E739-CCBC-54C9-621EE7B0DEB5}"/>
              </a:ext>
            </a:extLst>
          </p:cNvPr>
          <p:cNvGrpSpPr/>
          <p:nvPr/>
        </p:nvGrpSpPr>
        <p:grpSpPr>
          <a:xfrm>
            <a:off x="4956048" y="2372868"/>
            <a:ext cx="1097280" cy="356616"/>
            <a:chOff x="4956048" y="2249424"/>
            <a:chExt cx="1097280" cy="356616"/>
          </a:xfrm>
        </p:grpSpPr>
        <p:sp>
          <p:nvSpPr>
            <p:cNvPr id="14" name="Shape 11"/>
            <p:cNvSpPr/>
            <p:nvPr/>
          </p:nvSpPr>
          <p:spPr>
            <a:xfrm>
              <a:off x="4956048" y="2249424"/>
              <a:ext cx="1097280" cy="356616"/>
            </a:xfrm>
            <a:prstGeom prst="roundRect">
              <a:avLst>
                <a:gd name="adj" fmla="val 30769"/>
              </a:avLst>
            </a:prstGeom>
            <a:solidFill>
              <a:srgbClr val="F7ECE8"/>
            </a:solidFill>
            <a:ln w="12700">
              <a:solidFill>
                <a:srgbClr val="F7ECE8">
                  <a:alpha val="0"/>
                </a:srgbClr>
              </a:solidFill>
              <a:prstDash val="solid"/>
            </a:ln>
          </p:spPr>
          <p:txBody>
            <a:bodyPr/>
            <a:lstStyle/>
            <a:p>
              <a:endParaRPr lang="en-US"/>
            </a:p>
          </p:txBody>
        </p:sp>
        <p:sp>
          <p:nvSpPr>
            <p:cNvPr id="15" name="Text 12"/>
            <p:cNvSpPr/>
            <p:nvPr/>
          </p:nvSpPr>
          <p:spPr>
            <a:xfrm>
              <a:off x="5065776" y="2276856"/>
              <a:ext cx="877824" cy="283464"/>
            </a:xfrm>
            <a:prstGeom prst="rect">
              <a:avLst/>
            </a:prstGeom>
            <a:noFill/>
            <a:ln/>
          </p:spPr>
          <p:txBody>
            <a:bodyPr wrap="square" lIns="0" tIns="0" rIns="0" bIns="0" rtlCol="0" anchor="ctr">
              <a:normAutofit/>
            </a:bodyPr>
            <a:lstStyle/>
            <a:p>
              <a:pPr marL="0" indent="0" algn="ctr">
                <a:buNone/>
              </a:pPr>
              <a:r>
                <a:rPr lang="en-US" sz="1160" b="1" dirty="0">
                  <a:solidFill>
                    <a:srgbClr val="A3614B"/>
                  </a:solidFill>
                  <a:latin typeface="Aptos" pitchFamily="34" charset="0"/>
                  <a:ea typeface="Aptos" pitchFamily="34" charset="-122"/>
                  <a:cs typeface="Aptos" pitchFamily="34" charset="-120"/>
                </a:rPr>
                <a:t>Atención</a:t>
              </a:r>
              <a:endParaRPr lang="en-US" sz="1160" dirty="0"/>
            </a:p>
          </p:txBody>
        </p:sp>
      </p:grpSp>
      <p:sp>
        <p:nvSpPr>
          <p:cNvPr id="16" name="Text 13"/>
          <p:cNvSpPr/>
          <p:nvPr/>
        </p:nvSpPr>
        <p:spPr>
          <a:xfrm>
            <a:off x="6291072" y="2423160"/>
            <a:ext cx="1289304" cy="228600"/>
          </a:xfrm>
          <a:prstGeom prst="rect">
            <a:avLst/>
          </a:prstGeom>
          <a:noFill/>
          <a:ln/>
        </p:spPr>
        <p:txBody>
          <a:bodyPr wrap="square" lIns="0" tIns="0" rIns="0" bIns="0" rtlCol="0" anchor="ctr">
            <a:normAutofit lnSpcReduction="10000"/>
          </a:bodyPr>
          <a:lstStyle/>
          <a:p>
            <a:pPr marL="0" indent="0" algn="ctr">
              <a:buNone/>
            </a:pPr>
            <a:r>
              <a:rPr lang="en-US" sz="1550" b="1" dirty="0">
                <a:solidFill>
                  <a:srgbClr val="A3614B"/>
                </a:solidFill>
                <a:latin typeface="Aptos" pitchFamily="34" charset="0"/>
                <a:ea typeface="Aptos" pitchFamily="34" charset="-122"/>
                <a:cs typeface="Aptos" pitchFamily="34" charset="-120"/>
              </a:rPr>
              <a:t>Faltan 25</a:t>
            </a:r>
            <a:endParaRPr lang="en-US" sz="1550" dirty="0"/>
          </a:p>
        </p:txBody>
      </p:sp>
      <p:sp>
        <p:nvSpPr>
          <p:cNvPr id="17" name="Shape 14"/>
          <p:cNvSpPr/>
          <p:nvPr/>
        </p:nvSpPr>
        <p:spPr>
          <a:xfrm>
            <a:off x="713232" y="3195828"/>
            <a:ext cx="7040880" cy="914400"/>
          </a:xfrm>
          <a:prstGeom prst="roundRect">
            <a:avLst>
              <a:gd name="adj" fmla="val 12000"/>
            </a:avLst>
          </a:prstGeom>
          <a:solidFill>
            <a:srgbClr val="FFFFFF"/>
          </a:solidFill>
          <a:ln w="8890">
            <a:solidFill>
              <a:srgbClr val="DEDAD5"/>
            </a:solidFill>
            <a:prstDash val="solid"/>
          </a:ln>
        </p:spPr>
        <p:txBody>
          <a:bodyPr/>
          <a:lstStyle/>
          <a:p>
            <a:endParaRPr lang="en-US"/>
          </a:p>
        </p:txBody>
      </p:sp>
      <p:sp>
        <p:nvSpPr>
          <p:cNvPr id="18" name="Shape 15"/>
          <p:cNvSpPr/>
          <p:nvPr/>
        </p:nvSpPr>
        <p:spPr>
          <a:xfrm>
            <a:off x="960120" y="3456432"/>
            <a:ext cx="393192" cy="393192"/>
          </a:xfrm>
          <a:prstGeom prst="ellipse">
            <a:avLst/>
          </a:prstGeom>
          <a:solidFill>
            <a:srgbClr val="F7ECE8"/>
          </a:solidFill>
          <a:ln w="12700">
            <a:solidFill>
              <a:srgbClr val="F7ECE8">
                <a:alpha val="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848" y="3547872"/>
            <a:ext cx="164592" cy="173736"/>
          </a:xfrm>
          <a:prstGeom prst="rect">
            <a:avLst/>
          </a:prstGeom>
        </p:spPr>
      </p:pic>
      <p:sp>
        <p:nvSpPr>
          <p:cNvPr id="20" name="Text 16"/>
          <p:cNvSpPr/>
          <p:nvPr/>
        </p:nvSpPr>
        <p:spPr>
          <a:xfrm>
            <a:off x="1517904" y="3346704"/>
            <a:ext cx="1465619" cy="256032"/>
          </a:xfrm>
          <a:prstGeom prst="rect">
            <a:avLst/>
          </a:prstGeom>
          <a:noFill/>
          <a:ln/>
        </p:spPr>
        <p:txBody>
          <a:bodyPr wrap="square" lIns="0" tIns="0" rIns="0" bIns="0" rtlCol="0" anchor="ctr">
            <a:normAutofit fontScale="92500" lnSpcReduction="20000"/>
          </a:bodyPr>
          <a:lstStyle/>
          <a:p>
            <a:pPr marL="0" indent="0" algn="l">
              <a:buNone/>
            </a:pPr>
            <a:r>
              <a:rPr lang="en-US" sz="2000" b="1" dirty="0">
                <a:solidFill>
                  <a:srgbClr val="292929"/>
                </a:solidFill>
                <a:latin typeface="Aptos" pitchFamily="34" charset="0"/>
                <a:ea typeface="Aptos" pitchFamily="34" charset="-122"/>
                <a:cs typeface="Aptos" pitchFamily="34" charset="-120"/>
              </a:rPr>
              <a:t>Paracetamol</a:t>
            </a:r>
            <a:endParaRPr lang="en-US" sz="2000" dirty="0"/>
          </a:p>
        </p:txBody>
      </p:sp>
      <p:sp>
        <p:nvSpPr>
          <p:cNvPr id="21" name="Text 17"/>
          <p:cNvSpPr/>
          <p:nvPr/>
        </p:nvSpPr>
        <p:spPr>
          <a:xfrm>
            <a:off x="1517904" y="3703320"/>
            <a:ext cx="2110388" cy="210312"/>
          </a:xfrm>
          <a:prstGeom prst="rect">
            <a:avLst/>
          </a:prstGeom>
          <a:noFill/>
          <a:ln/>
        </p:spPr>
        <p:txBody>
          <a:bodyPr wrap="square" lIns="0" tIns="0" rIns="0" bIns="0" rtlCol="0" anchor="ctr">
            <a:normAutofit/>
          </a:bodyPr>
          <a:lstStyle/>
          <a:p>
            <a:pPr marL="0" indent="0" algn="l">
              <a:buNone/>
            </a:pPr>
            <a:r>
              <a:rPr lang="en-US" sz="1370" dirty="0">
                <a:solidFill>
                  <a:srgbClr val="6E6A66"/>
                </a:solidFill>
                <a:latin typeface="Aptos" pitchFamily="34" charset="0"/>
                <a:ea typeface="Aptos" pitchFamily="34" charset="-122"/>
                <a:cs typeface="Aptos" pitchFamily="34" charset="-120"/>
              </a:rPr>
              <a:t>8 disponibles  /  mínimo 20</a:t>
            </a:r>
            <a:endParaRPr lang="en-US" sz="1370" dirty="0"/>
          </a:p>
        </p:txBody>
      </p:sp>
      <p:grpSp>
        <p:nvGrpSpPr>
          <p:cNvPr id="40" name="Grupo 39">
            <a:extLst>
              <a:ext uri="{FF2B5EF4-FFF2-40B4-BE49-F238E27FC236}">
                <a16:creationId xmlns:a16="http://schemas.microsoft.com/office/drawing/2014/main" id="{85A049B7-DAEF-2C2A-ECBA-B526C051E2AC}"/>
              </a:ext>
            </a:extLst>
          </p:cNvPr>
          <p:cNvGrpSpPr/>
          <p:nvPr/>
        </p:nvGrpSpPr>
        <p:grpSpPr>
          <a:xfrm>
            <a:off x="4956048" y="3470148"/>
            <a:ext cx="1097280" cy="356616"/>
            <a:chOff x="4956048" y="3346704"/>
            <a:chExt cx="1097280" cy="356616"/>
          </a:xfrm>
        </p:grpSpPr>
        <p:sp>
          <p:nvSpPr>
            <p:cNvPr id="22" name="Shape 18"/>
            <p:cNvSpPr/>
            <p:nvPr/>
          </p:nvSpPr>
          <p:spPr>
            <a:xfrm>
              <a:off x="4956048" y="3346704"/>
              <a:ext cx="1097280" cy="356616"/>
            </a:xfrm>
            <a:prstGeom prst="roundRect">
              <a:avLst>
                <a:gd name="adj" fmla="val 30769"/>
              </a:avLst>
            </a:prstGeom>
            <a:solidFill>
              <a:srgbClr val="F7ECE8"/>
            </a:solidFill>
            <a:ln w="12700">
              <a:solidFill>
                <a:srgbClr val="F7ECE8">
                  <a:alpha val="0"/>
                </a:srgbClr>
              </a:solidFill>
              <a:prstDash val="solid"/>
            </a:ln>
          </p:spPr>
          <p:txBody>
            <a:bodyPr/>
            <a:lstStyle/>
            <a:p>
              <a:endParaRPr lang="en-US"/>
            </a:p>
          </p:txBody>
        </p:sp>
        <p:sp>
          <p:nvSpPr>
            <p:cNvPr id="23" name="Text 19"/>
            <p:cNvSpPr/>
            <p:nvPr/>
          </p:nvSpPr>
          <p:spPr>
            <a:xfrm>
              <a:off x="5065776" y="3374136"/>
              <a:ext cx="877824" cy="283464"/>
            </a:xfrm>
            <a:prstGeom prst="rect">
              <a:avLst/>
            </a:prstGeom>
            <a:noFill/>
            <a:ln/>
          </p:spPr>
          <p:txBody>
            <a:bodyPr wrap="square" lIns="0" tIns="0" rIns="0" bIns="0" rtlCol="0" anchor="ctr">
              <a:normAutofit/>
            </a:bodyPr>
            <a:lstStyle/>
            <a:p>
              <a:pPr marL="0" indent="0" algn="ctr">
                <a:buNone/>
              </a:pPr>
              <a:r>
                <a:rPr lang="en-US" sz="1160" b="1" dirty="0">
                  <a:solidFill>
                    <a:srgbClr val="A3614B"/>
                  </a:solidFill>
                  <a:latin typeface="Aptos" pitchFamily="34" charset="0"/>
                  <a:ea typeface="Aptos" pitchFamily="34" charset="-122"/>
                  <a:cs typeface="Aptos" pitchFamily="34" charset="-120"/>
                </a:rPr>
                <a:t>Atención</a:t>
              </a:r>
              <a:endParaRPr lang="en-US" sz="1160" dirty="0"/>
            </a:p>
          </p:txBody>
        </p:sp>
      </p:grpSp>
      <p:sp>
        <p:nvSpPr>
          <p:cNvPr id="24" name="Text 20"/>
          <p:cNvSpPr/>
          <p:nvPr/>
        </p:nvSpPr>
        <p:spPr>
          <a:xfrm>
            <a:off x="6291072" y="3529818"/>
            <a:ext cx="1289304" cy="228600"/>
          </a:xfrm>
          <a:prstGeom prst="rect">
            <a:avLst/>
          </a:prstGeom>
          <a:noFill/>
          <a:ln/>
        </p:spPr>
        <p:txBody>
          <a:bodyPr wrap="square" lIns="0" tIns="0" rIns="0" bIns="0" rtlCol="0" anchor="ctr">
            <a:normAutofit lnSpcReduction="10000"/>
          </a:bodyPr>
          <a:lstStyle/>
          <a:p>
            <a:pPr marL="0" indent="0" algn="ctr">
              <a:buNone/>
            </a:pPr>
            <a:r>
              <a:rPr lang="en-US" sz="1550" b="1" dirty="0">
                <a:solidFill>
                  <a:srgbClr val="A3614B"/>
                </a:solidFill>
                <a:latin typeface="Aptos" pitchFamily="34" charset="0"/>
                <a:ea typeface="Aptos" pitchFamily="34" charset="-122"/>
                <a:cs typeface="Aptos" pitchFamily="34" charset="-120"/>
              </a:rPr>
              <a:t>Faltan 12</a:t>
            </a:r>
            <a:endParaRPr lang="en-US" sz="1550" dirty="0"/>
          </a:p>
        </p:txBody>
      </p:sp>
      <p:sp>
        <p:nvSpPr>
          <p:cNvPr id="25" name="Shape 21"/>
          <p:cNvSpPr/>
          <p:nvPr/>
        </p:nvSpPr>
        <p:spPr>
          <a:xfrm>
            <a:off x="713232" y="4293108"/>
            <a:ext cx="7040880" cy="914400"/>
          </a:xfrm>
          <a:prstGeom prst="roundRect">
            <a:avLst>
              <a:gd name="adj" fmla="val 12000"/>
            </a:avLst>
          </a:prstGeom>
          <a:solidFill>
            <a:srgbClr val="FFFFFF"/>
          </a:solidFill>
          <a:ln w="8890">
            <a:solidFill>
              <a:srgbClr val="DEDAD5"/>
            </a:solidFill>
            <a:prstDash val="solid"/>
          </a:ln>
        </p:spPr>
        <p:txBody>
          <a:bodyPr/>
          <a:lstStyle/>
          <a:p>
            <a:endParaRPr lang="en-US"/>
          </a:p>
        </p:txBody>
      </p:sp>
      <p:sp>
        <p:nvSpPr>
          <p:cNvPr id="26" name="Shape 22"/>
          <p:cNvSpPr/>
          <p:nvPr/>
        </p:nvSpPr>
        <p:spPr>
          <a:xfrm>
            <a:off x="960120" y="4553712"/>
            <a:ext cx="393192" cy="393192"/>
          </a:xfrm>
          <a:prstGeom prst="ellipse">
            <a:avLst/>
          </a:prstGeom>
          <a:solidFill>
            <a:srgbClr val="E8F2ED"/>
          </a:solidFill>
          <a:ln w="12700">
            <a:solidFill>
              <a:srgbClr val="E8F2ED">
                <a:alpha val="0"/>
              </a:srgbClr>
            </a:solidFill>
            <a:prstDash val="solid"/>
          </a:ln>
        </p:spPr>
        <p:txBody>
          <a:bodyPr/>
          <a:lstStyle/>
          <a:p>
            <a:endParaRPr lang="en-US"/>
          </a:p>
        </p:txBody>
      </p:sp>
      <p:pic>
        <p:nvPicPr>
          <p:cNvPr id="2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848" y="4645152"/>
            <a:ext cx="164592" cy="173736"/>
          </a:xfrm>
          <a:prstGeom prst="rect">
            <a:avLst/>
          </a:prstGeom>
        </p:spPr>
      </p:pic>
      <p:sp>
        <p:nvSpPr>
          <p:cNvPr id="28" name="Text 23"/>
          <p:cNvSpPr/>
          <p:nvPr/>
        </p:nvSpPr>
        <p:spPr>
          <a:xfrm>
            <a:off x="1517904" y="4443984"/>
            <a:ext cx="949804" cy="256032"/>
          </a:xfrm>
          <a:prstGeom prst="rect">
            <a:avLst/>
          </a:prstGeom>
          <a:noFill/>
          <a:ln/>
        </p:spPr>
        <p:txBody>
          <a:bodyPr wrap="square" lIns="0" tIns="0" rIns="0" bIns="0" rtlCol="0" anchor="ctr">
            <a:normAutofit fontScale="92500" lnSpcReduction="20000"/>
          </a:bodyPr>
          <a:lstStyle/>
          <a:p>
            <a:pPr marL="0" indent="0" algn="l">
              <a:buNone/>
            </a:pPr>
            <a:r>
              <a:rPr lang="en-US" sz="2000" b="1" dirty="0">
                <a:solidFill>
                  <a:srgbClr val="292929"/>
                </a:solidFill>
                <a:latin typeface="Aptos" pitchFamily="34" charset="0"/>
                <a:ea typeface="Aptos" pitchFamily="34" charset="-122"/>
                <a:cs typeface="Aptos" pitchFamily="34" charset="-120"/>
              </a:rPr>
              <a:t>Jeringas</a:t>
            </a:r>
            <a:endParaRPr lang="en-US" sz="2000" dirty="0"/>
          </a:p>
        </p:txBody>
      </p:sp>
      <p:sp>
        <p:nvSpPr>
          <p:cNvPr id="29" name="Text 24"/>
          <p:cNvSpPr/>
          <p:nvPr/>
        </p:nvSpPr>
        <p:spPr>
          <a:xfrm>
            <a:off x="1517904" y="4800600"/>
            <a:ext cx="2110388" cy="210312"/>
          </a:xfrm>
          <a:prstGeom prst="rect">
            <a:avLst/>
          </a:prstGeom>
          <a:noFill/>
          <a:ln/>
        </p:spPr>
        <p:txBody>
          <a:bodyPr wrap="square" lIns="0" tIns="0" rIns="0" bIns="0" rtlCol="0" anchor="ctr">
            <a:normAutofit/>
          </a:bodyPr>
          <a:lstStyle/>
          <a:p>
            <a:pPr marL="0" indent="0" algn="l">
              <a:buNone/>
            </a:pPr>
            <a:r>
              <a:rPr lang="en-US" sz="1370" dirty="0">
                <a:solidFill>
                  <a:srgbClr val="6E6A66"/>
                </a:solidFill>
                <a:latin typeface="Aptos" pitchFamily="34" charset="0"/>
                <a:ea typeface="Aptos" pitchFamily="34" charset="-122"/>
                <a:cs typeface="Aptos" pitchFamily="34" charset="-120"/>
              </a:rPr>
              <a:t>16 disponibles  /  mínimo 10</a:t>
            </a:r>
            <a:endParaRPr lang="en-US" sz="1370" dirty="0"/>
          </a:p>
        </p:txBody>
      </p:sp>
      <p:grpSp>
        <p:nvGrpSpPr>
          <p:cNvPr id="41" name="Grupo 40">
            <a:extLst>
              <a:ext uri="{FF2B5EF4-FFF2-40B4-BE49-F238E27FC236}">
                <a16:creationId xmlns:a16="http://schemas.microsoft.com/office/drawing/2014/main" id="{DD7F4D60-E6D7-4E57-1720-E05E85534D82}"/>
              </a:ext>
            </a:extLst>
          </p:cNvPr>
          <p:cNvGrpSpPr/>
          <p:nvPr/>
        </p:nvGrpSpPr>
        <p:grpSpPr>
          <a:xfrm>
            <a:off x="4956048" y="4567428"/>
            <a:ext cx="1097280" cy="356616"/>
            <a:chOff x="4956048" y="4443984"/>
            <a:chExt cx="1097280" cy="356616"/>
          </a:xfrm>
        </p:grpSpPr>
        <p:sp>
          <p:nvSpPr>
            <p:cNvPr id="30" name="Shape 25"/>
            <p:cNvSpPr/>
            <p:nvPr/>
          </p:nvSpPr>
          <p:spPr>
            <a:xfrm>
              <a:off x="4956048" y="4443984"/>
              <a:ext cx="1097280" cy="356616"/>
            </a:xfrm>
            <a:prstGeom prst="roundRect">
              <a:avLst>
                <a:gd name="adj" fmla="val 30769"/>
              </a:avLst>
            </a:prstGeom>
            <a:solidFill>
              <a:srgbClr val="E8F2ED"/>
            </a:solidFill>
            <a:ln w="12700">
              <a:solidFill>
                <a:srgbClr val="E8F2ED">
                  <a:alpha val="0"/>
                </a:srgbClr>
              </a:solidFill>
              <a:prstDash val="solid"/>
            </a:ln>
          </p:spPr>
          <p:txBody>
            <a:bodyPr/>
            <a:lstStyle/>
            <a:p>
              <a:endParaRPr lang="en-US"/>
            </a:p>
          </p:txBody>
        </p:sp>
        <p:sp>
          <p:nvSpPr>
            <p:cNvPr id="31" name="Text 26"/>
            <p:cNvSpPr/>
            <p:nvPr/>
          </p:nvSpPr>
          <p:spPr>
            <a:xfrm>
              <a:off x="5065776" y="4471416"/>
              <a:ext cx="877824" cy="283464"/>
            </a:xfrm>
            <a:prstGeom prst="rect">
              <a:avLst/>
            </a:prstGeom>
            <a:noFill/>
            <a:ln/>
          </p:spPr>
          <p:txBody>
            <a:bodyPr wrap="square" lIns="0" tIns="0" rIns="0" bIns="0" rtlCol="0" anchor="ctr">
              <a:normAutofit/>
            </a:bodyPr>
            <a:lstStyle/>
            <a:p>
              <a:pPr marL="0" indent="0" algn="ctr">
                <a:buNone/>
              </a:pPr>
              <a:r>
                <a:rPr lang="en-US" sz="1160" b="1" dirty="0">
                  <a:solidFill>
                    <a:srgbClr val="32755E"/>
                  </a:solidFill>
                  <a:latin typeface="Aptos" pitchFamily="34" charset="0"/>
                  <a:ea typeface="Aptos" pitchFamily="34" charset="-122"/>
                  <a:cs typeface="Aptos" pitchFamily="34" charset="-120"/>
                </a:rPr>
                <a:t>A tiempo</a:t>
              </a:r>
              <a:endParaRPr lang="en-US" sz="1160" dirty="0"/>
            </a:p>
          </p:txBody>
        </p:sp>
      </p:grpSp>
      <p:sp>
        <p:nvSpPr>
          <p:cNvPr id="32" name="Text 27"/>
          <p:cNvSpPr/>
          <p:nvPr/>
        </p:nvSpPr>
        <p:spPr>
          <a:xfrm>
            <a:off x="6327648" y="4631436"/>
            <a:ext cx="1289304" cy="228600"/>
          </a:xfrm>
          <a:prstGeom prst="rect">
            <a:avLst/>
          </a:prstGeom>
          <a:noFill/>
          <a:ln/>
        </p:spPr>
        <p:txBody>
          <a:bodyPr wrap="square" lIns="0" tIns="0" rIns="0" bIns="0" rtlCol="0" anchor="ctr">
            <a:normAutofit fontScale="85000" lnSpcReduction="10000"/>
          </a:bodyPr>
          <a:lstStyle/>
          <a:p>
            <a:pPr marL="0" indent="0" algn="ctr">
              <a:buNone/>
            </a:pPr>
            <a:r>
              <a:rPr lang="en-US" sz="1550" b="1" dirty="0">
                <a:solidFill>
                  <a:srgbClr val="32755E"/>
                </a:solidFill>
                <a:latin typeface="Aptos" pitchFamily="34" charset="0"/>
                <a:ea typeface="Aptos" pitchFamily="34" charset="-122"/>
                <a:cs typeface="Aptos" pitchFamily="34" charset="-120"/>
              </a:rPr>
              <a:t>Stock suficiente</a:t>
            </a:r>
            <a:endParaRPr lang="en-US" sz="1550" dirty="0"/>
          </a:p>
        </p:txBody>
      </p:sp>
      <p:sp>
        <p:nvSpPr>
          <p:cNvPr id="33" name="Shape 28"/>
          <p:cNvSpPr/>
          <p:nvPr/>
        </p:nvSpPr>
        <p:spPr>
          <a:xfrm>
            <a:off x="8028432" y="2093976"/>
            <a:ext cx="3374136" cy="3118104"/>
          </a:xfrm>
          <a:prstGeom prst="roundRect">
            <a:avLst>
              <a:gd name="adj" fmla="val 3519"/>
            </a:avLst>
          </a:prstGeom>
          <a:solidFill>
            <a:srgbClr val="F5F0EB"/>
          </a:solidFill>
          <a:ln w="12700">
            <a:solidFill>
              <a:srgbClr val="F5F0EB">
                <a:alpha val="0"/>
              </a:srgbClr>
            </a:solidFill>
            <a:prstDash val="solid"/>
          </a:ln>
        </p:spPr>
        <p:txBody>
          <a:bodyPr/>
          <a:lstStyle/>
          <a:p>
            <a:endParaRPr lang="en-US"/>
          </a:p>
        </p:txBody>
      </p:sp>
      <p:pic>
        <p:nvPicPr>
          <p:cNvPr id="34"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75904" y="2450592"/>
            <a:ext cx="438912" cy="438912"/>
          </a:xfrm>
          <a:prstGeom prst="rect">
            <a:avLst/>
          </a:prstGeom>
        </p:spPr>
      </p:pic>
      <p:sp>
        <p:nvSpPr>
          <p:cNvPr id="35" name="Text 29"/>
          <p:cNvSpPr/>
          <p:nvPr/>
        </p:nvSpPr>
        <p:spPr>
          <a:xfrm>
            <a:off x="8385048" y="3008376"/>
            <a:ext cx="1761275" cy="384048"/>
          </a:xfrm>
          <a:prstGeom prst="rect">
            <a:avLst/>
          </a:prstGeom>
          <a:noFill/>
          <a:ln/>
        </p:spPr>
        <p:txBody>
          <a:bodyPr wrap="square" lIns="0" tIns="0" rIns="0" bIns="0" rtlCol="0" anchor="ctr">
            <a:normAutofit/>
          </a:bodyPr>
          <a:lstStyle/>
          <a:p>
            <a:pPr marL="0" indent="0" algn="l">
              <a:buNone/>
            </a:pPr>
            <a:r>
              <a:rPr lang="en-US" sz="1750" dirty="0">
                <a:solidFill>
                  <a:srgbClr val="6E6A66"/>
                </a:solidFill>
                <a:latin typeface="Aptos" pitchFamily="34" charset="0"/>
                <a:ea typeface="Aptos" pitchFamily="34" charset="-122"/>
                <a:cs typeface="Aptos" pitchFamily="34" charset="-120"/>
              </a:rPr>
              <a:t>La pregunta clave</a:t>
            </a:r>
            <a:endParaRPr lang="en-US" sz="1750" dirty="0"/>
          </a:p>
        </p:txBody>
      </p:sp>
      <p:sp>
        <p:nvSpPr>
          <p:cNvPr id="36" name="Text 30"/>
          <p:cNvSpPr/>
          <p:nvPr/>
        </p:nvSpPr>
        <p:spPr>
          <a:xfrm>
            <a:off x="8385048" y="3566160"/>
            <a:ext cx="2679192" cy="1161288"/>
          </a:xfrm>
          <a:prstGeom prst="rect">
            <a:avLst/>
          </a:prstGeom>
          <a:noFill/>
          <a:ln/>
        </p:spPr>
        <p:txBody>
          <a:bodyPr wrap="square" lIns="0" tIns="0" rIns="0" bIns="0" rtlCol="0" anchor="t">
            <a:normAutofit fontScale="92500" lnSpcReduction="10000"/>
          </a:bodyPr>
          <a:lstStyle/>
          <a:p>
            <a:pPr marL="0" indent="0" algn="l">
              <a:buNone/>
            </a:pPr>
            <a:r>
              <a:rPr lang="en-US" sz="2250" b="1" dirty="0">
                <a:solidFill>
                  <a:srgbClr val="292929"/>
                </a:solidFill>
                <a:latin typeface="Aptos" pitchFamily="34" charset="0"/>
                <a:ea typeface="Aptos" pitchFamily="34" charset="-122"/>
                <a:cs typeface="Aptos" pitchFamily="34" charset="-120"/>
              </a:rPr>
              <a:t>¿Qué producto necesita atención y cuál tiene mayor faltante?</a:t>
            </a:r>
            <a:endParaRPr lang="en-US" sz="2250" dirty="0"/>
          </a:p>
        </p:txBody>
      </p:sp>
      <p:sp>
        <p:nvSpPr>
          <p:cNvPr id="37" name="Shape 31"/>
          <p:cNvSpPr/>
          <p:nvPr/>
        </p:nvSpPr>
        <p:spPr>
          <a:xfrm>
            <a:off x="1024128" y="5669280"/>
            <a:ext cx="10131552" cy="502920"/>
          </a:xfrm>
          <a:prstGeom prst="roundRect">
            <a:avLst>
              <a:gd name="adj" fmla="val 10909"/>
            </a:avLst>
          </a:prstGeom>
          <a:solidFill>
            <a:schemeClr val="bg1"/>
          </a:solidFill>
          <a:ln w="38100">
            <a:solidFill>
              <a:srgbClr val="FFC000">
                <a:alpha val="0"/>
              </a:srgbClr>
            </a:solidFill>
            <a:prstDash val="solid"/>
          </a:ln>
        </p:spPr>
        <p:txBody>
          <a:bodyPr/>
          <a:lstStyle/>
          <a:p>
            <a:endParaRPr lang="en-US"/>
          </a:p>
        </p:txBody>
      </p:sp>
      <p:sp>
        <p:nvSpPr>
          <p:cNvPr id="38" name="Text 32"/>
          <p:cNvSpPr/>
          <p:nvPr/>
        </p:nvSpPr>
        <p:spPr>
          <a:xfrm>
            <a:off x="1243584" y="5811012"/>
            <a:ext cx="9720072" cy="219456"/>
          </a:xfrm>
          <a:prstGeom prst="rect">
            <a:avLst/>
          </a:prstGeom>
          <a:noFill/>
          <a:ln/>
        </p:spPr>
        <p:txBody>
          <a:bodyPr wrap="square" lIns="0" tIns="0" rIns="0" bIns="0" rtlCol="0" anchor="ctr">
            <a:normAutofit fontScale="92500" lnSpcReduction="10000"/>
          </a:bodyPr>
          <a:lstStyle/>
          <a:p>
            <a:pPr marL="0" indent="0" algn="ctr">
              <a:buNone/>
            </a:pPr>
            <a:r>
              <a:rPr lang="en-US" sz="1640" dirty="0">
                <a:latin typeface="Aptos" pitchFamily="34" charset="0"/>
                <a:ea typeface="Aptos" pitchFamily="34" charset="-122"/>
                <a:cs typeface="Aptos" pitchFamily="34" charset="-120"/>
              </a:rPr>
              <a:t>Necesitamos registrar, detectar críticos y ordenar las necesidades de reposición.</a:t>
            </a:r>
            <a:endParaRPr lang="en-US" sz="16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1750959"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02  ·  LA SOLUCIÓN</a:t>
            </a:r>
            <a:endParaRPr lang="en-US" sz="1120" dirty="0"/>
          </a:p>
        </p:txBody>
      </p:sp>
      <p:sp>
        <p:nvSpPr>
          <p:cNvPr id="4" name="Text 2"/>
          <p:cNvSpPr/>
          <p:nvPr/>
        </p:nvSpPr>
        <p:spPr>
          <a:xfrm>
            <a:off x="621792" y="914400"/>
            <a:ext cx="7631723"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MedicRural-PE permite realizar siete funciones</a:t>
            </a:r>
            <a:endParaRPr lang="en-US" sz="2950" dirty="0"/>
          </a:p>
        </p:txBody>
      </p:sp>
      <p:sp>
        <p:nvSpPr>
          <p:cNvPr id="5" name="Text 3"/>
          <p:cNvSpPr/>
          <p:nvPr/>
        </p:nvSpPr>
        <p:spPr>
          <a:xfrm>
            <a:off x="649224" y="1527048"/>
            <a:ext cx="4498848"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Las agrupamos en tres tareas fáciles de recordar.</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02 / 09</a:t>
            </a:r>
            <a:endParaRPr lang="en-US" sz="910" dirty="0"/>
          </a:p>
        </p:txBody>
      </p:sp>
      <p:sp>
        <p:nvSpPr>
          <p:cNvPr id="9" name="Shape 7"/>
          <p:cNvSpPr/>
          <p:nvPr/>
        </p:nvSpPr>
        <p:spPr>
          <a:xfrm>
            <a:off x="707136" y="2176271"/>
            <a:ext cx="3218688" cy="3392424"/>
          </a:xfrm>
          <a:prstGeom prst="roundRect">
            <a:avLst>
              <a:gd name="adj" fmla="val 3409"/>
            </a:avLst>
          </a:prstGeom>
          <a:solidFill>
            <a:srgbClr val="FFFFFF"/>
          </a:solidFill>
          <a:ln w="8890">
            <a:solidFill>
              <a:srgbClr val="DEDAD5"/>
            </a:solidFill>
            <a:prstDash val="solid"/>
          </a:ln>
        </p:spPr>
        <p:txBody>
          <a:bodyPr/>
          <a:lstStyle/>
          <a:p>
            <a:endParaRPr lang="en-US"/>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7552" y="2478024"/>
            <a:ext cx="384048" cy="384048"/>
          </a:xfrm>
          <a:prstGeom prst="rect">
            <a:avLst/>
          </a:prstGeom>
        </p:spPr>
      </p:pic>
      <p:sp>
        <p:nvSpPr>
          <p:cNvPr id="11" name="Text 8"/>
          <p:cNvSpPr/>
          <p:nvPr/>
        </p:nvSpPr>
        <p:spPr>
          <a:xfrm>
            <a:off x="969264" y="3026664"/>
            <a:ext cx="2770632" cy="512064"/>
          </a:xfrm>
          <a:prstGeom prst="rect">
            <a:avLst/>
          </a:prstGeom>
          <a:noFill/>
          <a:ln/>
        </p:spPr>
        <p:txBody>
          <a:bodyPr wrap="square" lIns="0" tIns="0" rIns="0" bIns="0" rtlCol="0" anchor="t">
            <a:normAutofit/>
          </a:bodyPr>
          <a:lstStyle/>
          <a:p>
            <a:pPr marL="0" indent="0" algn="l">
              <a:buNone/>
            </a:pPr>
            <a:r>
              <a:rPr lang="en-US" sz="2100" b="1" dirty="0">
                <a:solidFill>
                  <a:srgbClr val="292929"/>
                </a:solidFill>
                <a:latin typeface="Aptos" pitchFamily="34" charset="0"/>
                <a:ea typeface="Aptos" pitchFamily="34" charset="-122"/>
                <a:cs typeface="Aptos" pitchFamily="34" charset="-120"/>
              </a:rPr>
              <a:t>Registrar y gestionar</a:t>
            </a:r>
            <a:endParaRPr lang="en-US" sz="2100" dirty="0"/>
          </a:p>
        </p:txBody>
      </p:sp>
      <p:grpSp>
        <p:nvGrpSpPr>
          <p:cNvPr id="44" name="Grupo 43">
            <a:extLst>
              <a:ext uri="{FF2B5EF4-FFF2-40B4-BE49-F238E27FC236}">
                <a16:creationId xmlns:a16="http://schemas.microsoft.com/office/drawing/2014/main" id="{D3763274-9318-8A47-740D-340DCD346B71}"/>
              </a:ext>
            </a:extLst>
          </p:cNvPr>
          <p:cNvGrpSpPr/>
          <p:nvPr/>
        </p:nvGrpSpPr>
        <p:grpSpPr>
          <a:xfrm>
            <a:off x="960120" y="3703320"/>
            <a:ext cx="676656" cy="356616"/>
            <a:chOff x="960120" y="3703320"/>
            <a:chExt cx="676656" cy="356616"/>
          </a:xfrm>
        </p:grpSpPr>
        <p:sp>
          <p:nvSpPr>
            <p:cNvPr id="12" name="Shape 9"/>
            <p:cNvSpPr/>
            <p:nvPr/>
          </p:nvSpPr>
          <p:spPr>
            <a:xfrm>
              <a:off x="960120" y="3703320"/>
              <a:ext cx="676656" cy="356616"/>
            </a:xfrm>
            <a:prstGeom prst="roundRect">
              <a:avLst>
                <a:gd name="adj" fmla="val 30769"/>
              </a:avLst>
            </a:prstGeom>
            <a:solidFill>
              <a:srgbClr val="F5F0EB"/>
            </a:solidFill>
            <a:ln w="12700">
              <a:solidFill>
                <a:srgbClr val="F5F0EB">
                  <a:alpha val="0"/>
                </a:srgbClr>
              </a:solidFill>
              <a:prstDash val="solid"/>
            </a:ln>
          </p:spPr>
          <p:txBody>
            <a:bodyPr/>
            <a:lstStyle/>
            <a:p>
              <a:endParaRPr lang="en-US"/>
            </a:p>
          </p:txBody>
        </p:sp>
        <p:sp>
          <p:nvSpPr>
            <p:cNvPr id="13" name="Text 10"/>
            <p:cNvSpPr/>
            <p:nvPr/>
          </p:nvSpPr>
          <p:spPr>
            <a:xfrm>
              <a:off x="1069848" y="3730752"/>
              <a:ext cx="457200" cy="283464"/>
            </a:xfrm>
            <a:prstGeom prst="rect">
              <a:avLst/>
            </a:prstGeom>
            <a:noFill/>
            <a:ln/>
          </p:spPr>
          <p:txBody>
            <a:bodyPr wrap="square" lIns="0" tIns="0" rIns="0" bIns="0" rtlCol="0" anchor="ctr">
              <a:normAutofit/>
            </a:bodyPr>
            <a:lstStyle/>
            <a:p>
              <a:pPr marL="0" indent="0" algn="ctr">
                <a:buNone/>
              </a:pPr>
              <a:r>
                <a:rPr lang="en-US" sz="1220" b="1" dirty="0">
                  <a:solidFill>
                    <a:srgbClr val="A77958"/>
                  </a:solidFill>
                  <a:latin typeface="Aptos" pitchFamily="34" charset="0"/>
                  <a:ea typeface="Aptos" pitchFamily="34" charset="-122"/>
                  <a:cs typeface="Aptos" pitchFamily="34" charset="-120"/>
                </a:rPr>
                <a:t>RF01</a:t>
              </a:r>
              <a:endParaRPr lang="en-US" sz="1220" dirty="0"/>
            </a:p>
          </p:txBody>
        </p:sp>
      </p:grpSp>
      <p:sp>
        <p:nvSpPr>
          <p:cNvPr id="14" name="Text 11"/>
          <p:cNvSpPr/>
          <p:nvPr/>
        </p:nvSpPr>
        <p:spPr>
          <a:xfrm>
            <a:off x="1737360" y="3735324"/>
            <a:ext cx="1556825" cy="292608"/>
          </a:xfrm>
          <a:prstGeom prst="rect">
            <a:avLst/>
          </a:prstGeom>
          <a:noFill/>
          <a:ln/>
        </p:spPr>
        <p:txBody>
          <a:bodyPr wrap="square" lIns="0" tIns="0" rIns="0" bIns="0" rtlCol="0" anchor="ctr">
            <a:normAutofit/>
          </a:bodyPr>
          <a:lstStyle/>
          <a:p>
            <a:pPr marL="0" indent="0" algn="l">
              <a:buNone/>
            </a:pPr>
            <a:r>
              <a:rPr lang="en-US" sz="1480" dirty="0">
                <a:solidFill>
                  <a:srgbClr val="292929"/>
                </a:solidFill>
                <a:latin typeface="Aptos" pitchFamily="34" charset="0"/>
                <a:ea typeface="Aptos" pitchFamily="34" charset="-122"/>
                <a:cs typeface="Aptos" pitchFamily="34" charset="-120"/>
              </a:rPr>
              <a:t>Registrar producto</a:t>
            </a:r>
            <a:endParaRPr lang="en-US" sz="1480" dirty="0"/>
          </a:p>
        </p:txBody>
      </p:sp>
      <p:grpSp>
        <p:nvGrpSpPr>
          <p:cNvPr id="43" name="Grupo 42">
            <a:extLst>
              <a:ext uri="{FF2B5EF4-FFF2-40B4-BE49-F238E27FC236}">
                <a16:creationId xmlns:a16="http://schemas.microsoft.com/office/drawing/2014/main" id="{9CD405BF-ECEF-67EB-6D12-E371D688165F}"/>
              </a:ext>
            </a:extLst>
          </p:cNvPr>
          <p:cNvGrpSpPr/>
          <p:nvPr/>
        </p:nvGrpSpPr>
        <p:grpSpPr>
          <a:xfrm>
            <a:off x="960120" y="4224528"/>
            <a:ext cx="676656" cy="356616"/>
            <a:chOff x="960120" y="4224528"/>
            <a:chExt cx="676656" cy="356616"/>
          </a:xfrm>
        </p:grpSpPr>
        <p:sp>
          <p:nvSpPr>
            <p:cNvPr id="15" name="Shape 12"/>
            <p:cNvSpPr/>
            <p:nvPr/>
          </p:nvSpPr>
          <p:spPr>
            <a:xfrm>
              <a:off x="960120" y="4224528"/>
              <a:ext cx="676656" cy="356616"/>
            </a:xfrm>
            <a:prstGeom prst="roundRect">
              <a:avLst>
                <a:gd name="adj" fmla="val 30769"/>
              </a:avLst>
            </a:prstGeom>
            <a:solidFill>
              <a:srgbClr val="F5F0EB"/>
            </a:solidFill>
            <a:ln w="12700">
              <a:solidFill>
                <a:srgbClr val="F5F0EB">
                  <a:alpha val="0"/>
                </a:srgbClr>
              </a:solidFill>
              <a:prstDash val="solid"/>
            </a:ln>
          </p:spPr>
          <p:txBody>
            <a:bodyPr/>
            <a:lstStyle/>
            <a:p>
              <a:endParaRPr lang="en-US"/>
            </a:p>
          </p:txBody>
        </p:sp>
        <p:sp>
          <p:nvSpPr>
            <p:cNvPr id="16" name="Text 13"/>
            <p:cNvSpPr/>
            <p:nvPr/>
          </p:nvSpPr>
          <p:spPr>
            <a:xfrm>
              <a:off x="1069848" y="4251960"/>
              <a:ext cx="457200" cy="283464"/>
            </a:xfrm>
            <a:prstGeom prst="rect">
              <a:avLst/>
            </a:prstGeom>
            <a:noFill/>
            <a:ln/>
          </p:spPr>
          <p:txBody>
            <a:bodyPr wrap="square" lIns="0" tIns="0" rIns="0" bIns="0" rtlCol="0" anchor="ctr">
              <a:normAutofit/>
            </a:bodyPr>
            <a:lstStyle/>
            <a:p>
              <a:pPr marL="0" indent="0" algn="ctr">
                <a:buNone/>
              </a:pPr>
              <a:r>
                <a:rPr lang="en-US" sz="1220" b="1" dirty="0">
                  <a:solidFill>
                    <a:srgbClr val="A77958"/>
                  </a:solidFill>
                  <a:latin typeface="Aptos" pitchFamily="34" charset="0"/>
                  <a:ea typeface="Aptos" pitchFamily="34" charset="-122"/>
                  <a:cs typeface="Aptos" pitchFamily="34" charset="-120"/>
                </a:rPr>
                <a:t>RF02</a:t>
              </a:r>
              <a:endParaRPr lang="en-US" sz="1220" dirty="0"/>
            </a:p>
          </p:txBody>
        </p:sp>
      </p:grpSp>
      <p:sp>
        <p:nvSpPr>
          <p:cNvPr id="17" name="Text 14"/>
          <p:cNvSpPr/>
          <p:nvPr/>
        </p:nvSpPr>
        <p:spPr>
          <a:xfrm>
            <a:off x="1737360" y="4256532"/>
            <a:ext cx="1697502" cy="292608"/>
          </a:xfrm>
          <a:prstGeom prst="rect">
            <a:avLst/>
          </a:prstGeom>
          <a:noFill/>
          <a:ln/>
        </p:spPr>
        <p:txBody>
          <a:bodyPr wrap="square" lIns="0" tIns="0" rIns="0" bIns="0" rtlCol="0" anchor="ctr">
            <a:normAutofit/>
          </a:bodyPr>
          <a:lstStyle/>
          <a:p>
            <a:pPr marL="0" indent="0" algn="l">
              <a:buNone/>
            </a:pPr>
            <a:r>
              <a:rPr lang="en-US" sz="1480" dirty="0">
                <a:solidFill>
                  <a:srgbClr val="292929"/>
                </a:solidFill>
                <a:latin typeface="Aptos" pitchFamily="34" charset="0"/>
                <a:ea typeface="Aptos" pitchFamily="34" charset="-122"/>
                <a:cs typeface="Aptos" pitchFamily="34" charset="-120"/>
              </a:rPr>
              <a:t>Consultar inventario</a:t>
            </a:r>
            <a:endParaRPr lang="en-US" sz="1480" dirty="0"/>
          </a:p>
        </p:txBody>
      </p:sp>
      <p:grpSp>
        <p:nvGrpSpPr>
          <p:cNvPr id="42" name="Grupo 41">
            <a:extLst>
              <a:ext uri="{FF2B5EF4-FFF2-40B4-BE49-F238E27FC236}">
                <a16:creationId xmlns:a16="http://schemas.microsoft.com/office/drawing/2014/main" id="{77862011-BFAE-4806-6C3B-AFD126F8D3B4}"/>
              </a:ext>
            </a:extLst>
          </p:cNvPr>
          <p:cNvGrpSpPr/>
          <p:nvPr/>
        </p:nvGrpSpPr>
        <p:grpSpPr>
          <a:xfrm>
            <a:off x="960120" y="4745736"/>
            <a:ext cx="676656" cy="356616"/>
            <a:chOff x="960120" y="4745736"/>
            <a:chExt cx="676656" cy="356616"/>
          </a:xfrm>
        </p:grpSpPr>
        <p:sp>
          <p:nvSpPr>
            <p:cNvPr id="18" name="Shape 15"/>
            <p:cNvSpPr/>
            <p:nvPr/>
          </p:nvSpPr>
          <p:spPr>
            <a:xfrm>
              <a:off x="960120" y="4745736"/>
              <a:ext cx="676656" cy="356616"/>
            </a:xfrm>
            <a:prstGeom prst="roundRect">
              <a:avLst>
                <a:gd name="adj" fmla="val 30769"/>
              </a:avLst>
            </a:prstGeom>
            <a:solidFill>
              <a:srgbClr val="F5F0EB"/>
            </a:solidFill>
            <a:ln w="12700">
              <a:solidFill>
                <a:srgbClr val="F5F0EB">
                  <a:alpha val="0"/>
                </a:srgbClr>
              </a:solidFill>
              <a:prstDash val="solid"/>
            </a:ln>
          </p:spPr>
          <p:txBody>
            <a:bodyPr/>
            <a:lstStyle/>
            <a:p>
              <a:endParaRPr lang="en-US"/>
            </a:p>
          </p:txBody>
        </p:sp>
        <p:sp>
          <p:nvSpPr>
            <p:cNvPr id="19" name="Text 16"/>
            <p:cNvSpPr/>
            <p:nvPr/>
          </p:nvSpPr>
          <p:spPr>
            <a:xfrm>
              <a:off x="1069848" y="4773168"/>
              <a:ext cx="457200" cy="283464"/>
            </a:xfrm>
            <a:prstGeom prst="rect">
              <a:avLst/>
            </a:prstGeom>
            <a:noFill/>
            <a:ln/>
          </p:spPr>
          <p:txBody>
            <a:bodyPr wrap="square" lIns="0" tIns="0" rIns="0" bIns="0" rtlCol="0" anchor="ctr">
              <a:normAutofit/>
            </a:bodyPr>
            <a:lstStyle/>
            <a:p>
              <a:pPr marL="0" indent="0" algn="ctr">
                <a:buNone/>
              </a:pPr>
              <a:r>
                <a:rPr lang="en-US" sz="1220" b="1" dirty="0">
                  <a:solidFill>
                    <a:srgbClr val="A77958"/>
                  </a:solidFill>
                  <a:latin typeface="Aptos" pitchFamily="34" charset="0"/>
                  <a:ea typeface="Aptos" pitchFamily="34" charset="-122"/>
                  <a:cs typeface="Aptos" pitchFamily="34" charset="-120"/>
                </a:rPr>
                <a:t>RF03</a:t>
              </a:r>
              <a:endParaRPr lang="en-US" sz="1220" dirty="0"/>
            </a:p>
          </p:txBody>
        </p:sp>
      </p:grpSp>
      <p:sp>
        <p:nvSpPr>
          <p:cNvPr id="20" name="Text 17"/>
          <p:cNvSpPr/>
          <p:nvPr/>
        </p:nvSpPr>
        <p:spPr>
          <a:xfrm>
            <a:off x="1737360" y="4777740"/>
            <a:ext cx="1638886" cy="292608"/>
          </a:xfrm>
          <a:prstGeom prst="rect">
            <a:avLst/>
          </a:prstGeom>
          <a:noFill/>
          <a:ln/>
        </p:spPr>
        <p:txBody>
          <a:bodyPr wrap="square" lIns="0" tIns="0" rIns="0" bIns="0" rtlCol="0" anchor="ctr">
            <a:normAutofit/>
          </a:bodyPr>
          <a:lstStyle/>
          <a:p>
            <a:pPr marL="0" indent="0" algn="l">
              <a:buNone/>
            </a:pPr>
            <a:r>
              <a:rPr lang="en-US" sz="1480" dirty="0">
                <a:solidFill>
                  <a:srgbClr val="292929"/>
                </a:solidFill>
                <a:latin typeface="Aptos" pitchFamily="34" charset="0"/>
                <a:ea typeface="Aptos" pitchFamily="34" charset="-122"/>
                <a:cs typeface="Aptos" pitchFamily="34" charset="-120"/>
              </a:rPr>
              <a:t>Actualizar cantidad</a:t>
            </a:r>
            <a:endParaRPr lang="en-US" sz="1480" dirty="0"/>
          </a:p>
        </p:txBody>
      </p:sp>
      <p:sp>
        <p:nvSpPr>
          <p:cNvPr id="21" name="Shape 18"/>
          <p:cNvSpPr/>
          <p:nvPr/>
        </p:nvSpPr>
        <p:spPr>
          <a:xfrm>
            <a:off x="4489704" y="2176272"/>
            <a:ext cx="3218688" cy="3392424"/>
          </a:xfrm>
          <a:prstGeom prst="roundRect">
            <a:avLst>
              <a:gd name="adj" fmla="val 3409"/>
            </a:avLst>
          </a:prstGeom>
          <a:solidFill>
            <a:srgbClr val="F5F0EB"/>
          </a:solidFill>
          <a:ln w="8890">
            <a:solidFill>
              <a:srgbClr val="DEDAD5"/>
            </a:solidFill>
            <a:prstDash val="solid"/>
          </a:ln>
        </p:spPr>
        <p:txBody>
          <a:bodyPr/>
          <a:lstStyle/>
          <a:p>
            <a:endParaRPr lang="en-US"/>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4024" y="2478024"/>
            <a:ext cx="384048" cy="384048"/>
          </a:xfrm>
          <a:prstGeom prst="rect">
            <a:avLst/>
          </a:prstGeom>
        </p:spPr>
      </p:pic>
      <p:sp>
        <p:nvSpPr>
          <p:cNvPr id="23" name="Text 19"/>
          <p:cNvSpPr/>
          <p:nvPr/>
        </p:nvSpPr>
        <p:spPr>
          <a:xfrm>
            <a:off x="4745736" y="3026664"/>
            <a:ext cx="2770632" cy="512064"/>
          </a:xfrm>
          <a:prstGeom prst="rect">
            <a:avLst/>
          </a:prstGeom>
          <a:noFill/>
          <a:ln/>
        </p:spPr>
        <p:txBody>
          <a:bodyPr wrap="square" lIns="0" tIns="0" rIns="0" bIns="0" rtlCol="0" anchor="t">
            <a:normAutofit/>
          </a:bodyPr>
          <a:lstStyle/>
          <a:p>
            <a:pPr marL="0" indent="0" algn="l">
              <a:buNone/>
            </a:pPr>
            <a:r>
              <a:rPr lang="en-US" sz="2100" b="1" dirty="0">
                <a:solidFill>
                  <a:srgbClr val="292929"/>
                </a:solidFill>
                <a:latin typeface="Aptos" pitchFamily="34" charset="0"/>
                <a:ea typeface="Aptos" pitchFamily="34" charset="-122"/>
                <a:cs typeface="Aptos" pitchFamily="34" charset="-120"/>
              </a:rPr>
              <a:t>Detectar y priorizar</a:t>
            </a:r>
            <a:endParaRPr lang="en-US" sz="2100" dirty="0"/>
          </a:p>
        </p:txBody>
      </p:sp>
      <p:grpSp>
        <p:nvGrpSpPr>
          <p:cNvPr id="45" name="Grupo 44">
            <a:extLst>
              <a:ext uri="{FF2B5EF4-FFF2-40B4-BE49-F238E27FC236}">
                <a16:creationId xmlns:a16="http://schemas.microsoft.com/office/drawing/2014/main" id="{94E6F872-4450-69BE-ACB5-44E4F705ACFF}"/>
              </a:ext>
            </a:extLst>
          </p:cNvPr>
          <p:cNvGrpSpPr/>
          <p:nvPr/>
        </p:nvGrpSpPr>
        <p:grpSpPr>
          <a:xfrm>
            <a:off x="4736592" y="3703320"/>
            <a:ext cx="676656" cy="356616"/>
            <a:chOff x="4736592" y="3703320"/>
            <a:chExt cx="676656" cy="356616"/>
          </a:xfrm>
        </p:grpSpPr>
        <p:sp>
          <p:nvSpPr>
            <p:cNvPr id="24" name="Shape 20"/>
            <p:cNvSpPr/>
            <p:nvPr/>
          </p:nvSpPr>
          <p:spPr>
            <a:xfrm>
              <a:off x="4736592" y="3703320"/>
              <a:ext cx="676656" cy="356616"/>
            </a:xfrm>
            <a:prstGeom prst="roundRect">
              <a:avLst>
                <a:gd name="adj" fmla="val 30769"/>
              </a:avLst>
            </a:prstGeom>
            <a:solidFill>
              <a:srgbClr val="E7DBD1"/>
            </a:solidFill>
            <a:ln w="12700">
              <a:solidFill>
                <a:srgbClr val="E7DBD1">
                  <a:alpha val="0"/>
                </a:srgbClr>
              </a:solidFill>
              <a:prstDash val="solid"/>
            </a:ln>
          </p:spPr>
          <p:txBody>
            <a:bodyPr/>
            <a:lstStyle/>
            <a:p>
              <a:endParaRPr lang="en-US"/>
            </a:p>
          </p:txBody>
        </p:sp>
        <p:sp>
          <p:nvSpPr>
            <p:cNvPr id="25" name="Text 21"/>
            <p:cNvSpPr/>
            <p:nvPr/>
          </p:nvSpPr>
          <p:spPr>
            <a:xfrm>
              <a:off x="4846320" y="3730752"/>
              <a:ext cx="457200" cy="283464"/>
            </a:xfrm>
            <a:prstGeom prst="rect">
              <a:avLst/>
            </a:prstGeom>
            <a:noFill/>
            <a:ln/>
          </p:spPr>
          <p:txBody>
            <a:bodyPr wrap="square" lIns="0" tIns="0" rIns="0" bIns="0" rtlCol="0" anchor="ctr">
              <a:normAutofit/>
            </a:bodyPr>
            <a:lstStyle/>
            <a:p>
              <a:pPr marL="0" indent="0" algn="ctr">
                <a:buNone/>
              </a:pPr>
              <a:r>
                <a:rPr lang="en-US" sz="1220" b="1" dirty="0">
                  <a:solidFill>
                    <a:srgbClr val="A77958"/>
                  </a:solidFill>
                  <a:latin typeface="Aptos" pitchFamily="34" charset="0"/>
                  <a:ea typeface="Aptos" pitchFamily="34" charset="-122"/>
                  <a:cs typeface="Aptos" pitchFamily="34" charset="-120"/>
                </a:rPr>
                <a:t>RF04</a:t>
              </a:r>
              <a:endParaRPr lang="en-US" sz="1220" dirty="0"/>
            </a:p>
          </p:txBody>
        </p:sp>
      </p:grpSp>
      <p:sp>
        <p:nvSpPr>
          <p:cNvPr id="26" name="Text 22"/>
          <p:cNvSpPr/>
          <p:nvPr/>
        </p:nvSpPr>
        <p:spPr>
          <a:xfrm>
            <a:off x="5513832" y="3735324"/>
            <a:ext cx="1807230" cy="292608"/>
          </a:xfrm>
          <a:prstGeom prst="rect">
            <a:avLst/>
          </a:prstGeom>
          <a:noFill/>
          <a:ln/>
        </p:spPr>
        <p:txBody>
          <a:bodyPr wrap="square" lIns="0" tIns="0" rIns="0" bIns="0" rtlCol="0" anchor="ctr">
            <a:normAutofit/>
          </a:bodyPr>
          <a:lstStyle/>
          <a:p>
            <a:pPr marL="0" indent="0" algn="l">
              <a:buNone/>
            </a:pPr>
            <a:r>
              <a:rPr lang="en-US" sz="1480" dirty="0">
                <a:solidFill>
                  <a:srgbClr val="292929"/>
                </a:solidFill>
                <a:latin typeface="Aptos" pitchFamily="34" charset="0"/>
                <a:ea typeface="Aptos" pitchFamily="34" charset="-122"/>
                <a:cs typeface="Aptos" pitchFamily="34" charset="-120"/>
              </a:rPr>
              <a:t>Detectar stock crítico</a:t>
            </a:r>
            <a:endParaRPr lang="en-US" sz="1480" dirty="0"/>
          </a:p>
        </p:txBody>
      </p:sp>
      <p:grpSp>
        <p:nvGrpSpPr>
          <p:cNvPr id="46" name="Grupo 45">
            <a:extLst>
              <a:ext uri="{FF2B5EF4-FFF2-40B4-BE49-F238E27FC236}">
                <a16:creationId xmlns:a16="http://schemas.microsoft.com/office/drawing/2014/main" id="{80F466EF-5804-DE61-03D6-EE570B8D2ECA}"/>
              </a:ext>
            </a:extLst>
          </p:cNvPr>
          <p:cNvGrpSpPr/>
          <p:nvPr/>
        </p:nvGrpSpPr>
        <p:grpSpPr>
          <a:xfrm>
            <a:off x="4736592" y="4224528"/>
            <a:ext cx="676656" cy="356616"/>
            <a:chOff x="4736592" y="4224528"/>
            <a:chExt cx="676656" cy="356616"/>
          </a:xfrm>
        </p:grpSpPr>
        <p:sp>
          <p:nvSpPr>
            <p:cNvPr id="27" name="Shape 23"/>
            <p:cNvSpPr/>
            <p:nvPr/>
          </p:nvSpPr>
          <p:spPr>
            <a:xfrm>
              <a:off x="4736592" y="4224528"/>
              <a:ext cx="676656" cy="356616"/>
            </a:xfrm>
            <a:prstGeom prst="roundRect">
              <a:avLst>
                <a:gd name="adj" fmla="val 30769"/>
              </a:avLst>
            </a:prstGeom>
            <a:solidFill>
              <a:srgbClr val="E7DBD1"/>
            </a:solidFill>
            <a:ln w="12700">
              <a:solidFill>
                <a:srgbClr val="E7DBD1">
                  <a:alpha val="0"/>
                </a:srgbClr>
              </a:solidFill>
              <a:prstDash val="solid"/>
            </a:ln>
          </p:spPr>
          <p:txBody>
            <a:bodyPr/>
            <a:lstStyle/>
            <a:p>
              <a:endParaRPr lang="en-US"/>
            </a:p>
          </p:txBody>
        </p:sp>
        <p:sp>
          <p:nvSpPr>
            <p:cNvPr id="28" name="Text 24"/>
            <p:cNvSpPr/>
            <p:nvPr/>
          </p:nvSpPr>
          <p:spPr>
            <a:xfrm>
              <a:off x="4846320" y="4251960"/>
              <a:ext cx="457200" cy="283464"/>
            </a:xfrm>
            <a:prstGeom prst="rect">
              <a:avLst/>
            </a:prstGeom>
            <a:noFill/>
            <a:ln/>
          </p:spPr>
          <p:txBody>
            <a:bodyPr wrap="square" lIns="0" tIns="0" rIns="0" bIns="0" rtlCol="0" anchor="ctr">
              <a:normAutofit/>
            </a:bodyPr>
            <a:lstStyle/>
            <a:p>
              <a:pPr marL="0" indent="0" algn="ctr">
                <a:buNone/>
              </a:pPr>
              <a:r>
                <a:rPr lang="en-US" sz="1220" b="1" dirty="0">
                  <a:solidFill>
                    <a:srgbClr val="A77958"/>
                  </a:solidFill>
                  <a:latin typeface="Aptos" pitchFamily="34" charset="0"/>
                  <a:ea typeface="Aptos" pitchFamily="34" charset="-122"/>
                  <a:cs typeface="Aptos" pitchFamily="34" charset="-120"/>
                </a:rPr>
                <a:t>RF05</a:t>
              </a:r>
              <a:endParaRPr lang="en-US" sz="1220" dirty="0"/>
            </a:p>
          </p:txBody>
        </p:sp>
      </p:grpSp>
      <p:sp>
        <p:nvSpPr>
          <p:cNvPr id="29" name="Text 25"/>
          <p:cNvSpPr/>
          <p:nvPr/>
        </p:nvSpPr>
        <p:spPr>
          <a:xfrm>
            <a:off x="5513832" y="4256532"/>
            <a:ext cx="1701722" cy="292608"/>
          </a:xfrm>
          <a:prstGeom prst="rect">
            <a:avLst/>
          </a:prstGeom>
          <a:noFill/>
          <a:ln/>
        </p:spPr>
        <p:txBody>
          <a:bodyPr wrap="square" lIns="0" tIns="0" rIns="0" bIns="0" rtlCol="0" anchor="ctr">
            <a:normAutofit/>
          </a:bodyPr>
          <a:lstStyle/>
          <a:p>
            <a:pPr marL="0" indent="0" algn="l">
              <a:buNone/>
            </a:pPr>
            <a:r>
              <a:rPr lang="en-US" sz="1480" dirty="0">
                <a:solidFill>
                  <a:srgbClr val="292929"/>
                </a:solidFill>
                <a:latin typeface="Aptos" pitchFamily="34" charset="0"/>
                <a:ea typeface="Aptos" pitchFamily="34" charset="-122"/>
                <a:cs typeface="Aptos" pitchFamily="34" charset="-120"/>
              </a:rPr>
              <a:t>Mostrar solo críticos</a:t>
            </a:r>
            <a:endParaRPr lang="en-US" sz="1480" dirty="0"/>
          </a:p>
        </p:txBody>
      </p:sp>
      <p:grpSp>
        <p:nvGrpSpPr>
          <p:cNvPr id="47" name="Grupo 46">
            <a:extLst>
              <a:ext uri="{FF2B5EF4-FFF2-40B4-BE49-F238E27FC236}">
                <a16:creationId xmlns:a16="http://schemas.microsoft.com/office/drawing/2014/main" id="{9DA23678-5CF1-CD31-69C8-50C5362F0082}"/>
              </a:ext>
            </a:extLst>
          </p:cNvPr>
          <p:cNvGrpSpPr/>
          <p:nvPr/>
        </p:nvGrpSpPr>
        <p:grpSpPr>
          <a:xfrm>
            <a:off x="4736592" y="4745736"/>
            <a:ext cx="676656" cy="356616"/>
            <a:chOff x="4736592" y="4745736"/>
            <a:chExt cx="676656" cy="356616"/>
          </a:xfrm>
        </p:grpSpPr>
        <p:sp>
          <p:nvSpPr>
            <p:cNvPr id="30" name="Shape 26"/>
            <p:cNvSpPr/>
            <p:nvPr/>
          </p:nvSpPr>
          <p:spPr>
            <a:xfrm>
              <a:off x="4736592" y="4745736"/>
              <a:ext cx="676656" cy="356616"/>
            </a:xfrm>
            <a:prstGeom prst="roundRect">
              <a:avLst>
                <a:gd name="adj" fmla="val 30769"/>
              </a:avLst>
            </a:prstGeom>
            <a:solidFill>
              <a:srgbClr val="E7DBD1"/>
            </a:solidFill>
            <a:ln w="12700">
              <a:solidFill>
                <a:srgbClr val="E7DBD1">
                  <a:alpha val="0"/>
                </a:srgbClr>
              </a:solidFill>
              <a:prstDash val="solid"/>
            </a:ln>
          </p:spPr>
          <p:txBody>
            <a:bodyPr/>
            <a:lstStyle/>
            <a:p>
              <a:endParaRPr lang="en-US"/>
            </a:p>
          </p:txBody>
        </p:sp>
        <p:sp>
          <p:nvSpPr>
            <p:cNvPr id="31" name="Text 27"/>
            <p:cNvSpPr/>
            <p:nvPr/>
          </p:nvSpPr>
          <p:spPr>
            <a:xfrm>
              <a:off x="4846320" y="4773168"/>
              <a:ext cx="457200" cy="283464"/>
            </a:xfrm>
            <a:prstGeom prst="rect">
              <a:avLst/>
            </a:prstGeom>
            <a:noFill/>
            <a:ln/>
          </p:spPr>
          <p:txBody>
            <a:bodyPr wrap="square" lIns="0" tIns="0" rIns="0" bIns="0" rtlCol="0" anchor="ctr">
              <a:normAutofit/>
            </a:bodyPr>
            <a:lstStyle/>
            <a:p>
              <a:pPr marL="0" indent="0" algn="ctr">
                <a:buNone/>
              </a:pPr>
              <a:r>
                <a:rPr lang="en-US" sz="1220" b="1" dirty="0">
                  <a:solidFill>
                    <a:srgbClr val="A77958"/>
                  </a:solidFill>
                  <a:latin typeface="Aptos" pitchFamily="34" charset="0"/>
                  <a:ea typeface="Aptos" pitchFamily="34" charset="-122"/>
                  <a:cs typeface="Aptos" pitchFamily="34" charset="-120"/>
                </a:rPr>
                <a:t>RF06</a:t>
              </a:r>
              <a:endParaRPr lang="en-US" sz="1220" dirty="0"/>
            </a:p>
          </p:txBody>
        </p:sp>
      </p:grpSp>
      <p:sp>
        <p:nvSpPr>
          <p:cNvPr id="32" name="Text 28"/>
          <p:cNvSpPr/>
          <p:nvPr/>
        </p:nvSpPr>
        <p:spPr>
          <a:xfrm>
            <a:off x="5513832" y="4777740"/>
            <a:ext cx="1701722" cy="292608"/>
          </a:xfrm>
          <a:prstGeom prst="rect">
            <a:avLst/>
          </a:prstGeom>
          <a:noFill/>
          <a:ln/>
        </p:spPr>
        <p:txBody>
          <a:bodyPr wrap="square" lIns="0" tIns="0" rIns="0" bIns="0" rtlCol="0" anchor="ctr">
            <a:normAutofit/>
          </a:bodyPr>
          <a:lstStyle/>
          <a:p>
            <a:pPr marL="0" indent="0" algn="l">
              <a:buNone/>
            </a:pPr>
            <a:r>
              <a:rPr lang="en-US" sz="1480" dirty="0">
                <a:solidFill>
                  <a:srgbClr val="292929"/>
                </a:solidFill>
                <a:latin typeface="Aptos" pitchFamily="34" charset="0"/>
                <a:ea typeface="Aptos" pitchFamily="34" charset="-122"/>
                <a:cs typeface="Aptos" pitchFamily="34" charset="-120"/>
              </a:rPr>
              <a:t>Ordenar por faltante</a:t>
            </a:r>
            <a:endParaRPr lang="en-US" sz="1480" dirty="0"/>
          </a:p>
        </p:txBody>
      </p:sp>
      <p:sp>
        <p:nvSpPr>
          <p:cNvPr id="33" name="Shape 29"/>
          <p:cNvSpPr/>
          <p:nvPr/>
        </p:nvSpPr>
        <p:spPr>
          <a:xfrm>
            <a:off x="8266176" y="2176272"/>
            <a:ext cx="3218688" cy="3392424"/>
          </a:xfrm>
          <a:prstGeom prst="roundRect">
            <a:avLst>
              <a:gd name="adj" fmla="val 3409"/>
            </a:avLst>
          </a:prstGeom>
          <a:solidFill>
            <a:srgbClr val="FFFFFF"/>
          </a:solidFill>
          <a:ln w="8890">
            <a:solidFill>
              <a:srgbClr val="DEDAD5"/>
            </a:solidFill>
            <a:prstDash val="solid"/>
          </a:ln>
        </p:spPr>
        <p:txBody>
          <a:bodyPr/>
          <a:lstStyle/>
          <a:p>
            <a:endParaRPr lang="en-US"/>
          </a:p>
        </p:txBody>
      </p:sp>
      <p:pic>
        <p:nvPicPr>
          <p:cNvPr id="3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40496" y="2478024"/>
            <a:ext cx="384048" cy="384048"/>
          </a:xfrm>
          <a:prstGeom prst="rect">
            <a:avLst/>
          </a:prstGeom>
        </p:spPr>
      </p:pic>
      <p:sp>
        <p:nvSpPr>
          <p:cNvPr id="35" name="Text 30"/>
          <p:cNvSpPr/>
          <p:nvPr/>
        </p:nvSpPr>
        <p:spPr>
          <a:xfrm>
            <a:off x="8522208" y="3124200"/>
            <a:ext cx="2770632" cy="512064"/>
          </a:xfrm>
          <a:prstGeom prst="rect">
            <a:avLst/>
          </a:prstGeom>
          <a:noFill/>
          <a:ln/>
        </p:spPr>
        <p:txBody>
          <a:bodyPr wrap="square" lIns="0" tIns="0" rIns="0" bIns="0" rtlCol="0" anchor="t">
            <a:normAutofit/>
          </a:bodyPr>
          <a:lstStyle/>
          <a:p>
            <a:pPr marL="0" indent="0" algn="l">
              <a:buNone/>
            </a:pPr>
            <a:r>
              <a:rPr lang="en-US" sz="2100" b="1" dirty="0">
                <a:solidFill>
                  <a:srgbClr val="292929"/>
                </a:solidFill>
                <a:latin typeface="Aptos" pitchFamily="34" charset="0"/>
                <a:ea typeface="Aptos" pitchFamily="34" charset="-122"/>
                <a:cs typeface="Aptos" pitchFamily="34" charset="-120"/>
              </a:rPr>
              <a:t>Resumir existencias</a:t>
            </a:r>
            <a:endParaRPr lang="en-US" sz="2100" dirty="0"/>
          </a:p>
        </p:txBody>
      </p:sp>
      <p:grpSp>
        <p:nvGrpSpPr>
          <p:cNvPr id="48" name="Grupo 47">
            <a:extLst>
              <a:ext uri="{FF2B5EF4-FFF2-40B4-BE49-F238E27FC236}">
                <a16:creationId xmlns:a16="http://schemas.microsoft.com/office/drawing/2014/main" id="{D4E3C8FB-09FA-0000-B49E-533266AC2EBD}"/>
              </a:ext>
            </a:extLst>
          </p:cNvPr>
          <p:cNvGrpSpPr/>
          <p:nvPr/>
        </p:nvGrpSpPr>
        <p:grpSpPr>
          <a:xfrm>
            <a:off x="8513064" y="3699100"/>
            <a:ext cx="676656" cy="356616"/>
            <a:chOff x="8513064" y="3703320"/>
            <a:chExt cx="676656" cy="356616"/>
          </a:xfrm>
        </p:grpSpPr>
        <p:sp>
          <p:nvSpPr>
            <p:cNvPr id="36" name="Shape 31"/>
            <p:cNvSpPr/>
            <p:nvPr/>
          </p:nvSpPr>
          <p:spPr>
            <a:xfrm>
              <a:off x="8513064" y="3703320"/>
              <a:ext cx="676656" cy="356616"/>
            </a:xfrm>
            <a:prstGeom prst="roundRect">
              <a:avLst>
                <a:gd name="adj" fmla="val 30769"/>
              </a:avLst>
            </a:prstGeom>
            <a:solidFill>
              <a:srgbClr val="F5F0EB"/>
            </a:solidFill>
            <a:ln w="12700">
              <a:solidFill>
                <a:srgbClr val="F5F0EB">
                  <a:alpha val="0"/>
                </a:srgbClr>
              </a:solidFill>
              <a:prstDash val="solid"/>
            </a:ln>
          </p:spPr>
          <p:txBody>
            <a:bodyPr/>
            <a:lstStyle/>
            <a:p>
              <a:endParaRPr lang="en-US"/>
            </a:p>
          </p:txBody>
        </p:sp>
        <p:sp>
          <p:nvSpPr>
            <p:cNvPr id="37" name="Text 32"/>
            <p:cNvSpPr/>
            <p:nvPr/>
          </p:nvSpPr>
          <p:spPr>
            <a:xfrm>
              <a:off x="8622792" y="3730752"/>
              <a:ext cx="457200" cy="283464"/>
            </a:xfrm>
            <a:prstGeom prst="rect">
              <a:avLst/>
            </a:prstGeom>
            <a:noFill/>
            <a:ln/>
          </p:spPr>
          <p:txBody>
            <a:bodyPr wrap="square" lIns="0" tIns="0" rIns="0" bIns="0" rtlCol="0" anchor="ctr">
              <a:normAutofit/>
            </a:bodyPr>
            <a:lstStyle/>
            <a:p>
              <a:pPr marL="0" indent="0" algn="ctr">
                <a:buNone/>
              </a:pPr>
              <a:r>
                <a:rPr lang="en-US" sz="1220" b="1" dirty="0">
                  <a:solidFill>
                    <a:srgbClr val="A77958"/>
                  </a:solidFill>
                  <a:latin typeface="Aptos" pitchFamily="34" charset="0"/>
                  <a:ea typeface="Aptos" pitchFamily="34" charset="-122"/>
                  <a:cs typeface="Aptos" pitchFamily="34" charset="-120"/>
                </a:rPr>
                <a:t>RF07</a:t>
              </a:r>
              <a:endParaRPr lang="en-US" sz="1220" dirty="0"/>
            </a:p>
          </p:txBody>
        </p:sp>
      </p:grpSp>
      <p:sp>
        <p:nvSpPr>
          <p:cNvPr id="38" name="Text 33"/>
          <p:cNvSpPr/>
          <p:nvPr/>
        </p:nvSpPr>
        <p:spPr>
          <a:xfrm>
            <a:off x="9299448" y="3709768"/>
            <a:ext cx="1324942" cy="292608"/>
          </a:xfrm>
          <a:prstGeom prst="rect">
            <a:avLst/>
          </a:prstGeom>
          <a:noFill/>
          <a:ln/>
        </p:spPr>
        <p:txBody>
          <a:bodyPr wrap="square" lIns="0" tIns="0" rIns="0" bIns="0" rtlCol="0" anchor="ctr">
            <a:normAutofit/>
          </a:bodyPr>
          <a:lstStyle/>
          <a:p>
            <a:pPr marL="0" indent="0" algn="l">
              <a:buNone/>
            </a:pPr>
            <a:r>
              <a:rPr lang="en-US" sz="1480" dirty="0">
                <a:solidFill>
                  <a:srgbClr val="292929"/>
                </a:solidFill>
                <a:latin typeface="Aptos" pitchFamily="34" charset="0"/>
                <a:ea typeface="Aptos" pitchFamily="34" charset="-122"/>
                <a:cs typeface="Aptos" pitchFamily="34" charset="-120"/>
              </a:rPr>
              <a:t>Ver un resumen</a:t>
            </a:r>
            <a:endParaRPr lang="en-US" sz="1480" dirty="0"/>
          </a:p>
        </p:txBody>
      </p:sp>
      <p:sp>
        <p:nvSpPr>
          <p:cNvPr id="39" name="Shape 34"/>
          <p:cNvSpPr/>
          <p:nvPr/>
        </p:nvSpPr>
        <p:spPr>
          <a:xfrm>
            <a:off x="8513064" y="4517136"/>
            <a:ext cx="2660904" cy="0"/>
          </a:xfrm>
          <a:prstGeom prst="line">
            <a:avLst/>
          </a:prstGeom>
          <a:noFill/>
          <a:ln w="8890">
            <a:solidFill>
              <a:srgbClr val="DEDAD5"/>
            </a:solidFill>
            <a:prstDash val="solid"/>
          </a:ln>
        </p:spPr>
        <p:txBody>
          <a:bodyPr/>
          <a:lstStyle/>
          <a:p>
            <a:endParaRPr lang="en-US"/>
          </a:p>
        </p:txBody>
      </p:sp>
      <p:sp>
        <p:nvSpPr>
          <p:cNvPr id="40" name="Text 35"/>
          <p:cNvSpPr/>
          <p:nvPr/>
        </p:nvSpPr>
        <p:spPr>
          <a:xfrm>
            <a:off x="8540496" y="4617720"/>
            <a:ext cx="2743200" cy="740664"/>
          </a:xfrm>
          <a:prstGeom prst="rect">
            <a:avLst/>
          </a:prstGeom>
          <a:noFill/>
          <a:ln/>
        </p:spPr>
        <p:txBody>
          <a:bodyPr wrap="square" lIns="0" tIns="0" rIns="0" bIns="0" rtlCol="0" anchor="t">
            <a:normAutofit/>
          </a:bodyPr>
          <a:lstStyle/>
          <a:p>
            <a:pPr marL="0" indent="0" algn="l">
              <a:buNone/>
            </a:pPr>
            <a:r>
              <a:rPr lang="en-US" sz="1280" dirty="0">
                <a:solidFill>
                  <a:srgbClr val="6E6A66"/>
                </a:solidFill>
                <a:latin typeface="Aptos" pitchFamily="34" charset="0"/>
                <a:ea typeface="Aptos" pitchFamily="34" charset="-122"/>
                <a:cs typeface="Aptos" pitchFamily="34" charset="-120"/>
              </a:rPr>
              <a:t>Productos registrados</a:t>
            </a:r>
            <a:endParaRPr lang="en-US" sz="1280" dirty="0"/>
          </a:p>
          <a:p>
            <a:pPr marL="0" indent="0" algn="l">
              <a:buNone/>
            </a:pPr>
            <a:r>
              <a:rPr lang="en-US" sz="1280" dirty="0">
                <a:solidFill>
                  <a:srgbClr val="6E6A66"/>
                </a:solidFill>
                <a:latin typeface="Aptos" pitchFamily="34" charset="0"/>
                <a:ea typeface="Aptos" pitchFamily="34" charset="-122"/>
                <a:cs typeface="Aptos" pitchFamily="34" charset="-120"/>
              </a:rPr>
              <a:t>Recursos críticos</a:t>
            </a:r>
            <a:endParaRPr lang="en-US" sz="1280" dirty="0"/>
          </a:p>
          <a:p>
            <a:pPr marL="0" indent="0" algn="l">
              <a:buNone/>
            </a:pPr>
            <a:r>
              <a:rPr lang="en-US" sz="1280" dirty="0">
                <a:solidFill>
                  <a:srgbClr val="6E6A66"/>
                </a:solidFill>
                <a:latin typeface="Aptos" pitchFamily="34" charset="0"/>
                <a:ea typeface="Aptos" pitchFamily="34" charset="-122"/>
                <a:cs typeface="Aptos" pitchFamily="34" charset="-120"/>
              </a:rPr>
              <a:t>Total de unidades</a:t>
            </a:r>
            <a:endParaRPr lang="en-US" sz="1280" dirty="0"/>
          </a:p>
        </p:txBody>
      </p:sp>
      <p:sp>
        <p:nvSpPr>
          <p:cNvPr id="41" name="Text 36"/>
          <p:cNvSpPr/>
          <p:nvPr/>
        </p:nvSpPr>
        <p:spPr>
          <a:xfrm>
            <a:off x="804673" y="5925312"/>
            <a:ext cx="6410882" cy="292608"/>
          </a:xfrm>
          <a:prstGeom prst="rect">
            <a:avLst/>
          </a:prstGeom>
          <a:noFill/>
          <a:ln/>
        </p:spPr>
        <p:txBody>
          <a:bodyPr wrap="square" lIns="0" tIns="0" rIns="0" bIns="0" rtlCol="0" anchor="ctr">
            <a:normAutofit fontScale="92500"/>
          </a:bodyPr>
          <a:lstStyle/>
          <a:p>
            <a:pPr marL="0" indent="0" algn="l">
              <a:buNone/>
            </a:pPr>
            <a:r>
              <a:rPr lang="en-US" sz="1470" dirty="0">
                <a:solidFill>
                  <a:srgbClr val="6E6A66"/>
                </a:solidFill>
                <a:latin typeface="Aptos" pitchFamily="34" charset="0"/>
                <a:ea typeface="Aptos" pitchFamily="34" charset="-122"/>
                <a:cs typeface="Aptos" pitchFamily="34" charset="-120"/>
              </a:rPr>
              <a:t>RF = </a:t>
            </a:r>
            <a:r>
              <a:rPr lang="en-US" sz="1470" dirty="0" err="1">
                <a:solidFill>
                  <a:srgbClr val="6E6A66"/>
                </a:solidFill>
                <a:latin typeface="Aptos" pitchFamily="34" charset="0"/>
                <a:ea typeface="Aptos" pitchFamily="34" charset="-122"/>
                <a:cs typeface="Aptos" pitchFamily="34" charset="-120"/>
              </a:rPr>
              <a:t>Requerimiento</a:t>
            </a:r>
            <a:r>
              <a:rPr lang="en-US" sz="1470" dirty="0">
                <a:solidFill>
                  <a:srgbClr val="6E6A66"/>
                </a:solidFill>
                <a:latin typeface="Aptos" pitchFamily="34" charset="0"/>
                <a:ea typeface="Aptos" pitchFamily="34" charset="-122"/>
                <a:cs typeface="Aptos" pitchFamily="34" charset="-120"/>
              </a:rPr>
              <a:t> </a:t>
            </a:r>
            <a:r>
              <a:rPr lang="en-US" sz="1470" dirty="0" err="1">
                <a:solidFill>
                  <a:srgbClr val="6E6A66"/>
                </a:solidFill>
                <a:latin typeface="Aptos" pitchFamily="34" charset="0"/>
                <a:ea typeface="Aptos" pitchFamily="34" charset="-122"/>
                <a:cs typeface="Aptos" pitchFamily="34" charset="-120"/>
              </a:rPr>
              <a:t>Funcional</a:t>
            </a:r>
            <a:r>
              <a:rPr lang="en-US" sz="1470" dirty="0">
                <a:solidFill>
                  <a:srgbClr val="6E6A66"/>
                </a:solidFill>
                <a:latin typeface="Aptos" pitchFamily="34" charset="0"/>
                <a:ea typeface="Aptos" pitchFamily="34" charset="-122"/>
                <a:cs typeface="Aptos" pitchFamily="34" charset="-120"/>
              </a:rPr>
              <a:t> = </a:t>
            </a:r>
            <a:r>
              <a:rPr lang="en-US" sz="1470" dirty="0" err="1">
                <a:solidFill>
                  <a:srgbClr val="6E6A66"/>
                </a:solidFill>
                <a:latin typeface="Aptos" pitchFamily="34" charset="0"/>
                <a:ea typeface="Aptos" pitchFamily="34" charset="-122"/>
                <a:cs typeface="Aptos" pitchFamily="34" charset="-120"/>
              </a:rPr>
              <a:t>una</a:t>
            </a:r>
            <a:r>
              <a:rPr lang="en-US" sz="1470" dirty="0">
                <a:solidFill>
                  <a:srgbClr val="6E6A66"/>
                </a:solidFill>
                <a:latin typeface="Aptos" pitchFamily="34" charset="0"/>
                <a:ea typeface="Aptos" pitchFamily="34" charset="-122"/>
                <a:cs typeface="Aptos" pitchFamily="34" charset="-120"/>
              </a:rPr>
              <a:t> acción que el programa debe </a:t>
            </a:r>
            <a:r>
              <a:rPr lang="en-US" sz="1470" dirty="0" err="1">
                <a:solidFill>
                  <a:srgbClr val="6E6A66"/>
                </a:solidFill>
                <a:latin typeface="Aptos" pitchFamily="34" charset="0"/>
                <a:ea typeface="Aptos" pitchFamily="34" charset="-122"/>
                <a:cs typeface="Aptos" pitchFamily="34" charset="-120"/>
              </a:rPr>
              <a:t>poder</a:t>
            </a:r>
            <a:r>
              <a:rPr lang="en-US" sz="1470" dirty="0">
                <a:solidFill>
                  <a:srgbClr val="6E6A66"/>
                </a:solidFill>
                <a:latin typeface="Aptos" pitchFamily="34" charset="0"/>
                <a:ea typeface="Aptos" pitchFamily="34" charset="-122"/>
                <a:cs typeface="Aptos" pitchFamily="34" charset="-120"/>
              </a:rPr>
              <a:t> </a:t>
            </a:r>
            <a:r>
              <a:rPr lang="en-US" sz="1470" dirty="0" err="1">
                <a:solidFill>
                  <a:srgbClr val="6E6A66"/>
                </a:solidFill>
                <a:latin typeface="Aptos" pitchFamily="34" charset="0"/>
                <a:ea typeface="Aptos" pitchFamily="34" charset="-122"/>
                <a:cs typeface="Aptos" pitchFamily="34" charset="-120"/>
              </a:rPr>
              <a:t>realizar</a:t>
            </a:r>
            <a:endParaRPr lang="en-US" sz="14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1241005"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03  ·  DISEÑO</a:t>
            </a:r>
            <a:endParaRPr lang="en-US" sz="1120" dirty="0"/>
          </a:p>
        </p:txBody>
      </p:sp>
      <p:sp>
        <p:nvSpPr>
          <p:cNvPr id="4" name="Text 2"/>
          <p:cNvSpPr/>
          <p:nvPr/>
        </p:nvSpPr>
        <p:spPr>
          <a:xfrm>
            <a:off x="621792" y="914400"/>
            <a:ext cx="6565392"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Cada decisión responde a una necesidad</a:t>
            </a:r>
            <a:endParaRPr lang="en-US" sz="2950" dirty="0"/>
          </a:p>
        </p:txBody>
      </p:sp>
      <p:sp>
        <p:nvSpPr>
          <p:cNvPr id="5" name="Text 3"/>
          <p:cNvSpPr/>
          <p:nvPr/>
        </p:nvSpPr>
        <p:spPr>
          <a:xfrm>
            <a:off x="649224" y="1527048"/>
            <a:ext cx="5786745"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Lo que pedía el caso determinó cómo organizamos el software.</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03 / 09</a:t>
            </a:r>
            <a:endParaRPr lang="en-US" sz="910" dirty="0"/>
          </a:p>
        </p:txBody>
      </p:sp>
      <p:sp>
        <p:nvSpPr>
          <p:cNvPr id="9" name="Shape 7"/>
          <p:cNvSpPr/>
          <p:nvPr/>
        </p:nvSpPr>
        <p:spPr>
          <a:xfrm>
            <a:off x="749808" y="2578608"/>
            <a:ext cx="10707624" cy="3401568"/>
          </a:xfrm>
          <a:prstGeom prst="roundRect">
            <a:avLst>
              <a:gd name="adj" fmla="val 0"/>
            </a:avLst>
          </a:prstGeom>
          <a:solidFill>
            <a:srgbClr val="FFFFFF"/>
          </a:solidFill>
          <a:ln w="8890">
            <a:solidFill>
              <a:srgbClr val="DEDAD5"/>
            </a:solidFill>
            <a:prstDash val="solid"/>
          </a:ln>
        </p:spPr>
        <p:txBody>
          <a:bodyPr/>
          <a:lstStyle/>
          <a:p>
            <a:endParaRPr lang="en-US"/>
          </a:p>
        </p:txBody>
      </p:sp>
      <p:sp>
        <p:nvSpPr>
          <p:cNvPr id="10" name="Shape 8"/>
          <p:cNvSpPr/>
          <p:nvPr/>
        </p:nvSpPr>
        <p:spPr>
          <a:xfrm>
            <a:off x="740664" y="2057400"/>
            <a:ext cx="10716768" cy="530352"/>
          </a:xfrm>
          <a:prstGeom prst="roundRect">
            <a:avLst>
              <a:gd name="adj" fmla="val 5455"/>
            </a:avLst>
          </a:prstGeom>
          <a:solidFill>
            <a:srgbClr val="F2F1EF"/>
          </a:solidFill>
          <a:ln w="12700">
            <a:solidFill>
              <a:srgbClr val="F2F1EF">
                <a:alpha val="0"/>
              </a:srgbClr>
            </a:solidFill>
            <a:prstDash val="solid"/>
          </a:ln>
        </p:spPr>
        <p:txBody>
          <a:bodyPr/>
          <a:lstStyle/>
          <a:p>
            <a:endParaRPr lang="en-US"/>
          </a:p>
        </p:txBody>
      </p:sp>
      <p:sp>
        <p:nvSpPr>
          <p:cNvPr id="11" name="Text 9"/>
          <p:cNvSpPr/>
          <p:nvPr/>
        </p:nvSpPr>
        <p:spPr>
          <a:xfrm>
            <a:off x="923544" y="2231136"/>
            <a:ext cx="1078992" cy="192024"/>
          </a:xfrm>
          <a:prstGeom prst="rect">
            <a:avLst/>
          </a:prstGeom>
          <a:noFill/>
          <a:ln/>
        </p:spPr>
        <p:txBody>
          <a:bodyPr wrap="square" lIns="0" tIns="0" rIns="0" bIns="0" rtlCol="0" anchor="ctr">
            <a:normAutofit/>
          </a:bodyPr>
          <a:lstStyle/>
          <a:p>
            <a:pPr marL="0" indent="0" algn="l">
              <a:buNone/>
            </a:pPr>
            <a:r>
              <a:rPr lang="en-US" sz="1170" b="1" dirty="0">
                <a:solidFill>
                  <a:srgbClr val="6E6A66"/>
                </a:solidFill>
                <a:latin typeface="Aptos" pitchFamily="34" charset="0"/>
                <a:ea typeface="Aptos" pitchFamily="34" charset="-122"/>
                <a:cs typeface="Aptos" pitchFamily="34" charset="-120"/>
              </a:rPr>
              <a:t>CÓDIGO</a:t>
            </a:r>
            <a:endParaRPr lang="en-US" sz="1170" dirty="0"/>
          </a:p>
        </p:txBody>
      </p:sp>
      <p:sp>
        <p:nvSpPr>
          <p:cNvPr id="12" name="Text 10"/>
          <p:cNvSpPr/>
          <p:nvPr/>
        </p:nvSpPr>
        <p:spPr>
          <a:xfrm>
            <a:off x="2148840" y="2231136"/>
            <a:ext cx="3108960" cy="192024"/>
          </a:xfrm>
          <a:prstGeom prst="rect">
            <a:avLst/>
          </a:prstGeom>
          <a:noFill/>
          <a:ln/>
        </p:spPr>
        <p:txBody>
          <a:bodyPr wrap="square" lIns="0" tIns="0" rIns="0" bIns="0" rtlCol="0" anchor="ctr">
            <a:normAutofit/>
          </a:bodyPr>
          <a:lstStyle/>
          <a:p>
            <a:pPr marL="0" indent="0" algn="l">
              <a:buNone/>
            </a:pPr>
            <a:r>
              <a:rPr lang="en-US" sz="1170" b="1" dirty="0">
                <a:solidFill>
                  <a:srgbClr val="6E6A66"/>
                </a:solidFill>
                <a:latin typeface="Aptos" pitchFamily="34" charset="0"/>
                <a:ea typeface="Aptos" pitchFamily="34" charset="-122"/>
                <a:cs typeface="Aptos" pitchFamily="34" charset="-120"/>
              </a:rPr>
              <a:t>NECESIDAD O RESTRICCIÓN</a:t>
            </a:r>
            <a:endParaRPr lang="en-US" sz="1170" dirty="0"/>
          </a:p>
        </p:txBody>
      </p:sp>
      <p:sp>
        <p:nvSpPr>
          <p:cNvPr id="13" name="Text 11"/>
          <p:cNvSpPr/>
          <p:nvPr/>
        </p:nvSpPr>
        <p:spPr>
          <a:xfrm>
            <a:off x="5568696" y="2231136"/>
            <a:ext cx="2926080" cy="192024"/>
          </a:xfrm>
          <a:prstGeom prst="rect">
            <a:avLst/>
          </a:prstGeom>
          <a:noFill/>
          <a:ln/>
        </p:spPr>
        <p:txBody>
          <a:bodyPr wrap="square" lIns="0" tIns="0" rIns="0" bIns="0" rtlCol="0" anchor="ctr">
            <a:normAutofit/>
          </a:bodyPr>
          <a:lstStyle/>
          <a:p>
            <a:pPr marL="0" indent="0" algn="l">
              <a:buNone/>
            </a:pPr>
            <a:r>
              <a:rPr lang="en-US" sz="1170" b="1" dirty="0">
                <a:solidFill>
                  <a:srgbClr val="6E6A66"/>
                </a:solidFill>
                <a:latin typeface="Aptos" pitchFamily="34" charset="0"/>
                <a:ea typeface="Aptos" pitchFamily="34" charset="-122"/>
                <a:cs typeface="Aptos" pitchFamily="34" charset="-120"/>
              </a:rPr>
              <a:t>DECISIÓN TOMADA</a:t>
            </a:r>
            <a:endParaRPr lang="en-US" sz="1170" dirty="0"/>
          </a:p>
        </p:txBody>
      </p:sp>
      <p:grpSp>
        <p:nvGrpSpPr>
          <p:cNvPr id="53" name="Grupo 52">
            <a:extLst>
              <a:ext uri="{FF2B5EF4-FFF2-40B4-BE49-F238E27FC236}">
                <a16:creationId xmlns:a16="http://schemas.microsoft.com/office/drawing/2014/main" id="{F9CB35E9-17FC-36D8-F815-2C52651407FC}"/>
              </a:ext>
            </a:extLst>
          </p:cNvPr>
          <p:cNvGrpSpPr/>
          <p:nvPr/>
        </p:nvGrpSpPr>
        <p:grpSpPr>
          <a:xfrm>
            <a:off x="923544" y="2752344"/>
            <a:ext cx="1033272" cy="356616"/>
            <a:chOff x="923544" y="2788920"/>
            <a:chExt cx="1033272" cy="356616"/>
          </a:xfrm>
        </p:grpSpPr>
        <p:sp>
          <p:nvSpPr>
            <p:cNvPr id="14" name="Shape 12"/>
            <p:cNvSpPr/>
            <p:nvPr/>
          </p:nvSpPr>
          <p:spPr>
            <a:xfrm>
              <a:off x="923544" y="2788920"/>
              <a:ext cx="1033272" cy="356616"/>
            </a:xfrm>
            <a:prstGeom prst="roundRect">
              <a:avLst>
                <a:gd name="adj" fmla="val 30769"/>
              </a:avLst>
            </a:prstGeom>
            <a:solidFill>
              <a:srgbClr val="F2F1EF"/>
            </a:solidFill>
            <a:ln w="12700">
              <a:solidFill>
                <a:srgbClr val="F2F1EF">
                  <a:alpha val="0"/>
                </a:srgbClr>
              </a:solidFill>
              <a:prstDash val="solid"/>
            </a:ln>
          </p:spPr>
          <p:txBody>
            <a:bodyPr/>
            <a:lstStyle/>
            <a:p>
              <a:endParaRPr lang="en-US"/>
            </a:p>
          </p:txBody>
        </p:sp>
        <p:sp>
          <p:nvSpPr>
            <p:cNvPr id="15" name="Text 13"/>
            <p:cNvSpPr/>
            <p:nvPr/>
          </p:nvSpPr>
          <p:spPr>
            <a:xfrm>
              <a:off x="1033272" y="2825496"/>
              <a:ext cx="813816" cy="283464"/>
            </a:xfrm>
            <a:prstGeom prst="rect">
              <a:avLst/>
            </a:prstGeom>
            <a:noFill/>
            <a:ln/>
          </p:spPr>
          <p:txBody>
            <a:bodyPr wrap="square" lIns="0" tIns="0" rIns="0" bIns="0" rtlCol="0" anchor="ctr">
              <a:normAutofit/>
            </a:bodyPr>
            <a:lstStyle/>
            <a:p>
              <a:pPr marL="0" indent="0" algn="ctr">
                <a:buNone/>
              </a:pPr>
              <a:r>
                <a:rPr lang="en-US" sz="1070" b="1" dirty="0">
                  <a:solidFill>
                    <a:srgbClr val="A77958"/>
                  </a:solidFill>
                  <a:latin typeface="Aptos" pitchFamily="34" charset="0"/>
                  <a:ea typeface="Aptos" pitchFamily="34" charset="-122"/>
                  <a:cs typeface="Aptos" pitchFamily="34" charset="-120"/>
                </a:rPr>
                <a:t>RF01 / RF03</a:t>
              </a:r>
              <a:endParaRPr lang="en-US" sz="1070" dirty="0"/>
            </a:p>
          </p:txBody>
        </p:sp>
      </p:grpSp>
      <p:sp>
        <p:nvSpPr>
          <p:cNvPr id="16" name="Text 14"/>
          <p:cNvSpPr/>
          <p:nvPr/>
        </p:nvSpPr>
        <p:spPr>
          <a:xfrm>
            <a:off x="2148840" y="2793492"/>
            <a:ext cx="2098307" cy="274320"/>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Registrar y actualizar</a:t>
            </a:r>
            <a:endParaRPr lang="en-US" sz="1650" dirty="0"/>
          </a:p>
        </p:txBody>
      </p:sp>
      <p:grpSp>
        <p:nvGrpSpPr>
          <p:cNvPr id="44" name="Grupo 43">
            <a:extLst>
              <a:ext uri="{FF2B5EF4-FFF2-40B4-BE49-F238E27FC236}">
                <a16:creationId xmlns:a16="http://schemas.microsoft.com/office/drawing/2014/main" id="{9D1F8ABA-9CF3-725F-256B-87A36866F5CB}"/>
              </a:ext>
            </a:extLst>
          </p:cNvPr>
          <p:cNvGrpSpPr/>
          <p:nvPr/>
        </p:nvGrpSpPr>
        <p:grpSpPr>
          <a:xfrm>
            <a:off x="5577840" y="2670048"/>
            <a:ext cx="2745125" cy="521208"/>
            <a:chOff x="5577840" y="2670048"/>
            <a:chExt cx="2745125" cy="521208"/>
          </a:xfrm>
        </p:grpSpPr>
        <p:sp>
          <p:nvSpPr>
            <p:cNvPr id="17" name="Text 15"/>
            <p:cNvSpPr/>
            <p:nvPr/>
          </p:nvSpPr>
          <p:spPr>
            <a:xfrm>
              <a:off x="5577840" y="2670048"/>
              <a:ext cx="2745125" cy="265176"/>
            </a:xfrm>
            <a:prstGeom prst="rect">
              <a:avLst/>
            </a:prstGeom>
            <a:noFill/>
            <a:ln/>
          </p:spPr>
          <p:txBody>
            <a:bodyPr wrap="square" lIns="0" tIns="0" rIns="0" bIns="0" rtlCol="0" anchor="ctr">
              <a:normAutofit/>
            </a:bodyPr>
            <a:lstStyle/>
            <a:p>
              <a:pPr marL="0" indent="0" algn="l">
                <a:buNone/>
              </a:pPr>
              <a:r>
                <a:rPr lang="en-US" sz="1630" b="1" dirty="0">
                  <a:solidFill>
                    <a:srgbClr val="292929"/>
                  </a:solidFill>
                  <a:latin typeface="Aptos" pitchFamily="34" charset="0"/>
                  <a:ea typeface="Aptos" pitchFamily="34" charset="-122"/>
                  <a:cs typeface="Aptos" pitchFamily="34" charset="-120"/>
                </a:rPr>
                <a:t>Inventario + RecursoFactory</a:t>
              </a:r>
              <a:endParaRPr lang="en-US" sz="1630" dirty="0"/>
            </a:p>
          </p:txBody>
        </p:sp>
        <p:sp>
          <p:nvSpPr>
            <p:cNvPr id="18" name="Text 16"/>
            <p:cNvSpPr/>
            <p:nvPr/>
          </p:nvSpPr>
          <p:spPr>
            <a:xfrm>
              <a:off x="5577840" y="2971800"/>
              <a:ext cx="2678951" cy="219456"/>
            </a:xfrm>
            <a:prstGeom prst="rect">
              <a:avLst/>
            </a:prstGeom>
            <a:noFill/>
            <a:ln/>
          </p:spPr>
          <p:txBody>
            <a:bodyPr wrap="square" lIns="0" tIns="0" rIns="0" bIns="0" rtlCol="0" anchor="ctr">
              <a:normAutofit/>
            </a:bodyPr>
            <a:lstStyle/>
            <a:p>
              <a:pPr marL="0" indent="0" algn="l">
                <a:buNone/>
              </a:pPr>
              <a:r>
                <a:rPr lang="en-US" sz="1250" dirty="0">
                  <a:solidFill>
                    <a:srgbClr val="6E6A66"/>
                  </a:solidFill>
                  <a:latin typeface="Aptos" pitchFamily="34" charset="0"/>
                  <a:ea typeface="Aptos" pitchFamily="34" charset="-122"/>
                  <a:cs typeface="Aptos" pitchFamily="34" charset="-120"/>
                </a:rPr>
                <a:t>Un lugar para guardar y crear registros</a:t>
              </a:r>
              <a:endParaRPr lang="en-US" sz="1250" dirty="0"/>
            </a:p>
          </p:txBody>
        </p:sp>
      </p:grpSp>
      <p:sp>
        <p:nvSpPr>
          <p:cNvPr id="19" name="Shape 17"/>
          <p:cNvSpPr/>
          <p:nvPr/>
        </p:nvSpPr>
        <p:spPr>
          <a:xfrm>
            <a:off x="923544" y="3218688"/>
            <a:ext cx="10314432" cy="0"/>
          </a:xfrm>
          <a:prstGeom prst="line">
            <a:avLst/>
          </a:prstGeom>
          <a:noFill/>
          <a:ln w="6985">
            <a:solidFill>
              <a:srgbClr val="DEDAD5"/>
            </a:solidFill>
            <a:prstDash val="solid"/>
          </a:ln>
        </p:spPr>
        <p:txBody>
          <a:bodyPr/>
          <a:lstStyle/>
          <a:p>
            <a:endParaRPr lang="en-US"/>
          </a:p>
        </p:txBody>
      </p:sp>
      <p:grpSp>
        <p:nvGrpSpPr>
          <p:cNvPr id="52" name="Grupo 51">
            <a:extLst>
              <a:ext uri="{FF2B5EF4-FFF2-40B4-BE49-F238E27FC236}">
                <a16:creationId xmlns:a16="http://schemas.microsoft.com/office/drawing/2014/main" id="{30921455-BA6F-DDEC-45BD-3052953FD2D2}"/>
              </a:ext>
            </a:extLst>
          </p:cNvPr>
          <p:cNvGrpSpPr/>
          <p:nvPr/>
        </p:nvGrpSpPr>
        <p:grpSpPr>
          <a:xfrm>
            <a:off x="923544" y="3374136"/>
            <a:ext cx="1033272" cy="356616"/>
            <a:chOff x="923544" y="3410712"/>
            <a:chExt cx="1033272" cy="356616"/>
          </a:xfrm>
        </p:grpSpPr>
        <p:sp>
          <p:nvSpPr>
            <p:cNvPr id="20" name="Shape 18"/>
            <p:cNvSpPr/>
            <p:nvPr/>
          </p:nvSpPr>
          <p:spPr>
            <a:xfrm>
              <a:off x="923544" y="3410712"/>
              <a:ext cx="1033272" cy="356616"/>
            </a:xfrm>
            <a:prstGeom prst="roundRect">
              <a:avLst>
                <a:gd name="adj" fmla="val 30769"/>
              </a:avLst>
            </a:prstGeom>
            <a:solidFill>
              <a:srgbClr val="F5F0EB"/>
            </a:solidFill>
            <a:ln w="12700">
              <a:solidFill>
                <a:srgbClr val="F5F0EB">
                  <a:alpha val="0"/>
                </a:srgbClr>
              </a:solidFill>
              <a:prstDash val="solid"/>
            </a:ln>
          </p:spPr>
          <p:txBody>
            <a:bodyPr/>
            <a:lstStyle/>
            <a:p>
              <a:endParaRPr lang="en-US"/>
            </a:p>
          </p:txBody>
        </p:sp>
        <p:sp>
          <p:nvSpPr>
            <p:cNvPr id="21" name="Text 19"/>
            <p:cNvSpPr/>
            <p:nvPr/>
          </p:nvSpPr>
          <p:spPr>
            <a:xfrm>
              <a:off x="1033272" y="3447288"/>
              <a:ext cx="813816" cy="283464"/>
            </a:xfrm>
            <a:prstGeom prst="rect">
              <a:avLst/>
            </a:prstGeom>
            <a:noFill/>
            <a:ln/>
          </p:spPr>
          <p:txBody>
            <a:bodyPr wrap="square" lIns="0" tIns="0" rIns="0" bIns="0" rtlCol="0" anchor="ctr">
              <a:normAutofit/>
            </a:bodyPr>
            <a:lstStyle/>
            <a:p>
              <a:pPr marL="0" indent="0" algn="ctr">
                <a:buNone/>
              </a:pPr>
              <a:r>
                <a:rPr lang="en-US" sz="1070" b="1" dirty="0">
                  <a:solidFill>
                    <a:srgbClr val="A77958"/>
                  </a:solidFill>
                  <a:latin typeface="Aptos" pitchFamily="34" charset="0"/>
                  <a:ea typeface="Aptos" pitchFamily="34" charset="-122"/>
                  <a:cs typeface="Aptos" pitchFamily="34" charset="-120"/>
                </a:rPr>
                <a:t>RF04–RF06</a:t>
              </a:r>
              <a:endParaRPr lang="en-US" sz="1070" dirty="0"/>
            </a:p>
          </p:txBody>
        </p:sp>
      </p:grpSp>
      <p:sp>
        <p:nvSpPr>
          <p:cNvPr id="22" name="Text 20"/>
          <p:cNvSpPr/>
          <p:nvPr/>
        </p:nvSpPr>
        <p:spPr>
          <a:xfrm>
            <a:off x="2148840" y="3415284"/>
            <a:ext cx="1984007" cy="274320"/>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Reconocer faltantes</a:t>
            </a:r>
            <a:endParaRPr lang="en-US" sz="1650" dirty="0"/>
          </a:p>
        </p:txBody>
      </p:sp>
      <p:grpSp>
        <p:nvGrpSpPr>
          <p:cNvPr id="45" name="Grupo 44">
            <a:extLst>
              <a:ext uri="{FF2B5EF4-FFF2-40B4-BE49-F238E27FC236}">
                <a16:creationId xmlns:a16="http://schemas.microsoft.com/office/drawing/2014/main" id="{AC4BCFD1-5053-CC4C-4980-12EF69E8E9A7}"/>
              </a:ext>
            </a:extLst>
          </p:cNvPr>
          <p:cNvGrpSpPr/>
          <p:nvPr/>
        </p:nvGrpSpPr>
        <p:grpSpPr>
          <a:xfrm>
            <a:off x="5577840" y="3291840"/>
            <a:ext cx="3226388" cy="521208"/>
            <a:chOff x="5577840" y="3291840"/>
            <a:chExt cx="3226388" cy="521208"/>
          </a:xfrm>
        </p:grpSpPr>
        <p:sp>
          <p:nvSpPr>
            <p:cNvPr id="23" name="Text 21"/>
            <p:cNvSpPr/>
            <p:nvPr/>
          </p:nvSpPr>
          <p:spPr>
            <a:xfrm>
              <a:off x="5577840" y="3291840"/>
              <a:ext cx="3226388" cy="265176"/>
            </a:xfrm>
            <a:prstGeom prst="rect">
              <a:avLst/>
            </a:prstGeom>
            <a:noFill/>
            <a:ln/>
          </p:spPr>
          <p:txBody>
            <a:bodyPr wrap="square" lIns="0" tIns="0" rIns="0" bIns="0" rtlCol="0" anchor="ctr">
              <a:normAutofit/>
            </a:bodyPr>
            <a:lstStyle/>
            <a:p>
              <a:pPr marL="0" indent="0" algn="l">
                <a:buNone/>
              </a:pPr>
              <a:r>
                <a:rPr lang="en-US" sz="1630" b="1" dirty="0">
                  <a:solidFill>
                    <a:srgbClr val="292929"/>
                  </a:solidFill>
                  <a:latin typeface="Aptos" pitchFamily="34" charset="0"/>
                  <a:ea typeface="Aptos" pitchFamily="34" charset="-122"/>
                  <a:cs typeface="Aptos" pitchFamily="34" charset="-120"/>
                </a:rPr>
                <a:t>esCritico() + AnalizadorInventario</a:t>
              </a:r>
              <a:endParaRPr lang="en-US" sz="1630" dirty="0"/>
            </a:p>
          </p:txBody>
        </p:sp>
        <p:sp>
          <p:nvSpPr>
            <p:cNvPr id="24" name="Text 22"/>
            <p:cNvSpPr/>
            <p:nvPr/>
          </p:nvSpPr>
          <p:spPr>
            <a:xfrm>
              <a:off x="5577840" y="3593592"/>
              <a:ext cx="3003804" cy="219456"/>
            </a:xfrm>
            <a:prstGeom prst="rect">
              <a:avLst/>
            </a:prstGeom>
            <a:noFill/>
            <a:ln/>
          </p:spPr>
          <p:txBody>
            <a:bodyPr wrap="square" lIns="0" tIns="0" rIns="0" bIns="0" rtlCol="0" anchor="ctr">
              <a:normAutofit/>
            </a:bodyPr>
            <a:lstStyle/>
            <a:p>
              <a:pPr marL="0" indent="0" algn="l">
                <a:buNone/>
              </a:pPr>
              <a:r>
                <a:rPr lang="en-US" sz="1250" dirty="0">
                  <a:solidFill>
                    <a:srgbClr val="6E6A66"/>
                  </a:solidFill>
                  <a:latin typeface="Aptos" pitchFamily="34" charset="0"/>
                  <a:ea typeface="Aptos" pitchFamily="34" charset="-122"/>
                  <a:cs typeface="Aptos" pitchFamily="34" charset="-120"/>
                </a:rPr>
                <a:t>Mostrar y ordenar lo que requiere atención</a:t>
              </a:r>
              <a:endParaRPr lang="en-US" sz="1250" dirty="0"/>
            </a:p>
          </p:txBody>
        </p:sp>
      </p:grpSp>
      <p:sp>
        <p:nvSpPr>
          <p:cNvPr id="25" name="Shape 23"/>
          <p:cNvSpPr/>
          <p:nvPr/>
        </p:nvSpPr>
        <p:spPr>
          <a:xfrm>
            <a:off x="923544" y="3840480"/>
            <a:ext cx="10314432" cy="0"/>
          </a:xfrm>
          <a:prstGeom prst="line">
            <a:avLst/>
          </a:prstGeom>
          <a:noFill/>
          <a:ln w="6985">
            <a:solidFill>
              <a:srgbClr val="DEDAD5"/>
            </a:solidFill>
            <a:prstDash val="solid"/>
          </a:ln>
        </p:spPr>
        <p:txBody>
          <a:bodyPr/>
          <a:lstStyle/>
          <a:p>
            <a:endParaRPr lang="en-US"/>
          </a:p>
        </p:txBody>
      </p:sp>
      <p:grpSp>
        <p:nvGrpSpPr>
          <p:cNvPr id="51" name="Grupo 50">
            <a:extLst>
              <a:ext uri="{FF2B5EF4-FFF2-40B4-BE49-F238E27FC236}">
                <a16:creationId xmlns:a16="http://schemas.microsoft.com/office/drawing/2014/main" id="{DBC9F022-2291-967B-405F-360022B12512}"/>
              </a:ext>
            </a:extLst>
          </p:cNvPr>
          <p:cNvGrpSpPr/>
          <p:nvPr/>
        </p:nvGrpSpPr>
        <p:grpSpPr>
          <a:xfrm>
            <a:off x="923544" y="3995928"/>
            <a:ext cx="1033272" cy="356616"/>
            <a:chOff x="923544" y="4032504"/>
            <a:chExt cx="1033272" cy="356616"/>
          </a:xfrm>
        </p:grpSpPr>
        <p:sp>
          <p:nvSpPr>
            <p:cNvPr id="26" name="Shape 24"/>
            <p:cNvSpPr/>
            <p:nvPr/>
          </p:nvSpPr>
          <p:spPr>
            <a:xfrm>
              <a:off x="923544" y="4032504"/>
              <a:ext cx="1033272" cy="356616"/>
            </a:xfrm>
            <a:prstGeom prst="roundRect">
              <a:avLst>
                <a:gd name="adj" fmla="val 30769"/>
              </a:avLst>
            </a:prstGeom>
            <a:solidFill>
              <a:srgbClr val="F2F1EF"/>
            </a:solidFill>
            <a:ln w="12700">
              <a:solidFill>
                <a:srgbClr val="F2F1EF">
                  <a:alpha val="0"/>
                </a:srgbClr>
              </a:solidFill>
              <a:prstDash val="solid"/>
            </a:ln>
          </p:spPr>
          <p:txBody>
            <a:bodyPr/>
            <a:lstStyle/>
            <a:p>
              <a:endParaRPr lang="en-US"/>
            </a:p>
          </p:txBody>
        </p:sp>
        <p:sp>
          <p:nvSpPr>
            <p:cNvPr id="27" name="Text 25"/>
            <p:cNvSpPr/>
            <p:nvPr/>
          </p:nvSpPr>
          <p:spPr>
            <a:xfrm>
              <a:off x="1033272" y="4069080"/>
              <a:ext cx="813816" cy="283464"/>
            </a:xfrm>
            <a:prstGeom prst="rect">
              <a:avLst/>
            </a:prstGeom>
            <a:noFill/>
            <a:ln/>
          </p:spPr>
          <p:txBody>
            <a:bodyPr wrap="square" lIns="0" tIns="0" rIns="0" bIns="0" rtlCol="0" anchor="ctr">
              <a:normAutofit/>
            </a:bodyPr>
            <a:lstStyle/>
            <a:p>
              <a:pPr marL="0" indent="0" algn="ctr">
                <a:buNone/>
              </a:pPr>
              <a:r>
                <a:rPr lang="en-US" sz="1070" b="1" dirty="0">
                  <a:solidFill>
                    <a:srgbClr val="A77958"/>
                  </a:solidFill>
                  <a:latin typeface="Aptos" pitchFamily="34" charset="0"/>
                  <a:ea typeface="Aptos" pitchFamily="34" charset="-122"/>
                  <a:cs typeface="Aptos" pitchFamily="34" charset="-120"/>
                </a:rPr>
                <a:t>RD01</a:t>
              </a:r>
              <a:endParaRPr lang="en-US" sz="1070" dirty="0"/>
            </a:p>
          </p:txBody>
        </p:sp>
      </p:grpSp>
      <p:sp>
        <p:nvSpPr>
          <p:cNvPr id="28" name="Text 26"/>
          <p:cNvSpPr/>
          <p:nvPr/>
        </p:nvSpPr>
        <p:spPr>
          <a:xfrm>
            <a:off x="2148840" y="4037076"/>
            <a:ext cx="2098307" cy="274320"/>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Usar aplicación local</a:t>
            </a:r>
            <a:endParaRPr lang="en-US" sz="1650" dirty="0"/>
          </a:p>
        </p:txBody>
      </p:sp>
      <p:grpSp>
        <p:nvGrpSpPr>
          <p:cNvPr id="46" name="Grupo 45">
            <a:extLst>
              <a:ext uri="{FF2B5EF4-FFF2-40B4-BE49-F238E27FC236}">
                <a16:creationId xmlns:a16="http://schemas.microsoft.com/office/drawing/2014/main" id="{AADE2703-1A7B-C77B-EA4F-2C3B23BD0140}"/>
              </a:ext>
            </a:extLst>
          </p:cNvPr>
          <p:cNvGrpSpPr/>
          <p:nvPr/>
        </p:nvGrpSpPr>
        <p:grpSpPr>
          <a:xfrm>
            <a:off x="5577840" y="3913632"/>
            <a:ext cx="2745125" cy="521208"/>
            <a:chOff x="5577840" y="3913632"/>
            <a:chExt cx="2745125" cy="521208"/>
          </a:xfrm>
        </p:grpSpPr>
        <p:sp>
          <p:nvSpPr>
            <p:cNvPr id="29" name="Text 27"/>
            <p:cNvSpPr/>
            <p:nvPr/>
          </p:nvSpPr>
          <p:spPr>
            <a:xfrm>
              <a:off x="5577840" y="3913632"/>
              <a:ext cx="2281909" cy="265176"/>
            </a:xfrm>
            <a:prstGeom prst="rect">
              <a:avLst/>
            </a:prstGeom>
            <a:noFill/>
            <a:ln/>
          </p:spPr>
          <p:txBody>
            <a:bodyPr wrap="square" lIns="0" tIns="0" rIns="0" bIns="0" rtlCol="0" anchor="ctr">
              <a:normAutofit/>
            </a:bodyPr>
            <a:lstStyle/>
            <a:p>
              <a:pPr marL="0" indent="0" algn="l">
                <a:buNone/>
              </a:pPr>
              <a:r>
                <a:rPr lang="en-US" sz="1630" b="1" dirty="0">
                  <a:solidFill>
                    <a:srgbClr val="292929"/>
                  </a:solidFill>
                  <a:latin typeface="Aptos" pitchFamily="34" charset="0"/>
                  <a:ea typeface="Aptos" pitchFamily="34" charset="-122"/>
                  <a:cs typeface="Aptos" pitchFamily="34" charset="-120"/>
                </a:rPr>
                <a:t>Java OpenJDK + Swing</a:t>
              </a:r>
              <a:endParaRPr lang="en-US" sz="1630" dirty="0"/>
            </a:p>
          </p:txBody>
        </p:sp>
        <p:sp>
          <p:nvSpPr>
            <p:cNvPr id="30" name="Text 28"/>
            <p:cNvSpPr/>
            <p:nvPr/>
          </p:nvSpPr>
          <p:spPr>
            <a:xfrm>
              <a:off x="5577840" y="4215384"/>
              <a:ext cx="2745125" cy="219456"/>
            </a:xfrm>
            <a:prstGeom prst="rect">
              <a:avLst/>
            </a:prstGeom>
            <a:noFill/>
            <a:ln/>
          </p:spPr>
          <p:txBody>
            <a:bodyPr wrap="square" lIns="0" tIns="0" rIns="0" bIns="0" rtlCol="0" anchor="ctr">
              <a:normAutofit/>
            </a:bodyPr>
            <a:lstStyle/>
            <a:p>
              <a:pPr marL="0" indent="0" algn="l">
                <a:buNone/>
              </a:pPr>
              <a:r>
                <a:rPr lang="en-US" sz="1250" dirty="0">
                  <a:solidFill>
                    <a:srgbClr val="6E6A66"/>
                  </a:solidFill>
                  <a:latin typeface="Aptos" pitchFamily="34" charset="0"/>
                  <a:ea typeface="Aptos" pitchFamily="34" charset="-122"/>
                  <a:cs typeface="Aptos" pitchFamily="34" charset="-120"/>
                </a:rPr>
                <a:t>Una ventana de escritorio con botones</a:t>
              </a:r>
              <a:endParaRPr lang="en-US" sz="1250" dirty="0"/>
            </a:p>
          </p:txBody>
        </p:sp>
      </p:grpSp>
      <p:sp>
        <p:nvSpPr>
          <p:cNvPr id="31" name="Shape 29"/>
          <p:cNvSpPr/>
          <p:nvPr/>
        </p:nvSpPr>
        <p:spPr>
          <a:xfrm>
            <a:off x="923544" y="4462272"/>
            <a:ext cx="10314432" cy="0"/>
          </a:xfrm>
          <a:prstGeom prst="line">
            <a:avLst/>
          </a:prstGeom>
          <a:noFill/>
          <a:ln w="6985">
            <a:solidFill>
              <a:srgbClr val="DEDAD5"/>
            </a:solidFill>
            <a:prstDash val="solid"/>
          </a:ln>
        </p:spPr>
        <p:txBody>
          <a:bodyPr/>
          <a:lstStyle/>
          <a:p>
            <a:endParaRPr lang="en-US"/>
          </a:p>
        </p:txBody>
      </p:sp>
      <p:grpSp>
        <p:nvGrpSpPr>
          <p:cNvPr id="50" name="Grupo 49">
            <a:extLst>
              <a:ext uri="{FF2B5EF4-FFF2-40B4-BE49-F238E27FC236}">
                <a16:creationId xmlns:a16="http://schemas.microsoft.com/office/drawing/2014/main" id="{E3803187-002E-7A4D-4B9E-ABE03F93C4AE}"/>
              </a:ext>
            </a:extLst>
          </p:cNvPr>
          <p:cNvGrpSpPr/>
          <p:nvPr/>
        </p:nvGrpSpPr>
        <p:grpSpPr>
          <a:xfrm>
            <a:off x="923544" y="4617720"/>
            <a:ext cx="1033272" cy="356616"/>
            <a:chOff x="923544" y="4654296"/>
            <a:chExt cx="1033272" cy="356616"/>
          </a:xfrm>
        </p:grpSpPr>
        <p:sp>
          <p:nvSpPr>
            <p:cNvPr id="32" name="Shape 30"/>
            <p:cNvSpPr/>
            <p:nvPr/>
          </p:nvSpPr>
          <p:spPr>
            <a:xfrm>
              <a:off x="923544" y="4654296"/>
              <a:ext cx="1033272" cy="356616"/>
            </a:xfrm>
            <a:prstGeom prst="roundRect">
              <a:avLst>
                <a:gd name="adj" fmla="val 30769"/>
              </a:avLst>
            </a:prstGeom>
            <a:solidFill>
              <a:srgbClr val="F5F0EB"/>
            </a:solidFill>
            <a:ln w="12700">
              <a:solidFill>
                <a:srgbClr val="F5F0EB">
                  <a:alpha val="0"/>
                </a:srgbClr>
              </a:solidFill>
              <a:prstDash val="solid"/>
            </a:ln>
          </p:spPr>
          <p:txBody>
            <a:bodyPr/>
            <a:lstStyle/>
            <a:p>
              <a:endParaRPr lang="en-US"/>
            </a:p>
          </p:txBody>
        </p:sp>
        <p:sp>
          <p:nvSpPr>
            <p:cNvPr id="33" name="Text 31"/>
            <p:cNvSpPr/>
            <p:nvPr/>
          </p:nvSpPr>
          <p:spPr>
            <a:xfrm>
              <a:off x="1033272" y="4690872"/>
              <a:ext cx="813816" cy="283464"/>
            </a:xfrm>
            <a:prstGeom prst="rect">
              <a:avLst/>
            </a:prstGeom>
            <a:noFill/>
            <a:ln/>
          </p:spPr>
          <p:txBody>
            <a:bodyPr wrap="square" lIns="0" tIns="0" rIns="0" bIns="0" rtlCol="0" anchor="ctr">
              <a:normAutofit/>
            </a:bodyPr>
            <a:lstStyle/>
            <a:p>
              <a:pPr marL="0" indent="0" algn="ctr">
                <a:buNone/>
              </a:pPr>
              <a:r>
                <a:rPr lang="en-US" sz="1070" b="1" dirty="0">
                  <a:solidFill>
                    <a:srgbClr val="A77958"/>
                  </a:solidFill>
                  <a:latin typeface="Aptos" pitchFamily="34" charset="0"/>
                  <a:ea typeface="Aptos" pitchFamily="34" charset="-122"/>
                  <a:cs typeface="Aptos" pitchFamily="34" charset="-120"/>
                </a:rPr>
                <a:t>RD02 / RD03</a:t>
              </a:r>
              <a:endParaRPr lang="en-US" sz="1070" dirty="0"/>
            </a:p>
          </p:txBody>
        </p:sp>
      </p:grpSp>
      <p:sp>
        <p:nvSpPr>
          <p:cNvPr id="34" name="Text 32"/>
          <p:cNvSpPr/>
          <p:nvPr/>
        </p:nvSpPr>
        <p:spPr>
          <a:xfrm>
            <a:off x="2148840" y="4658868"/>
            <a:ext cx="2417144" cy="274320"/>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Mantener alcance simple</a:t>
            </a:r>
            <a:endParaRPr lang="en-US" sz="1650" dirty="0"/>
          </a:p>
        </p:txBody>
      </p:sp>
      <p:grpSp>
        <p:nvGrpSpPr>
          <p:cNvPr id="47" name="Grupo 46">
            <a:extLst>
              <a:ext uri="{FF2B5EF4-FFF2-40B4-BE49-F238E27FC236}">
                <a16:creationId xmlns:a16="http://schemas.microsoft.com/office/drawing/2014/main" id="{9FB5239A-EA57-C0C9-8924-7908A2E3699A}"/>
              </a:ext>
            </a:extLst>
          </p:cNvPr>
          <p:cNvGrpSpPr/>
          <p:nvPr/>
        </p:nvGrpSpPr>
        <p:grpSpPr>
          <a:xfrm>
            <a:off x="5577840" y="4535424"/>
            <a:ext cx="3226388" cy="521208"/>
            <a:chOff x="5577840" y="4535424"/>
            <a:chExt cx="3226388" cy="521208"/>
          </a:xfrm>
        </p:grpSpPr>
        <p:sp>
          <p:nvSpPr>
            <p:cNvPr id="35" name="Text 33"/>
            <p:cNvSpPr/>
            <p:nvPr/>
          </p:nvSpPr>
          <p:spPr>
            <a:xfrm>
              <a:off x="5577840" y="4535424"/>
              <a:ext cx="3226388" cy="265176"/>
            </a:xfrm>
            <a:prstGeom prst="rect">
              <a:avLst/>
            </a:prstGeom>
            <a:noFill/>
            <a:ln/>
          </p:spPr>
          <p:txBody>
            <a:bodyPr wrap="square" lIns="0" tIns="0" rIns="0" bIns="0" rtlCol="0" anchor="ctr">
              <a:normAutofit/>
            </a:bodyPr>
            <a:lstStyle/>
            <a:p>
              <a:pPr marL="0" indent="0" algn="l">
                <a:buNone/>
              </a:pPr>
              <a:r>
                <a:rPr lang="en-US" sz="1630" b="1" dirty="0">
                  <a:solidFill>
                    <a:srgbClr val="292929"/>
                  </a:solidFill>
                  <a:latin typeface="Aptos" pitchFamily="34" charset="0"/>
                  <a:ea typeface="Aptos" pitchFamily="34" charset="-122"/>
                  <a:cs typeface="Aptos" pitchFamily="34" charset="-120"/>
                </a:rPr>
                <a:t>Lista en memoria + datos ficticios</a:t>
              </a:r>
              <a:endParaRPr lang="en-US" sz="1630" dirty="0"/>
            </a:p>
          </p:txBody>
        </p:sp>
        <p:sp>
          <p:nvSpPr>
            <p:cNvPr id="36" name="Text 34"/>
            <p:cNvSpPr/>
            <p:nvPr/>
          </p:nvSpPr>
          <p:spPr>
            <a:xfrm>
              <a:off x="5577840" y="4837176"/>
              <a:ext cx="3003804" cy="219456"/>
            </a:xfrm>
            <a:prstGeom prst="rect">
              <a:avLst/>
            </a:prstGeom>
            <a:noFill/>
            <a:ln/>
          </p:spPr>
          <p:txBody>
            <a:bodyPr wrap="square" lIns="0" tIns="0" rIns="0" bIns="0" rtlCol="0" anchor="ctr">
              <a:normAutofit/>
            </a:bodyPr>
            <a:lstStyle/>
            <a:p>
              <a:pPr marL="0" indent="0" algn="l">
                <a:buNone/>
              </a:pPr>
              <a:r>
                <a:rPr lang="en-US" sz="1250" dirty="0">
                  <a:solidFill>
                    <a:srgbClr val="6E6A66"/>
                  </a:solidFill>
                  <a:latin typeface="Aptos" pitchFamily="34" charset="0"/>
                  <a:ea typeface="Aptos" pitchFamily="34" charset="-122"/>
                  <a:cs typeface="Aptos" pitchFamily="34" charset="-120"/>
                </a:rPr>
                <a:t>Sin base de datos ni registros de personas</a:t>
              </a:r>
              <a:endParaRPr lang="en-US" sz="1250" dirty="0"/>
            </a:p>
          </p:txBody>
        </p:sp>
      </p:grpSp>
      <p:sp>
        <p:nvSpPr>
          <p:cNvPr id="37" name="Shape 35"/>
          <p:cNvSpPr/>
          <p:nvPr/>
        </p:nvSpPr>
        <p:spPr>
          <a:xfrm>
            <a:off x="923544" y="5084064"/>
            <a:ext cx="10314432" cy="0"/>
          </a:xfrm>
          <a:prstGeom prst="line">
            <a:avLst/>
          </a:prstGeom>
          <a:noFill/>
          <a:ln w="6985">
            <a:solidFill>
              <a:srgbClr val="DEDAD5"/>
            </a:solidFill>
            <a:prstDash val="solid"/>
          </a:ln>
        </p:spPr>
        <p:txBody>
          <a:bodyPr/>
          <a:lstStyle/>
          <a:p>
            <a:endParaRPr lang="en-US"/>
          </a:p>
        </p:txBody>
      </p:sp>
      <p:grpSp>
        <p:nvGrpSpPr>
          <p:cNvPr id="49" name="Grupo 48">
            <a:extLst>
              <a:ext uri="{FF2B5EF4-FFF2-40B4-BE49-F238E27FC236}">
                <a16:creationId xmlns:a16="http://schemas.microsoft.com/office/drawing/2014/main" id="{70CBF5A5-4735-427E-194B-AC0939310290}"/>
              </a:ext>
            </a:extLst>
          </p:cNvPr>
          <p:cNvGrpSpPr/>
          <p:nvPr/>
        </p:nvGrpSpPr>
        <p:grpSpPr>
          <a:xfrm>
            <a:off x="923544" y="5239512"/>
            <a:ext cx="1033272" cy="356616"/>
            <a:chOff x="923544" y="5276088"/>
            <a:chExt cx="1033272" cy="356616"/>
          </a:xfrm>
        </p:grpSpPr>
        <p:sp>
          <p:nvSpPr>
            <p:cNvPr id="38" name="Shape 36"/>
            <p:cNvSpPr/>
            <p:nvPr/>
          </p:nvSpPr>
          <p:spPr>
            <a:xfrm>
              <a:off x="923544" y="5276088"/>
              <a:ext cx="1033272" cy="356616"/>
            </a:xfrm>
            <a:prstGeom prst="roundRect">
              <a:avLst>
                <a:gd name="adj" fmla="val 30769"/>
              </a:avLst>
            </a:prstGeom>
            <a:solidFill>
              <a:srgbClr val="F2F1EF"/>
            </a:solidFill>
            <a:ln w="12700">
              <a:solidFill>
                <a:srgbClr val="F2F1EF">
                  <a:alpha val="0"/>
                </a:srgbClr>
              </a:solidFill>
              <a:prstDash val="solid"/>
            </a:ln>
          </p:spPr>
          <p:txBody>
            <a:bodyPr/>
            <a:lstStyle/>
            <a:p>
              <a:endParaRPr lang="en-US"/>
            </a:p>
          </p:txBody>
        </p:sp>
        <p:sp>
          <p:nvSpPr>
            <p:cNvPr id="39" name="Text 37"/>
            <p:cNvSpPr/>
            <p:nvPr/>
          </p:nvSpPr>
          <p:spPr>
            <a:xfrm>
              <a:off x="1033272" y="5312664"/>
              <a:ext cx="813816" cy="283464"/>
            </a:xfrm>
            <a:prstGeom prst="rect">
              <a:avLst/>
            </a:prstGeom>
            <a:noFill/>
            <a:ln/>
          </p:spPr>
          <p:txBody>
            <a:bodyPr wrap="square" lIns="0" tIns="0" rIns="0" bIns="0" rtlCol="0" anchor="ctr">
              <a:normAutofit/>
            </a:bodyPr>
            <a:lstStyle/>
            <a:p>
              <a:pPr marL="0" indent="0" algn="ctr">
                <a:buNone/>
              </a:pPr>
              <a:r>
                <a:rPr lang="en-US" sz="1070" b="1" dirty="0">
                  <a:solidFill>
                    <a:srgbClr val="A77958"/>
                  </a:solidFill>
                  <a:latin typeface="Aptos" pitchFamily="34" charset="0"/>
                  <a:ea typeface="Aptos" pitchFamily="34" charset="-122"/>
                  <a:cs typeface="Aptos" pitchFamily="34" charset="-120"/>
                </a:rPr>
                <a:t>RD04</a:t>
              </a:r>
              <a:endParaRPr lang="en-US" sz="1070" dirty="0"/>
            </a:p>
          </p:txBody>
        </p:sp>
      </p:grpSp>
      <p:sp>
        <p:nvSpPr>
          <p:cNvPr id="40" name="Text 38"/>
          <p:cNvSpPr/>
          <p:nvPr/>
        </p:nvSpPr>
        <p:spPr>
          <a:xfrm>
            <a:off x="2148840" y="5280660"/>
            <a:ext cx="2501365" cy="274320"/>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Facilitar cambios futuros</a:t>
            </a:r>
            <a:endParaRPr lang="en-US" sz="1650" dirty="0"/>
          </a:p>
        </p:txBody>
      </p:sp>
      <p:grpSp>
        <p:nvGrpSpPr>
          <p:cNvPr id="48" name="Grupo 47">
            <a:extLst>
              <a:ext uri="{FF2B5EF4-FFF2-40B4-BE49-F238E27FC236}">
                <a16:creationId xmlns:a16="http://schemas.microsoft.com/office/drawing/2014/main" id="{8C206529-AFEA-A3E0-0EDA-473143DADBF9}"/>
              </a:ext>
            </a:extLst>
          </p:cNvPr>
          <p:cNvGrpSpPr/>
          <p:nvPr/>
        </p:nvGrpSpPr>
        <p:grpSpPr>
          <a:xfrm>
            <a:off x="5577840" y="5157216"/>
            <a:ext cx="3599367" cy="521208"/>
            <a:chOff x="5577840" y="5157216"/>
            <a:chExt cx="3599367" cy="521208"/>
          </a:xfrm>
        </p:grpSpPr>
        <p:sp>
          <p:nvSpPr>
            <p:cNvPr id="41" name="Text 39"/>
            <p:cNvSpPr/>
            <p:nvPr/>
          </p:nvSpPr>
          <p:spPr>
            <a:xfrm>
              <a:off x="5577840" y="5157216"/>
              <a:ext cx="3599367" cy="265176"/>
            </a:xfrm>
            <a:prstGeom prst="rect">
              <a:avLst/>
            </a:prstGeom>
            <a:noFill/>
            <a:ln/>
          </p:spPr>
          <p:txBody>
            <a:bodyPr wrap="square" lIns="0" tIns="0" rIns="0" bIns="0" rtlCol="0" anchor="ctr">
              <a:normAutofit/>
            </a:bodyPr>
            <a:lstStyle/>
            <a:p>
              <a:pPr marL="0" indent="0" algn="l">
                <a:buNone/>
              </a:pPr>
              <a:r>
                <a:rPr lang="en-US" sz="1630" b="1" dirty="0">
                  <a:solidFill>
                    <a:srgbClr val="292929"/>
                  </a:solidFill>
                  <a:latin typeface="Aptos" pitchFamily="34" charset="0"/>
                  <a:ea typeface="Aptos" pitchFamily="34" charset="-122"/>
                  <a:cs typeface="Aptos" pitchFamily="34" charset="-120"/>
                </a:rPr>
                <a:t>Separar interfaz, inventario y análisis</a:t>
              </a:r>
              <a:endParaRPr lang="en-US" sz="1630" dirty="0"/>
            </a:p>
          </p:txBody>
        </p:sp>
        <p:sp>
          <p:nvSpPr>
            <p:cNvPr id="42" name="Text 40"/>
            <p:cNvSpPr/>
            <p:nvPr/>
          </p:nvSpPr>
          <p:spPr>
            <a:xfrm>
              <a:off x="5577840" y="5458968"/>
              <a:ext cx="2678951" cy="219456"/>
            </a:xfrm>
            <a:prstGeom prst="rect">
              <a:avLst/>
            </a:prstGeom>
            <a:noFill/>
            <a:ln/>
          </p:spPr>
          <p:txBody>
            <a:bodyPr wrap="square" lIns="0" tIns="0" rIns="0" bIns="0" rtlCol="0" anchor="ctr">
              <a:normAutofit/>
            </a:bodyPr>
            <a:lstStyle/>
            <a:p>
              <a:pPr marL="0" indent="0" algn="l">
                <a:buNone/>
              </a:pPr>
              <a:r>
                <a:rPr lang="en-US" sz="1250" dirty="0">
                  <a:solidFill>
                    <a:srgbClr val="6E6A66"/>
                  </a:solidFill>
                  <a:latin typeface="Aptos" pitchFamily="34" charset="0"/>
                  <a:ea typeface="Aptos" pitchFamily="34" charset="-122"/>
                  <a:cs typeface="Aptos" pitchFamily="34" charset="-120"/>
                </a:rPr>
                <a:t>Cada parte tiene una responsabilidad</a:t>
              </a:r>
              <a:endParaRPr lang="en-US" sz="1250" dirty="0"/>
            </a:p>
          </p:txBody>
        </p:sp>
      </p:grpSp>
      <p:sp>
        <p:nvSpPr>
          <p:cNvPr id="43" name="Text 41"/>
          <p:cNvSpPr/>
          <p:nvPr/>
        </p:nvSpPr>
        <p:spPr>
          <a:xfrm>
            <a:off x="795528" y="6144768"/>
            <a:ext cx="10652760" cy="192024"/>
          </a:xfrm>
          <a:prstGeom prst="rect">
            <a:avLst/>
          </a:prstGeom>
          <a:noFill/>
          <a:ln/>
        </p:spPr>
        <p:txBody>
          <a:bodyPr wrap="square" lIns="0" tIns="0" rIns="0" bIns="0" rtlCol="0" anchor="ctr">
            <a:normAutofit lnSpcReduction="10000"/>
          </a:bodyPr>
          <a:lstStyle/>
          <a:p>
            <a:pPr marL="0" indent="0" algn="l">
              <a:buNone/>
            </a:pPr>
            <a:r>
              <a:rPr lang="en-US" sz="1290" dirty="0">
                <a:solidFill>
                  <a:srgbClr val="6E6A66"/>
                </a:solidFill>
                <a:latin typeface="Aptos" pitchFamily="34" charset="0"/>
                <a:ea typeface="Aptos" pitchFamily="34" charset="-122"/>
                <a:cs typeface="Aptos" pitchFamily="34" charset="-120"/>
              </a:rPr>
              <a:t>RF = requerimiento funcional    ·    RD = restricción de diseño (una condición que decidimos respetar)</a:t>
            </a:r>
            <a:endParaRPr lang="en-US" sz="12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1776102"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04  ·  PARADIGMAS</a:t>
            </a:r>
            <a:endParaRPr lang="en-US" sz="1120" dirty="0"/>
          </a:p>
        </p:txBody>
      </p:sp>
      <p:sp>
        <p:nvSpPr>
          <p:cNvPr id="4" name="Text 2"/>
          <p:cNvSpPr/>
          <p:nvPr/>
        </p:nvSpPr>
        <p:spPr>
          <a:xfrm>
            <a:off x="621792" y="914400"/>
            <a:ext cx="7854696"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Tres formas de programar que se complementan</a:t>
            </a:r>
            <a:endParaRPr lang="en-US" sz="2950" dirty="0"/>
          </a:p>
        </p:txBody>
      </p:sp>
      <p:sp>
        <p:nvSpPr>
          <p:cNvPr id="5" name="Text 3"/>
          <p:cNvSpPr/>
          <p:nvPr/>
        </p:nvSpPr>
        <p:spPr>
          <a:xfrm>
            <a:off x="649224" y="1527048"/>
            <a:ext cx="7357792"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No son tres programas: son tres maneras de resolver partes del </a:t>
            </a:r>
            <a:r>
              <a:rPr lang="en-US" sz="1640" dirty="0" err="1">
                <a:solidFill>
                  <a:srgbClr val="6E6A66"/>
                </a:solidFill>
                <a:latin typeface="Aptos" pitchFamily="34" charset="0"/>
                <a:ea typeface="Aptos" pitchFamily="34" charset="-122"/>
                <a:cs typeface="Aptos" pitchFamily="34" charset="-120"/>
              </a:rPr>
              <a:t>mismo</a:t>
            </a:r>
            <a:r>
              <a:rPr lang="en-US" sz="1640" dirty="0">
                <a:solidFill>
                  <a:srgbClr val="6E6A66"/>
                </a:solidFill>
                <a:latin typeface="Aptos" pitchFamily="34" charset="0"/>
                <a:ea typeface="Aptos" pitchFamily="34" charset="-122"/>
                <a:cs typeface="Aptos" pitchFamily="34" charset="-120"/>
              </a:rPr>
              <a:t> </a:t>
            </a:r>
            <a:r>
              <a:rPr lang="en-US" sz="1640" dirty="0" err="1">
                <a:solidFill>
                  <a:srgbClr val="6E6A66"/>
                </a:solidFill>
                <a:latin typeface="Aptos" pitchFamily="34" charset="0"/>
                <a:ea typeface="Aptos" pitchFamily="34" charset="-122"/>
                <a:cs typeface="Aptos" pitchFamily="34" charset="-120"/>
              </a:rPr>
              <a:t>sistema</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04 / 09</a:t>
            </a:r>
            <a:endParaRPr lang="en-US" sz="910" dirty="0"/>
          </a:p>
        </p:txBody>
      </p:sp>
      <p:sp>
        <p:nvSpPr>
          <p:cNvPr id="9" name="Shape 7"/>
          <p:cNvSpPr/>
          <p:nvPr/>
        </p:nvSpPr>
        <p:spPr>
          <a:xfrm>
            <a:off x="713232" y="2212848"/>
            <a:ext cx="3218688" cy="3264408"/>
          </a:xfrm>
          <a:prstGeom prst="roundRect">
            <a:avLst>
              <a:gd name="adj" fmla="val 3409"/>
            </a:avLst>
          </a:prstGeom>
          <a:solidFill>
            <a:srgbClr val="FFFFFF"/>
          </a:solidFill>
          <a:ln w="8890">
            <a:solidFill>
              <a:srgbClr val="DEDAD5"/>
            </a:solidFill>
            <a:prstDash val="solid"/>
          </a:ln>
        </p:spPr>
        <p:txBody>
          <a:bodyPr/>
          <a:lstStyle/>
          <a:p>
            <a:endParaRPr lang="en-US"/>
          </a:p>
        </p:txBody>
      </p:sp>
      <p:grpSp>
        <p:nvGrpSpPr>
          <p:cNvPr id="29" name="Grupo 28">
            <a:extLst>
              <a:ext uri="{FF2B5EF4-FFF2-40B4-BE49-F238E27FC236}">
                <a16:creationId xmlns:a16="http://schemas.microsoft.com/office/drawing/2014/main" id="{054E3DC8-4ED1-E4A4-FC63-C3D96C57C768}"/>
              </a:ext>
            </a:extLst>
          </p:cNvPr>
          <p:cNvGrpSpPr/>
          <p:nvPr/>
        </p:nvGrpSpPr>
        <p:grpSpPr>
          <a:xfrm>
            <a:off x="987552" y="2487168"/>
            <a:ext cx="713232" cy="713232"/>
            <a:chOff x="987552" y="2487168"/>
            <a:chExt cx="713232" cy="713232"/>
          </a:xfrm>
        </p:grpSpPr>
        <p:sp>
          <p:nvSpPr>
            <p:cNvPr id="10" name="Shape 8"/>
            <p:cNvSpPr/>
            <p:nvPr/>
          </p:nvSpPr>
          <p:spPr>
            <a:xfrm>
              <a:off x="987552" y="2487168"/>
              <a:ext cx="713232" cy="713232"/>
            </a:xfrm>
            <a:prstGeom prst="ellipse">
              <a:avLst/>
            </a:prstGeom>
            <a:solidFill>
              <a:srgbClr val="EEE1D6"/>
            </a:solidFill>
            <a:ln w="12700">
              <a:solidFill>
                <a:srgbClr val="EEE1D6">
                  <a:alpha val="0"/>
                </a:srgbClr>
              </a:solidFill>
              <a:prstDash val="solid"/>
            </a:ln>
          </p:spPr>
          <p:txBody>
            <a:bodyPr/>
            <a:lstStyle/>
            <a:p>
              <a:endParaRPr lang="en-US"/>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576" y="2670048"/>
              <a:ext cx="320040" cy="310896"/>
            </a:xfrm>
            <a:prstGeom prst="rect">
              <a:avLst/>
            </a:prstGeom>
          </p:spPr>
        </p:pic>
      </p:grpSp>
      <p:sp>
        <p:nvSpPr>
          <p:cNvPr id="12" name="Text 9"/>
          <p:cNvSpPr/>
          <p:nvPr/>
        </p:nvSpPr>
        <p:spPr>
          <a:xfrm>
            <a:off x="960120" y="3313176"/>
            <a:ext cx="2438801" cy="457200"/>
          </a:xfrm>
          <a:prstGeom prst="rect">
            <a:avLst/>
          </a:prstGeom>
          <a:noFill/>
          <a:ln/>
        </p:spPr>
        <p:txBody>
          <a:bodyPr wrap="square" lIns="0" tIns="0" rIns="0" bIns="0" rtlCol="0" anchor="ctr">
            <a:normAutofit/>
          </a:bodyPr>
          <a:lstStyle/>
          <a:p>
            <a:pPr marL="0" indent="0" algn="l">
              <a:buNone/>
            </a:pPr>
            <a:r>
              <a:rPr lang="en-US" sz="2060" b="1" dirty="0">
                <a:solidFill>
                  <a:srgbClr val="292929"/>
                </a:solidFill>
                <a:latin typeface="Aptos" pitchFamily="34" charset="0"/>
                <a:ea typeface="Aptos" pitchFamily="34" charset="-122"/>
                <a:cs typeface="Aptos" pitchFamily="34" charset="-120"/>
              </a:rPr>
              <a:t>Orientado a objetos</a:t>
            </a:r>
            <a:endParaRPr lang="en-US" sz="2060" dirty="0"/>
          </a:p>
        </p:txBody>
      </p:sp>
      <p:sp>
        <p:nvSpPr>
          <p:cNvPr id="13" name="Text 10"/>
          <p:cNvSpPr/>
          <p:nvPr/>
        </p:nvSpPr>
        <p:spPr>
          <a:xfrm>
            <a:off x="960120" y="3883152"/>
            <a:ext cx="2761488" cy="512064"/>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Cada producto tiene datos y reglas.</a:t>
            </a:r>
            <a:endParaRPr lang="en-US" sz="1650" dirty="0"/>
          </a:p>
        </p:txBody>
      </p:sp>
      <p:sp>
        <p:nvSpPr>
          <p:cNvPr id="14" name="Text 11"/>
          <p:cNvSpPr/>
          <p:nvPr/>
        </p:nvSpPr>
        <p:spPr>
          <a:xfrm>
            <a:off x="960120" y="4507992"/>
            <a:ext cx="2743200" cy="749808"/>
          </a:xfrm>
          <a:prstGeom prst="rect">
            <a:avLst/>
          </a:prstGeom>
          <a:noFill/>
          <a:ln/>
        </p:spPr>
        <p:txBody>
          <a:bodyPr wrap="square" lIns="0" tIns="0" rIns="0" bIns="0" rtlCol="0" anchor="t">
            <a:normAutofit/>
          </a:bodyPr>
          <a:lstStyle/>
          <a:p>
            <a:pPr marL="0" indent="0" algn="l">
              <a:buNone/>
            </a:pPr>
            <a:r>
              <a:rPr lang="en-US" sz="1430" dirty="0">
                <a:solidFill>
                  <a:srgbClr val="6E6A66"/>
                </a:solidFill>
                <a:latin typeface="Aptos" pitchFamily="34" charset="0"/>
                <a:ea typeface="Aptos" pitchFamily="34" charset="-122"/>
                <a:cs typeface="Aptos" pitchFamily="34" charset="-120"/>
              </a:rPr>
              <a:t>Medicamento e InsumoMedico comparten lo esencial de RecursoMedico.</a:t>
            </a:r>
            <a:endParaRPr lang="en-US" sz="1430" dirty="0"/>
          </a:p>
        </p:txBody>
      </p:sp>
      <p:sp>
        <p:nvSpPr>
          <p:cNvPr id="15" name="Shape 12"/>
          <p:cNvSpPr/>
          <p:nvPr/>
        </p:nvSpPr>
        <p:spPr>
          <a:xfrm>
            <a:off x="4489704" y="2212848"/>
            <a:ext cx="3218688" cy="3264408"/>
          </a:xfrm>
          <a:prstGeom prst="roundRect">
            <a:avLst>
              <a:gd name="adj" fmla="val 3409"/>
            </a:avLst>
          </a:prstGeom>
          <a:solidFill>
            <a:srgbClr val="F5F0EB"/>
          </a:solidFill>
          <a:ln w="8890">
            <a:solidFill>
              <a:srgbClr val="DEDAD5"/>
            </a:solidFill>
            <a:prstDash val="solid"/>
          </a:ln>
        </p:spPr>
        <p:txBody>
          <a:bodyPr/>
          <a:lstStyle/>
          <a:p>
            <a:endParaRPr lang="en-US"/>
          </a:p>
        </p:txBody>
      </p:sp>
      <p:grpSp>
        <p:nvGrpSpPr>
          <p:cNvPr id="30" name="Grupo 29">
            <a:extLst>
              <a:ext uri="{FF2B5EF4-FFF2-40B4-BE49-F238E27FC236}">
                <a16:creationId xmlns:a16="http://schemas.microsoft.com/office/drawing/2014/main" id="{68B6F0E2-DC51-2FCA-535A-21ABDC306511}"/>
              </a:ext>
            </a:extLst>
          </p:cNvPr>
          <p:cNvGrpSpPr/>
          <p:nvPr/>
        </p:nvGrpSpPr>
        <p:grpSpPr>
          <a:xfrm>
            <a:off x="4764024" y="2487168"/>
            <a:ext cx="713232" cy="713232"/>
            <a:chOff x="4764024" y="2487168"/>
            <a:chExt cx="713232" cy="713232"/>
          </a:xfrm>
        </p:grpSpPr>
        <p:sp>
          <p:nvSpPr>
            <p:cNvPr id="16" name="Shape 13"/>
            <p:cNvSpPr/>
            <p:nvPr/>
          </p:nvSpPr>
          <p:spPr>
            <a:xfrm>
              <a:off x="4764024" y="2487168"/>
              <a:ext cx="713232" cy="713232"/>
            </a:xfrm>
            <a:prstGeom prst="ellipse">
              <a:avLst/>
            </a:prstGeom>
            <a:solidFill>
              <a:srgbClr val="EEE1D6"/>
            </a:solidFill>
            <a:ln w="12700">
              <a:solidFill>
                <a:srgbClr val="EEE1D6">
                  <a:alpha val="0"/>
                </a:srgbClr>
              </a:solidFill>
              <a:prstDash val="solid"/>
            </a:ln>
          </p:spPr>
          <p:txBody>
            <a:bodyPr/>
            <a:lstStyle/>
            <a:p>
              <a:endParaRPr lang="en-US"/>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56048" y="2670048"/>
              <a:ext cx="320040" cy="310896"/>
            </a:xfrm>
            <a:prstGeom prst="rect">
              <a:avLst/>
            </a:prstGeom>
          </p:spPr>
        </p:pic>
      </p:grpSp>
      <p:sp>
        <p:nvSpPr>
          <p:cNvPr id="18" name="Text 14"/>
          <p:cNvSpPr/>
          <p:nvPr/>
        </p:nvSpPr>
        <p:spPr>
          <a:xfrm>
            <a:off x="4736592" y="3313176"/>
            <a:ext cx="1273182" cy="457200"/>
          </a:xfrm>
          <a:prstGeom prst="rect">
            <a:avLst/>
          </a:prstGeom>
          <a:noFill/>
          <a:ln/>
        </p:spPr>
        <p:txBody>
          <a:bodyPr wrap="square" lIns="0" tIns="0" rIns="0" bIns="0" rtlCol="0" anchor="ctr">
            <a:normAutofit/>
          </a:bodyPr>
          <a:lstStyle/>
          <a:p>
            <a:pPr marL="0" indent="0" algn="l">
              <a:buNone/>
            </a:pPr>
            <a:r>
              <a:rPr lang="en-US" sz="2060" b="1" dirty="0">
                <a:solidFill>
                  <a:srgbClr val="292929"/>
                </a:solidFill>
                <a:latin typeface="Aptos" pitchFamily="34" charset="0"/>
                <a:ea typeface="Aptos" pitchFamily="34" charset="-122"/>
                <a:cs typeface="Aptos" pitchFamily="34" charset="-120"/>
              </a:rPr>
              <a:t>Funcional</a:t>
            </a:r>
            <a:endParaRPr lang="en-US" sz="2060" dirty="0"/>
          </a:p>
        </p:txBody>
      </p:sp>
      <p:sp>
        <p:nvSpPr>
          <p:cNvPr id="19" name="Text 15"/>
          <p:cNvSpPr/>
          <p:nvPr/>
        </p:nvSpPr>
        <p:spPr>
          <a:xfrm>
            <a:off x="4736592" y="3883152"/>
            <a:ext cx="2356024" cy="512064"/>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Analizamos una lista de recursos.</a:t>
            </a:r>
            <a:endParaRPr lang="en-US" sz="1650" dirty="0"/>
          </a:p>
        </p:txBody>
      </p:sp>
      <p:sp>
        <p:nvSpPr>
          <p:cNvPr id="20" name="Text 16"/>
          <p:cNvSpPr/>
          <p:nvPr/>
        </p:nvSpPr>
        <p:spPr>
          <a:xfrm>
            <a:off x="4736592" y="4507992"/>
            <a:ext cx="2743200" cy="749808"/>
          </a:xfrm>
          <a:prstGeom prst="rect">
            <a:avLst/>
          </a:prstGeom>
          <a:noFill/>
          <a:ln/>
        </p:spPr>
        <p:txBody>
          <a:bodyPr wrap="square" lIns="0" tIns="0" rIns="0" bIns="0" rtlCol="0" anchor="t">
            <a:normAutofit/>
          </a:bodyPr>
          <a:lstStyle/>
          <a:p>
            <a:pPr marL="0" indent="0" algn="l">
              <a:buNone/>
            </a:pPr>
            <a:r>
              <a:rPr lang="en-US" sz="1430" dirty="0">
                <a:solidFill>
                  <a:srgbClr val="6E6A66"/>
                </a:solidFill>
                <a:latin typeface="Aptos" pitchFamily="34" charset="0"/>
                <a:ea typeface="Aptos" pitchFamily="34" charset="-122"/>
                <a:cs typeface="Aptos" pitchFamily="34" charset="-120"/>
              </a:rPr>
              <a:t>filter selecciona críticos; map y reduce ayudan a sumar cantidades.</a:t>
            </a:r>
            <a:endParaRPr lang="en-US" sz="1430" dirty="0"/>
          </a:p>
        </p:txBody>
      </p:sp>
      <p:sp>
        <p:nvSpPr>
          <p:cNvPr id="21" name="Shape 17"/>
          <p:cNvSpPr/>
          <p:nvPr/>
        </p:nvSpPr>
        <p:spPr>
          <a:xfrm>
            <a:off x="8266176" y="2212848"/>
            <a:ext cx="3218688" cy="3264408"/>
          </a:xfrm>
          <a:prstGeom prst="roundRect">
            <a:avLst>
              <a:gd name="adj" fmla="val 3409"/>
            </a:avLst>
          </a:prstGeom>
          <a:solidFill>
            <a:srgbClr val="FFFFFF"/>
          </a:solidFill>
          <a:ln w="8890">
            <a:solidFill>
              <a:srgbClr val="DEDAD5"/>
            </a:solidFill>
            <a:prstDash val="solid"/>
          </a:ln>
        </p:spPr>
        <p:txBody>
          <a:bodyPr/>
          <a:lstStyle/>
          <a:p>
            <a:endParaRPr lang="en-US"/>
          </a:p>
        </p:txBody>
      </p:sp>
      <p:sp>
        <p:nvSpPr>
          <p:cNvPr id="22" name="Shape 18"/>
          <p:cNvSpPr/>
          <p:nvPr/>
        </p:nvSpPr>
        <p:spPr>
          <a:xfrm>
            <a:off x="8540496" y="2487168"/>
            <a:ext cx="713232" cy="713232"/>
          </a:xfrm>
          <a:prstGeom prst="ellipse">
            <a:avLst/>
          </a:prstGeom>
          <a:solidFill>
            <a:srgbClr val="EEE1D6"/>
          </a:solidFill>
          <a:ln w="12700">
            <a:solidFill>
              <a:srgbClr val="EEE1D6">
                <a:alpha val="0"/>
              </a:srgbClr>
            </a:solidFill>
            <a:prstDash val="solid"/>
          </a:ln>
        </p:spPr>
        <p:txBody>
          <a:bodyPr/>
          <a:lstStyle/>
          <a:p>
            <a:endParaRPr lang="en-US"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32520" y="2688336"/>
            <a:ext cx="320040" cy="310896"/>
          </a:xfrm>
          <a:prstGeom prst="rect">
            <a:avLst/>
          </a:prstGeom>
        </p:spPr>
      </p:pic>
      <p:sp>
        <p:nvSpPr>
          <p:cNvPr id="24" name="Text 19"/>
          <p:cNvSpPr/>
          <p:nvPr/>
        </p:nvSpPr>
        <p:spPr>
          <a:xfrm>
            <a:off x="8513064" y="3313176"/>
            <a:ext cx="2779776" cy="457200"/>
          </a:xfrm>
          <a:prstGeom prst="rect">
            <a:avLst/>
          </a:prstGeom>
          <a:noFill/>
          <a:ln/>
        </p:spPr>
        <p:txBody>
          <a:bodyPr wrap="square" lIns="0" tIns="0" rIns="0" bIns="0" rtlCol="0" anchor="ctr">
            <a:normAutofit/>
          </a:bodyPr>
          <a:lstStyle/>
          <a:p>
            <a:pPr marL="0" indent="0" algn="l">
              <a:buNone/>
            </a:pPr>
            <a:r>
              <a:rPr lang="en-US" sz="2060" b="1" dirty="0">
                <a:solidFill>
                  <a:srgbClr val="292929"/>
                </a:solidFill>
                <a:latin typeface="Aptos" pitchFamily="34" charset="0"/>
                <a:ea typeface="Aptos" pitchFamily="34" charset="-122"/>
                <a:cs typeface="Aptos" pitchFamily="34" charset="-120"/>
              </a:rPr>
              <a:t>Orientado a eventos</a:t>
            </a:r>
            <a:endParaRPr lang="en-US" sz="2060" dirty="0"/>
          </a:p>
        </p:txBody>
      </p:sp>
      <p:sp>
        <p:nvSpPr>
          <p:cNvPr id="25" name="Text 20"/>
          <p:cNvSpPr/>
          <p:nvPr/>
        </p:nvSpPr>
        <p:spPr>
          <a:xfrm>
            <a:off x="8513064" y="3883152"/>
            <a:ext cx="2761488" cy="512064"/>
          </a:xfrm>
          <a:prstGeom prst="rect">
            <a:avLst/>
          </a:prstGeom>
          <a:noFill/>
          <a:ln/>
        </p:spPr>
        <p:txBody>
          <a:bodyPr wrap="square" lIns="0" tIns="0" rIns="0" bIns="0" rtlCol="0" anchor="ctr">
            <a:normAutofit/>
          </a:bodyPr>
          <a:lstStyle/>
          <a:p>
            <a:pPr marL="0" indent="0" algn="l">
              <a:buNone/>
            </a:pPr>
            <a:r>
              <a:rPr lang="en-US" sz="1650" b="1" dirty="0">
                <a:solidFill>
                  <a:srgbClr val="292929"/>
                </a:solidFill>
                <a:latin typeface="Aptos" pitchFamily="34" charset="0"/>
                <a:ea typeface="Aptos" pitchFamily="34" charset="-122"/>
                <a:cs typeface="Aptos" pitchFamily="34" charset="-120"/>
              </a:rPr>
              <a:t>El usuario decide cuándo actuar.</a:t>
            </a:r>
            <a:endParaRPr lang="en-US" sz="1650" dirty="0"/>
          </a:p>
        </p:txBody>
      </p:sp>
      <p:sp>
        <p:nvSpPr>
          <p:cNvPr id="26" name="Text 21"/>
          <p:cNvSpPr/>
          <p:nvPr/>
        </p:nvSpPr>
        <p:spPr>
          <a:xfrm>
            <a:off x="8513064" y="4626864"/>
            <a:ext cx="2743200" cy="512064"/>
          </a:xfrm>
          <a:prstGeom prst="rect">
            <a:avLst/>
          </a:prstGeom>
          <a:noFill/>
          <a:ln/>
        </p:spPr>
        <p:txBody>
          <a:bodyPr wrap="square" lIns="0" tIns="0" rIns="0" bIns="0" rtlCol="0" anchor="t">
            <a:normAutofit/>
          </a:bodyPr>
          <a:lstStyle/>
          <a:p>
            <a:pPr marL="0" indent="0" algn="l">
              <a:buNone/>
            </a:pPr>
            <a:r>
              <a:rPr lang="en-US" sz="1430" dirty="0">
                <a:solidFill>
                  <a:srgbClr val="6E6A66"/>
                </a:solidFill>
                <a:latin typeface="Aptos" pitchFamily="34" charset="0"/>
                <a:ea typeface="Aptos" pitchFamily="34" charset="-122"/>
                <a:cs typeface="Aptos" pitchFamily="34" charset="-120"/>
              </a:rPr>
              <a:t>Al hacer clic, Swing activa el método correspondiente.</a:t>
            </a:r>
            <a:endParaRPr lang="en-US" sz="1430" dirty="0"/>
          </a:p>
        </p:txBody>
      </p:sp>
      <p:sp>
        <p:nvSpPr>
          <p:cNvPr id="27" name="Shape 22"/>
          <p:cNvSpPr/>
          <p:nvPr/>
        </p:nvSpPr>
        <p:spPr>
          <a:xfrm>
            <a:off x="932688" y="5760720"/>
            <a:ext cx="10332720" cy="475488"/>
          </a:xfrm>
          <a:prstGeom prst="roundRect">
            <a:avLst>
              <a:gd name="adj" fmla="val 11538"/>
            </a:avLst>
          </a:prstGeom>
          <a:solidFill>
            <a:srgbClr val="292929"/>
          </a:solidFill>
          <a:ln w="12700">
            <a:solidFill>
              <a:srgbClr val="292929">
                <a:alpha val="0"/>
              </a:srgbClr>
            </a:solidFill>
            <a:prstDash val="solid"/>
          </a:ln>
        </p:spPr>
        <p:txBody>
          <a:bodyPr/>
          <a:lstStyle/>
          <a:p>
            <a:endParaRPr lang="en-US"/>
          </a:p>
        </p:txBody>
      </p:sp>
      <p:sp>
        <p:nvSpPr>
          <p:cNvPr id="28" name="Text 23"/>
          <p:cNvSpPr/>
          <p:nvPr/>
        </p:nvSpPr>
        <p:spPr>
          <a:xfrm>
            <a:off x="1133856" y="5897880"/>
            <a:ext cx="9957816" cy="201168"/>
          </a:xfrm>
          <a:prstGeom prst="rect">
            <a:avLst/>
          </a:prstGeom>
          <a:noFill/>
          <a:ln/>
        </p:spPr>
        <p:txBody>
          <a:bodyPr wrap="square" lIns="0" tIns="0" rIns="0" bIns="0" rtlCol="0" anchor="ctr">
            <a:normAutofit fontScale="92500" lnSpcReduction="10000"/>
          </a:bodyPr>
          <a:lstStyle/>
          <a:p>
            <a:pPr marL="0" indent="0" algn="ctr">
              <a:buNone/>
            </a:pPr>
            <a:r>
              <a:rPr lang="en-US" sz="1560" dirty="0">
                <a:solidFill>
                  <a:srgbClr val="FFFFFF"/>
                </a:solidFill>
                <a:latin typeface="Aptos" pitchFamily="34" charset="0"/>
                <a:ea typeface="Aptos" pitchFamily="34" charset="-122"/>
                <a:cs typeface="Aptos" pitchFamily="34" charset="-120"/>
              </a:rPr>
              <a:t>Un clic → se consulta un objeto → se analiza la colección → se muestra el resultado</a:t>
            </a:r>
            <a:endParaRPr lang="en-US" sz="15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2779054"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05  ·  ORGANIZACIÓN INTERNA</a:t>
            </a:r>
            <a:endParaRPr lang="en-US" sz="1120" dirty="0"/>
          </a:p>
        </p:txBody>
      </p:sp>
      <p:sp>
        <p:nvSpPr>
          <p:cNvPr id="4" name="Text 2"/>
          <p:cNvSpPr/>
          <p:nvPr/>
        </p:nvSpPr>
        <p:spPr>
          <a:xfrm>
            <a:off x="621792" y="914400"/>
            <a:ext cx="7434072"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¿Cómo se comunican las partes del programa?</a:t>
            </a:r>
            <a:endParaRPr lang="en-US" sz="295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05 / 09</a:t>
            </a:r>
            <a:endParaRPr lang="en-US" sz="910" dirty="0"/>
          </a:p>
        </p:txBody>
      </p:sp>
      <p:sp>
        <p:nvSpPr>
          <p:cNvPr id="9" name="Shape 7"/>
          <p:cNvSpPr/>
          <p:nvPr/>
        </p:nvSpPr>
        <p:spPr>
          <a:xfrm>
            <a:off x="3557016" y="2332201"/>
            <a:ext cx="1124712" cy="0"/>
          </a:xfrm>
          <a:prstGeom prst="line">
            <a:avLst/>
          </a:prstGeom>
          <a:noFill/>
          <a:ln w="22860">
            <a:solidFill>
              <a:srgbClr val="A77958"/>
            </a:solidFill>
            <a:prstDash val="solid"/>
            <a:tailEnd type="triangle"/>
          </a:ln>
        </p:spPr>
        <p:txBody>
          <a:bodyPr/>
          <a:lstStyle/>
          <a:p>
            <a:endParaRPr lang="en-US"/>
          </a:p>
        </p:txBody>
      </p:sp>
      <p:sp>
        <p:nvSpPr>
          <p:cNvPr id="10" name="Shape 8"/>
          <p:cNvSpPr/>
          <p:nvPr/>
        </p:nvSpPr>
        <p:spPr>
          <a:xfrm>
            <a:off x="7470648" y="2332201"/>
            <a:ext cx="1024128" cy="0"/>
          </a:xfrm>
          <a:prstGeom prst="line">
            <a:avLst/>
          </a:prstGeom>
          <a:noFill/>
          <a:ln w="22860">
            <a:solidFill>
              <a:srgbClr val="A77958"/>
            </a:solidFill>
            <a:prstDash val="solid"/>
            <a:tailEnd type="triangle"/>
          </a:ln>
        </p:spPr>
        <p:txBody>
          <a:bodyPr/>
          <a:lstStyle/>
          <a:p>
            <a:endParaRPr lang="en-US"/>
          </a:p>
        </p:txBody>
      </p:sp>
      <p:sp>
        <p:nvSpPr>
          <p:cNvPr id="11" name="Shape 9"/>
          <p:cNvSpPr/>
          <p:nvPr/>
        </p:nvSpPr>
        <p:spPr>
          <a:xfrm>
            <a:off x="6080760" y="2816833"/>
            <a:ext cx="0" cy="905256"/>
          </a:xfrm>
          <a:prstGeom prst="line">
            <a:avLst/>
          </a:prstGeom>
          <a:noFill/>
          <a:ln w="22860">
            <a:solidFill>
              <a:srgbClr val="A77958"/>
            </a:solidFill>
            <a:prstDash val="solid"/>
            <a:tailEnd type="triangle"/>
          </a:ln>
        </p:spPr>
        <p:txBody>
          <a:bodyPr/>
          <a:lstStyle/>
          <a:p>
            <a:endParaRPr lang="en-US"/>
          </a:p>
        </p:txBody>
      </p:sp>
      <p:sp>
        <p:nvSpPr>
          <p:cNvPr id="12" name="Shape 10"/>
          <p:cNvSpPr/>
          <p:nvPr/>
        </p:nvSpPr>
        <p:spPr>
          <a:xfrm flipH="1">
            <a:off x="9258301" y="2807688"/>
            <a:ext cx="699515" cy="905257"/>
          </a:xfrm>
          <a:prstGeom prst="line">
            <a:avLst/>
          </a:prstGeom>
          <a:noFill/>
          <a:ln w="16510">
            <a:solidFill>
              <a:srgbClr val="6E6A66"/>
            </a:solidFill>
            <a:prstDash val="solid"/>
            <a:tailEnd type="triangle"/>
          </a:ln>
        </p:spPr>
        <p:txBody>
          <a:bodyPr/>
          <a:lstStyle/>
          <a:p>
            <a:endParaRPr lang="en-US"/>
          </a:p>
        </p:txBody>
      </p:sp>
      <p:sp>
        <p:nvSpPr>
          <p:cNvPr id="13" name="Shape 11"/>
          <p:cNvSpPr/>
          <p:nvPr/>
        </p:nvSpPr>
        <p:spPr>
          <a:xfrm>
            <a:off x="9957815" y="2807689"/>
            <a:ext cx="763525" cy="896477"/>
          </a:xfrm>
          <a:prstGeom prst="line">
            <a:avLst/>
          </a:prstGeom>
          <a:noFill/>
          <a:ln w="16510">
            <a:solidFill>
              <a:srgbClr val="6E6A66"/>
            </a:solidFill>
            <a:prstDash val="solid"/>
            <a:tailEnd type="triangle"/>
          </a:ln>
        </p:spPr>
        <p:txBody>
          <a:bodyPr/>
          <a:lstStyle/>
          <a:p>
            <a:endParaRPr lang="en-US"/>
          </a:p>
        </p:txBody>
      </p:sp>
      <p:sp>
        <p:nvSpPr>
          <p:cNvPr id="14" name="Shape 12"/>
          <p:cNvSpPr/>
          <p:nvPr/>
        </p:nvSpPr>
        <p:spPr>
          <a:xfrm>
            <a:off x="2157984" y="2816833"/>
            <a:ext cx="0" cy="905256"/>
          </a:xfrm>
          <a:prstGeom prst="line">
            <a:avLst/>
          </a:prstGeom>
          <a:noFill/>
          <a:ln w="16510">
            <a:solidFill>
              <a:srgbClr val="6E6A66"/>
            </a:solidFill>
            <a:prstDash val="solid"/>
            <a:tailEnd type="triangle"/>
          </a:ln>
        </p:spPr>
        <p:txBody>
          <a:bodyPr/>
          <a:lstStyle/>
          <a:p>
            <a:endParaRPr lang="en-US"/>
          </a:p>
        </p:txBody>
      </p:sp>
      <p:sp>
        <p:nvSpPr>
          <p:cNvPr id="15" name="Shape 13"/>
          <p:cNvSpPr/>
          <p:nvPr/>
        </p:nvSpPr>
        <p:spPr>
          <a:xfrm>
            <a:off x="768096" y="1856713"/>
            <a:ext cx="2788920" cy="950976"/>
          </a:xfrm>
          <a:prstGeom prst="roundRect">
            <a:avLst>
              <a:gd name="adj" fmla="val 11538"/>
            </a:avLst>
          </a:prstGeom>
          <a:solidFill>
            <a:srgbClr val="F5F0EB"/>
          </a:solidFill>
          <a:ln w="8890">
            <a:solidFill>
              <a:srgbClr val="DEDAD5"/>
            </a:solidFill>
            <a:prstDash val="solid"/>
          </a:ln>
        </p:spPr>
        <p:txBody>
          <a:bodyPr/>
          <a:lstStyle/>
          <a:p>
            <a:endParaRPr lang="en-US"/>
          </a:p>
        </p:txBody>
      </p:sp>
      <p:sp>
        <p:nvSpPr>
          <p:cNvPr id="16" name="Text 14"/>
          <p:cNvSpPr/>
          <p:nvPr/>
        </p:nvSpPr>
        <p:spPr>
          <a:xfrm>
            <a:off x="886968" y="2012161"/>
            <a:ext cx="2551176" cy="310896"/>
          </a:xfrm>
          <a:prstGeom prst="rect">
            <a:avLst/>
          </a:prstGeom>
          <a:noFill/>
          <a:ln/>
        </p:spPr>
        <p:txBody>
          <a:bodyPr wrap="square" lIns="0" tIns="0" rIns="0" bIns="0" rtlCol="0" anchor="ctr">
            <a:normAutofit/>
          </a:bodyPr>
          <a:lstStyle/>
          <a:p>
            <a:pPr marL="0" indent="0" algn="ctr">
              <a:buNone/>
            </a:pPr>
            <a:r>
              <a:rPr lang="en-US" sz="1770" b="1" dirty="0">
                <a:solidFill>
                  <a:srgbClr val="292929"/>
                </a:solidFill>
                <a:latin typeface="Aptos" pitchFamily="34" charset="0"/>
                <a:ea typeface="Aptos" pitchFamily="34" charset="-122"/>
                <a:cs typeface="Aptos" pitchFamily="34" charset="-120"/>
              </a:rPr>
              <a:t>FrmMedicRural</a:t>
            </a:r>
            <a:endParaRPr lang="en-US" sz="1770" dirty="0"/>
          </a:p>
        </p:txBody>
      </p:sp>
      <p:sp>
        <p:nvSpPr>
          <p:cNvPr id="17" name="Text 15"/>
          <p:cNvSpPr/>
          <p:nvPr/>
        </p:nvSpPr>
        <p:spPr>
          <a:xfrm>
            <a:off x="877824" y="2423641"/>
            <a:ext cx="2569464" cy="201168"/>
          </a:xfrm>
          <a:prstGeom prst="rect">
            <a:avLst/>
          </a:prstGeom>
          <a:noFill/>
          <a:ln/>
        </p:spPr>
        <p:txBody>
          <a:bodyPr wrap="square" lIns="0" tIns="0" rIns="0" bIns="0" rtlCol="0" anchor="ctr">
            <a:normAutofit/>
          </a:bodyPr>
          <a:lstStyle/>
          <a:p>
            <a:pPr marL="0" indent="0" algn="ctr">
              <a:buNone/>
            </a:pPr>
            <a:r>
              <a:rPr lang="en-US" sz="1180" dirty="0">
                <a:solidFill>
                  <a:srgbClr val="6E6A66"/>
                </a:solidFill>
                <a:latin typeface="Aptos" pitchFamily="34" charset="0"/>
                <a:ea typeface="Aptos" pitchFamily="34" charset="-122"/>
                <a:cs typeface="Aptos" pitchFamily="34" charset="-120"/>
              </a:rPr>
              <a:t>Ventana y botones</a:t>
            </a:r>
            <a:endParaRPr lang="en-US" sz="1180" dirty="0"/>
          </a:p>
        </p:txBody>
      </p:sp>
      <p:sp>
        <p:nvSpPr>
          <p:cNvPr id="18" name="Shape 16"/>
          <p:cNvSpPr/>
          <p:nvPr/>
        </p:nvSpPr>
        <p:spPr>
          <a:xfrm>
            <a:off x="4681728" y="1856713"/>
            <a:ext cx="2788920" cy="950976"/>
          </a:xfrm>
          <a:prstGeom prst="roundRect">
            <a:avLst>
              <a:gd name="adj" fmla="val 11538"/>
            </a:avLst>
          </a:prstGeom>
          <a:solidFill>
            <a:srgbClr val="FFFFFF"/>
          </a:solidFill>
          <a:ln w="8890">
            <a:solidFill>
              <a:srgbClr val="DEDAD5"/>
            </a:solidFill>
            <a:prstDash val="solid"/>
          </a:ln>
        </p:spPr>
        <p:txBody>
          <a:bodyPr/>
          <a:lstStyle/>
          <a:p>
            <a:endParaRPr lang="en-US"/>
          </a:p>
        </p:txBody>
      </p:sp>
      <p:sp>
        <p:nvSpPr>
          <p:cNvPr id="19" name="Text 17"/>
          <p:cNvSpPr/>
          <p:nvPr/>
        </p:nvSpPr>
        <p:spPr>
          <a:xfrm>
            <a:off x="4800600" y="2012161"/>
            <a:ext cx="2551176" cy="310896"/>
          </a:xfrm>
          <a:prstGeom prst="rect">
            <a:avLst/>
          </a:prstGeom>
          <a:noFill/>
          <a:ln/>
        </p:spPr>
        <p:txBody>
          <a:bodyPr wrap="square" lIns="0" tIns="0" rIns="0" bIns="0" rtlCol="0" anchor="ctr">
            <a:normAutofit/>
          </a:bodyPr>
          <a:lstStyle/>
          <a:p>
            <a:pPr marL="0" indent="0" algn="ctr">
              <a:buNone/>
            </a:pPr>
            <a:r>
              <a:rPr lang="en-US" sz="1770" b="1" dirty="0">
                <a:solidFill>
                  <a:srgbClr val="292929"/>
                </a:solidFill>
                <a:latin typeface="Aptos" pitchFamily="34" charset="0"/>
                <a:ea typeface="Aptos" pitchFamily="34" charset="-122"/>
                <a:cs typeface="Aptos" pitchFamily="34" charset="-120"/>
              </a:rPr>
              <a:t>Inventario</a:t>
            </a:r>
            <a:endParaRPr lang="en-US" sz="1770" dirty="0"/>
          </a:p>
        </p:txBody>
      </p:sp>
      <p:sp>
        <p:nvSpPr>
          <p:cNvPr id="20" name="Text 18"/>
          <p:cNvSpPr/>
          <p:nvPr/>
        </p:nvSpPr>
        <p:spPr>
          <a:xfrm>
            <a:off x="4791456" y="2423641"/>
            <a:ext cx="2569464" cy="201168"/>
          </a:xfrm>
          <a:prstGeom prst="rect">
            <a:avLst/>
          </a:prstGeom>
          <a:noFill/>
          <a:ln/>
        </p:spPr>
        <p:txBody>
          <a:bodyPr wrap="square" lIns="0" tIns="0" rIns="0" bIns="0" rtlCol="0" anchor="ctr">
            <a:normAutofit/>
          </a:bodyPr>
          <a:lstStyle/>
          <a:p>
            <a:pPr marL="0" indent="0" algn="ctr">
              <a:buNone/>
            </a:pPr>
            <a:r>
              <a:rPr lang="en-US" sz="1180" dirty="0">
                <a:solidFill>
                  <a:srgbClr val="6E6A66"/>
                </a:solidFill>
                <a:latin typeface="Aptos" pitchFamily="34" charset="0"/>
                <a:ea typeface="Aptos" pitchFamily="34" charset="-122"/>
                <a:cs typeface="Aptos" pitchFamily="34" charset="-120"/>
              </a:rPr>
              <a:t>Registra y actualiza</a:t>
            </a:r>
            <a:endParaRPr lang="en-US" sz="1180" dirty="0"/>
          </a:p>
        </p:txBody>
      </p:sp>
      <p:sp>
        <p:nvSpPr>
          <p:cNvPr id="21" name="Shape 19"/>
          <p:cNvSpPr/>
          <p:nvPr/>
        </p:nvSpPr>
        <p:spPr>
          <a:xfrm>
            <a:off x="8494776" y="1856713"/>
            <a:ext cx="2916936" cy="950976"/>
          </a:xfrm>
          <a:prstGeom prst="roundRect">
            <a:avLst>
              <a:gd name="adj" fmla="val 11538"/>
            </a:avLst>
          </a:prstGeom>
          <a:solidFill>
            <a:srgbClr val="F5F0EB"/>
          </a:solidFill>
          <a:ln w="8890">
            <a:solidFill>
              <a:srgbClr val="DEDAD5"/>
            </a:solidFill>
            <a:prstDash val="solid"/>
          </a:ln>
        </p:spPr>
        <p:txBody>
          <a:bodyPr/>
          <a:lstStyle/>
          <a:p>
            <a:endParaRPr lang="en-US"/>
          </a:p>
        </p:txBody>
      </p:sp>
      <p:sp>
        <p:nvSpPr>
          <p:cNvPr id="22" name="Text 20"/>
          <p:cNvSpPr/>
          <p:nvPr/>
        </p:nvSpPr>
        <p:spPr>
          <a:xfrm>
            <a:off x="8613648" y="2012161"/>
            <a:ext cx="2679192" cy="310896"/>
          </a:xfrm>
          <a:prstGeom prst="rect">
            <a:avLst/>
          </a:prstGeom>
          <a:noFill/>
          <a:ln/>
        </p:spPr>
        <p:txBody>
          <a:bodyPr wrap="square" lIns="0" tIns="0" rIns="0" bIns="0" rtlCol="0" anchor="ctr">
            <a:normAutofit/>
          </a:bodyPr>
          <a:lstStyle/>
          <a:p>
            <a:pPr marL="0" indent="0" algn="ctr">
              <a:buNone/>
            </a:pPr>
            <a:r>
              <a:rPr lang="en-US" sz="1770" b="1" dirty="0">
                <a:solidFill>
                  <a:srgbClr val="292929"/>
                </a:solidFill>
                <a:latin typeface="Aptos" pitchFamily="34" charset="0"/>
                <a:ea typeface="Aptos" pitchFamily="34" charset="-122"/>
                <a:cs typeface="Aptos" pitchFamily="34" charset="-120"/>
              </a:rPr>
              <a:t>RecursoMedico</a:t>
            </a:r>
            <a:endParaRPr lang="en-US" sz="1770" dirty="0"/>
          </a:p>
        </p:txBody>
      </p:sp>
      <p:sp>
        <p:nvSpPr>
          <p:cNvPr id="23" name="Text 21"/>
          <p:cNvSpPr/>
          <p:nvPr/>
        </p:nvSpPr>
        <p:spPr>
          <a:xfrm>
            <a:off x="8604504" y="2423641"/>
            <a:ext cx="2697480" cy="201168"/>
          </a:xfrm>
          <a:prstGeom prst="rect">
            <a:avLst/>
          </a:prstGeom>
          <a:noFill/>
          <a:ln/>
        </p:spPr>
        <p:txBody>
          <a:bodyPr wrap="square" lIns="0" tIns="0" rIns="0" bIns="0" rtlCol="0" anchor="ctr">
            <a:normAutofit/>
          </a:bodyPr>
          <a:lstStyle/>
          <a:p>
            <a:pPr marL="0" indent="0" algn="ctr">
              <a:buNone/>
            </a:pPr>
            <a:r>
              <a:rPr lang="en-US" sz="1180" dirty="0">
                <a:solidFill>
                  <a:srgbClr val="6E6A66"/>
                </a:solidFill>
                <a:latin typeface="Aptos" pitchFamily="34" charset="0"/>
                <a:ea typeface="Aptos" pitchFamily="34" charset="-122"/>
                <a:cs typeface="Aptos" pitchFamily="34" charset="-120"/>
              </a:rPr>
              <a:t>Datos y reglas comunes</a:t>
            </a:r>
            <a:endParaRPr lang="en-US" sz="1180" dirty="0"/>
          </a:p>
        </p:txBody>
      </p:sp>
      <p:sp>
        <p:nvSpPr>
          <p:cNvPr id="24" name="Shape 22"/>
          <p:cNvSpPr/>
          <p:nvPr/>
        </p:nvSpPr>
        <p:spPr>
          <a:xfrm>
            <a:off x="768096" y="3722089"/>
            <a:ext cx="2788920" cy="932688"/>
          </a:xfrm>
          <a:prstGeom prst="roundRect">
            <a:avLst>
              <a:gd name="adj" fmla="val 11765"/>
            </a:avLst>
          </a:prstGeom>
          <a:solidFill>
            <a:srgbClr val="FFFFFF"/>
          </a:solidFill>
          <a:ln w="8890">
            <a:solidFill>
              <a:srgbClr val="DEDAD5"/>
            </a:solidFill>
            <a:prstDash val="solid"/>
          </a:ln>
        </p:spPr>
        <p:txBody>
          <a:bodyPr/>
          <a:lstStyle/>
          <a:p>
            <a:endParaRPr lang="en-US"/>
          </a:p>
        </p:txBody>
      </p:sp>
      <p:sp>
        <p:nvSpPr>
          <p:cNvPr id="25" name="Text 23"/>
          <p:cNvSpPr/>
          <p:nvPr/>
        </p:nvSpPr>
        <p:spPr>
          <a:xfrm>
            <a:off x="886968" y="3877537"/>
            <a:ext cx="2551176" cy="310896"/>
          </a:xfrm>
          <a:prstGeom prst="rect">
            <a:avLst/>
          </a:prstGeom>
          <a:noFill/>
          <a:ln/>
        </p:spPr>
        <p:txBody>
          <a:bodyPr wrap="square" lIns="0" tIns="0" rIns="0" bIns="0" rtlCol="0" anchor="ctr">
            <a:normAutofit/>
          </a:bodyPr>
          <a:lstStyle/>
          <a:p>
            <a:pPr marL="0" indent="0" algn="ctr">
              <a:buNone/>
            </a:pPr>
            <a:r>
              <a:rPr lang="en-US" sz="1770" b="1" dirty="0">
                <a:solidFill>
                  <a:srgbClr val="292929"/>
                </a:solidFill>
                <a:latin typeface="Aptos" pitchFamily="34" charset="0"/>
                <a:ea typeface="Aptos" pitchFamily="34" charset="-122"/>
                <a:cs typeface="Aptos" pitchFamily="34" charset="-120"/>
              </a:rPr>
              <a:t>RecursoFactory</a:t>
            </a:r>
            <a:endParaRPr lang="en-US" sz="1770" dirty="0"/>
          </a:p>
        </p:txBody>
      </p:sp>
      <p:sp>
        <p:nvSpPr>
          <p:cNvPr id="26" name="Text 24"/>
          <p:cNvSpPr/>
          <p:nvPr/>
        </p:nvSpPr>
        <p:spPr>
          <a:xfrm>
            <a:off x="877824" y="4289017"/>
            <a:ext cx="2569464" cy="201168"/>
          </a:xfrm>
          <a:prstGeom prst="rect">
            <a:avLst/>
          </a:prstGeom>
          <a:noFill/>
          <a:ln/>
        </p:spPr>
        <p:txBody>
          <a:bodyPr wrap="square" lIns="0" tIns="0" rIns="0" bIns="0" rtlCol="0" anchor="ctr">
            <a:normAutofit/>
          </a:bodyPr>
          <a:lstStyle/>
          <a:p>
            <a:pPr marL="0" indent="0" algn="ctr">
              <a:buNone/>
            </a:pPr>
            <a:r>
              <a:rPr lang="en-US" sz="1180" dirty="0">
                <a:solidFill>
                  <a:srgbClr val="6E6A66"/>
                </a:solidFill>
                <a:latin typeface="Aptos" pitchFamily="34" charset="0"/>
                <a:ea typeface="Aptos" pitchFamily="34" charset="-122"/>
                <a:cs typeface="Aptos" pitchFamily="34" charset="-120"/>
              </a:rPr>
              <a:t>Crea medicamentos e insumos</a:t>
            </a:r>
            <a:endParaRPr lang="en-US" sz="1180" dirty="0"/>
          </a:p>
        </p:txBody>
      </p:sp>
      <p:sp>
        <p:nvSpPr>
          <p:cNvPr id="27" name="Shape 25"/>
          <p:cNvSpPr/>
          <p:nvPr/>
        </p:nvSpPr>
        <p:spPr>
          <a:xfrm>
            <a:off x="4681728" y="3722089"/>
            <a:ext cx="2788920" cy="932688"/>
          </a:xfrm>
          <a:prstGeom prst="roundRect">
            <a:avLst>
              <a:gd name="adj" fmla="val 11765"/>
            </a:avLst>
          </a:prstGeom>
          <a:solidFill>
            <a:srgbClr val="FFFFFF"/>
          </a:solidFill>
          <a:ln w="8890">
            <a:solidFill>
              <a:srgbClr val="DEDAD5"/>
            </a:solidFill>
            <a:prstDash val="solid"/>
          </a:ln>
        </p:spPr>
        <p:txBody>
          <a:bodyPr/>
          <a:lstStyle/>
          <a:p>
            <a:endParaRPr lang="en-US"/>
          </a:p>
        </p:txBody>
      </p:sp>
      <p:sp>
        <p:nvSpPr>
          <p:cNvPr id="28" name="Text 26"/>
          <p:cNvSpPr/>
          <p:nvPr/>
        </p:nvSpPr>
        <p:spPr>
          <a:xfrm>
            <a:off x="4800600" y="3877537"/>
            <a:ext cx="2551176" cy="310896"/>
          </a:xfrm>
          <a:prstGeom prst="rect">
            <a:avLst/>
          </a:prstGeom>
          <a:noFill/>
          <a:ln/>
        </p:spPr>
        <p:txBody>
          <a:bodyPr wrap="square" lIns="0" tIns="0" rIns="0" bIns="0" rtlCol="0" anchor="ctr">
            <a:normAutofit/>
          </a:bodyPr>
          <a:lstStyle/>
          <a:p>
            <a:pPr marL="0" indent="0" algn="ctr">
              <a:buNone/>
            </a:pPr>
            <a:r>
              <a:rPr lang="en-US" sz="1770" b="1" dirty="0">
                <a:solidFill>
                  <a:srgbClr val="292929"/>
                </a:solidFill>
                <a:latin typeface="Aptos" pitchFamily="34" charset="0"/>
                <a:ea typeface="Aptos" pitchFamily="34" charset="-122"/>
                <a:cs typeface="Aptos" pitchFamily="34" charset="-120"/>
              </a:rPr>
              <a:t>AnalizadorInventario</a:t>
            </a:r>
            <a:endParaRPr lang="en-US" sz="1770" dirty="0"/>
          </a:p>
        </p:txBody>
      </p:sp>
      <p:sp>
        <p:nvSpPr>
          <p:cNvPr id="29" name="Text 27"/>
          <p:cNvSpPr/>
          <p:nvPr/>
        </p:nvSpPr>
        <p:spPr>
          <a:xfrm>
            <a:off x="4791456" y="4289017"/>
            <a:ext cx="2569464" cy="201168"/>
          </a:xfrm>
          <a:prstGeom prst="rect">
            <a:avLst/>
          </a:prstGeom>
          <a:noFill/>
          <a:ln/>
        </p:spPr>
        <p:txBody>
          <a:bodyPr wrap="square" lIns="0" tIns="0" rIns="0" bIns="0" rtlCol="0" anchor="ctr">
            <a:normAutofit/>
          </a:bodyPr>
          <a:lstStyle/>
          <a:p>
            <a:pPr marL="0" indent="0" algn="ctr">
              <a:buNone/>
            </a:pPr>
            <a:r>
              <a:rPr lang="en-US" sz="1180" dirty="0">
                <a:solidFill>
                  <a:srgbClr val="6E6A66"/>
                </a:solidFill>
                <a:latin typeface="Aptos" pitchFamily="34" charset="0"/>
                <a:ea typeface="Aptos" pitchFamily="34" charset="-122"/>
                <a:cs typeface="Aptos" pitchFamily="34" charset="-120"/>
              </a:rPr>
              <a:t>Filtra, ordena y resume</a:t>
            </a:r>
            <a:endParaRPr lang="en-US" sz="1180" dirty="0"/>
          </a:p>
        </p:txBody>
      </p:sp>
      <p:sp>
        <p:nvSpPr>
          <p:cNvPr id="30" name="Shape 28"/>
          <p:cNvSpPr/>
          <p:nvPr/>
        </p:nvSpPr>
        <p:spPr>
          <a:xfrm>
            <a:off x="8499348" y="3750513"/>
            <a:ext cx="1339595" cy="433816"/>
          </a:xfrm>
          <a:prstGeom prst="roundRect">
            <a:avLst>
              <a:gd name="adj" fmla="val 12000"/>
            </a:avLst>
          </a:prstGeom>
          <a:solidFill>
            <a:srgbClr val="FFFFFF"/>
          </a:solidFill>
          <a:ln w="8890">
            <a:solidFill>
              <a:srgbClr val="DEDAD5"/>
            </a:solidFill>
            <a:prstDash val="solid"/>
          </a:ln>
        </p:spPr>
        <p:txBody>
          <a:bodyPr/>
          <a:lstStyle/>
          <a:p>
            <a:endParaRPr lang="en-US"/>
          </a:p>
        </p:txBody>
      </p:sp>
      <p:sp>
        <p:nvSpPr>
          <p:cNvPr id="31" name="Text 29"/>
          <p:cNvSpPr/>
          <p:nvPr/>
        </p:nvSpPr>
        <p:spPr>
          <a:xfrm>
            <a:off x="8618220" y="3823876"/>
            <a:ext cx="1138269" cy="310896"/>
          </a:xfrm>
          <a:prstGeom prst="rect">
            <a:avLst/>
          </a:prstGeom>
          <a:noFill/>
          <a:ln/>
        </p:spPr>
        <p:txBody>
          <a:bodyPr wrap="square" lIns="0" tIns="0" rIns="0" bIns="0" rtlCol="0" anchor="ctr">
            <a:normAutofit/>
          </a:bodyPr>
          <a:lstStyle/>
          <a:p>
            <a:pPr marL="0" indent="0" algn="ctr">
              <a:buNone/>
            </a:pPr>
            <a:r>
              <a:rPr lang="en-US" sz="1400" b="1" dirty="0">
                <a:solidFill>
                  <a:srgbClr val="292929"/>
                </a:solidFill>
                <a:latin typeface="Aptos" pitchFamily="34" charset="0"/>
                <a:ea typeface="Aptos" pitchFamily="34" charset="-122"/>
                <a:cs typeface="Aptos" pitchFamily="34" charset="-120"/>
              </a:rPr>
              <a:t>Medicamento</a:t>
            </a:r>
            <a:endParaRPr lang="en-US" sz="1400" dirty="0"/>
          </a:p>
        </p:txBody>
      </p:sp>
      <p:sp>
        <p:nvSpPr>
          <p:cNvPr id="32" name="Shape 30"/>
          <p:cNvSpPr/>
          <p:nvPr/>
        </p:nvSpPr>
        <p:spPr>
          <a:xfrm>
            <a:off x="10016289" y="3763959"/>
            <a:ext cx="1395423" cy="425313"/>
          </a:xfrm>
          <a:prstGeom prst="roundRect">
            <a:avLst>
              <a:gd name="adj" fmla="val 12000"/>
            </a:avLst>
          </a:prstGeom>
          <a:solidFill>
            <a:srgbClr val="FFFFFF"/>
          </a:solidFill>
          <a:ln w="8890">
            <a:solidFill>
              <a:srgbClr val="DEDAD5"/>
            </a:solidFill>
            <a:prstDash val="solid"/>
          </a:ln>
        </p:spPr>
        <p:txBody>
          <a:bodyPr/>
          <a:lstStyle/>
          <a:p>
            <a:endParaRPr lang="en-US"/>
          </a:p>
        </p:txBody>
      </p:sp>
      <p:sp>
        <p:nvSpPr>
          <p:cNvPr id="33" name="Text 31"/>
          <p:cNvSpPr/>
          <p:nvPr/>
        </p:nvSpPr>
        <p:spPr>
          <a:xfrm>
            <a:off x="10107134" y="3835884"/>
            <a:ext cx="1185706" cy="304802"/>
          </a:xfrm>
          <a:prstGeom prst="rect">
            <a:avLst/>
          </a:prstGeom>
          <a:noFill/>
          <a:ln/>
        </p:spPr>
        <p:txBody>
          <a:bodyPr wrap="square" lIns="0" tIns="0" rIns="0" bIns="0" rtlCol="0" anchor="ctr">
            <a:normAutofit fontScale="92500"/>
          </a:bodyPr>
          <a:lstStyle/>
          <a:p>
            <a:pPr marL="0" indent="0" algn="ctr">
              <a:buNone/>
            </a:pPr>
            <a:r>
              <a:rPr lang="en-US" sz="1400" b="1" dirty="0">
                <a:solidFill>
                  <a:srgbClr val="292929"/>
                </a:solidFill>
                <a:latin typeface="Aptos" pitchFamily="34" charset="0"/>
                <a:ea typeface="Aptos" pitchFamily="34" charset="-122"/>
                <a:cs typeface="Aptos" pitchFamily="34" charset="-120"/>
              </a:rPr>
              <a:t>InsumoMedico</a:t>
            </a:r>
            <a:endParaRPr lang="en-US" sz="1400" dirty="0"/>
          </a:p>
        </p:txBody>
      </p:sp>
      <p:sp>
        <p:nvSpPr>
          <p:cNvPr id="34" name="Shape 32"/>
          <p:cNvSpPr/>
          <p:nvPr/>
        </p:nvSpPr>
        <p:spPr>
          <a:xfrm>
            <a:off x="1124712" y="5358384"/>
            <a:ext cx="9884664" cy="649224"/>
          </a:xfrm>
          <a:prstGeom prst="roundRect">
            <a:avLst>
              <a:gd name="adj" fmla="val 11268"/>
            </a:avLst>
          </a:prstGeom>
          <a:solidFill>
            <a:srgbClr val="F1EDE9"/>
          </a:solidFill>
          <a:ln w="12700">
            <a:solidFill>
              <a:srgbClr val="F1EDE9">
                <a:alpha val="0"/>
              </a:srgbClr>
            </a:solidFill>
            <a:prstDash val="solid"/>
          </a:ln>
        </p:spPr>
        <p:txBody>
          <a:bodyPr/>
          <a:lstStyle/>
          <a:p>
            <a:endParaRPr lang="en-US"/>
          </a:p>
        </p:txBody>
      </p:sp>
      <p:sp>
        <p:nvSpPr>
          <p:cNvPr id="35" name="Text 33"/>
          <p:cNvSpPr/>
          <p:nvPr/>
        </p:nvSpPr>
        <p:spPr>
          <a:xfrm>
            <a:off x="1353312" y="5532120"/>
            <a:ext cx="1243584" cy="246888"/>
          </a:xfrm>
          <a:prstGeom prst="rect">
            <a:avLst/>
          </a:prstGeom>
          <a:noFill/>
          <a:ln/>
        </p:spPr>
        <p:txBody>
          <a:bodyPr wrap="square" lIns="0" tIns="0" rIns="0" bIns="0" rtlCol="0" anchor="ctr">
            <a:normAutofit/>
          </a:bodyPr>
          <a:lstStyle/>
          <a:p>
            <a:pPr marL="0" indent="0" algn="l">
              <a:buNone/>
            </a:pPr>
            <a:r>
              <a:rPr lang="en-US" sz="1440" b="1" dirty="0">
                <a:solidFill>
                  <a:srgbClr val="A77958"/>
                </a:solidFill>
                <a:latin typeface="Aptos" pitchFamily="34" charset="0"/>
                <a:ea typeface="Aptos" pitchFamily="34" charset="-122"/>
                <a:cs typeface="Aptos" pitchFamily="34" charset="-120"/>
              </a:rPr>
              <a:t>Singleton:</a:t>
            </a:r>
            <a:endParaRPr lang="en-US" sz="1440" dirty="0"/>
          </a:p>
        </p:txBody>
      </p:sp>
      <p:sp>
        <p:nvSpPr>
          <p:cNvPr id="36" name="Text 34"/>
          <p:cNvSpPr/>
          <p:nvPr/>
        </p:nvSpPr>
        <p:spPr>
          <a:xfrm>
            <a:off x="2633472" y="5532120"/>
            <a:ext cx="2752344" cy="246888"/>
          </a:xfrm>
          <a:prstGeom prst="rect">
            <a:avLst/>
          </a:prstGeom>
          <a:noFill/>
          <a:ln/>
        </p:spPr>
        <p:txBody>
          <a:bodyPr wrap="square" lIns="0" tIns="0" rIns="0" bIns="0" rtlCol="0" anchor="ctr">
            <a:normAutofit/>
          </a:bodyPr>
          <a:lstStyle/>
          <a:p>
            <a:pPr marL="0" indent="0" algn="l">
              <a:buNone/>
            </a:pPr>
            <a:r>
              <a:rPr lang="en-US" sz="1440" dirty="0">
                <a:solidFill>
                  <a:srgbClr val="292929"/>
                </a:solidFill>
                <a:latin typeface="Aptos" pitchFamily="34" charset="0"/>
                <a:ea typeface="Aptos" pitchFamily="34" charset="-122"/>
                <a:cs typeface="Aptos" pitchFamily="34" charset="-120"/>
              </a:rPr>
              <a:t>un inventario compartido</a:t>
            </a:r>
            <a:endParaRPr lang="en-US" sz="1440" dirty="0"/>
          </a:p>
        </p:txBody>
      </p:sp>
      <p:sp>
        <p:nvSpPr>
          <p:cNvPr id="37" name="Text 35"/>
          <p:cNvSpPr/>
          <p:nvPr/>
        </p:nvSpPr>
        <p:spPr>
          <a:xfrm>
            <a:off x="6108192" y="5532120"/>
            <a:ext cx="960120" cy="246888"/>
          </a:xfrm>
          <a:prstGeom prst="rect">
            <a:avLst/>
          </a:prstGeom>
          <a:noFill/>
          <a:ln/>
        </p:spPr>
        <p:txBody>
          <a:bodyPr wrap="square" lIns="0" tIns="0" rIns="0" bIns="0" rtlCol="0" anchor="ctr">
            <a:normAutofit/>
          </a:bodyPr>
          <a:lstStyle/>
          <a:p>
            <a:pPr marL="0" indent="0" algn="l">
              <a:buNone/>
            </a:pPr>
            <a:r>
              <a:rPr lang="en-US" sz="1440" b="1" dirty="0">
                <a:solidFill>
                  <a:srgbClr val="A77958"/>
                </a:solidFill>
                <a:latin typeface="Aptos" pitchFamily="34" charset="0"/>
                <a:ea typeface="Aptos" pitchFamily="34" charset="-122"/>
                <a:cs typeface="Aptos" pitchFamily="34" charset="-120"/>
              </a:rPr>
              <a:t>Factory:</a:t>
            </a:r>
            <a:endParaRPr lang="en-US" sz="1440" dirty="0"/>
          </a:p>
        </p:txBody>
      </p:sp>
      <p:sp>
        <p:nvSpPr>
          <p:cNvPr id="38" name="Text 36"/>
          <p:cNvSpPr/>
          <p:nvPr/>
        </p:nvSpPr>
        <p:spPr>
          <a:xfrm>
            <a:off x="7123176" y="5532120"/>
            <a:ext cx="3410712" cy="246888"/>
          </a:xfrm>
          <a:prstGeom prst="rect">
            <a:avLst/>
          </a:prstGeom>
          <a:noFill/>
          <a:ln/>
        </p:spPr>
        <p:txBody>
          <a:bodyPr wrap="square" lIns="0" tIns="0" rIns="0" bIns="0" rtlCol="0" anchor="ctr">
            <a:normAutofit/>
          </a:bodyPr>
          <a:lstStyle/>
          <a:p>
            <a:pPr marL="0" indent="0" algn="l">
              <a:buNone/>
            </a:pPr>
            <a:r>
              <a:rPr lang="en-US" sz="1440" dirty="0">
                <a:solidFill>
                  <a:srgbClr val="292929"/>
                </a:solidFill>
                <a:latin typeface="Aptos" pitchFamily="34" charset="0"/>
                <a:ea typeface="Aptos" pitchFamily="34" charset="-122"/>
                <a:cs typeface="Aptos" pitchFamily="34" charset="-120"/>
              </a:rPr>
              <a:t>un lugar para crear productos</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2122826"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06  ·  REGLA Y CÓDIGO</a:t>
            </a:r>
            <a:endParaRPr lang="en-US" sz="1120" dirty="0"/>
          </a:p>
        </p:txBody>
      </p:sp>
      <p:sp>
        <p:nvSpPr>
          <p:cNvPr id="4" name="Text 2"/>
          <p:cNvSpPr/>
          <p:nvPr/>
        </p:nvSpPr>
        <p:spPr>
          <a:xfrm>
            <a:off x="621792" y="914400"/>
            <a:ext cx="7621559"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Primero entendemos la regla; luego vemos Java</a:t>
            </a:r>
            <a:endParaRPr lang="en-US" sz="2950" dirty="0"/>
          </a:p>
        </p:txBody>
      </p:sp>
      <p:sp>
        <p:nvSpPr>
          <p:cNvPr id="5" name="Text 3"/>
          <p:cNvSpPr/>
          <p:nvPr/>
        </p:nvSpPr>
        <p:spPr>
          <a:xfrm>
            <a:off x="649224" y="1527048"/>
            <a:ext cx="6488767"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Ejemplo: si quedan 8 unidades y el mínimo es 20, el producto es crítico.</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06 / 09</a:t>
            </a:r>
            <a:endParaRPr lang="en-US" sz="910" dirty="0"/>
          </a:p>
        </p:txBody>
      </p:sp>
      <p:sp>
        <p:nvSpPr>
          <p:cNvPr id="9" name="Shape 7"/>
          <p:cNvSpPr/>
          <p:nvPr/>
        </p:nvSpPr>
        <p:spPr>
          <a:xfrm>
            <a:off x="713232" y="2369499"/>
            <a:ext cx="4672584" cy="3108960"/>
          </a:xfrm>
          <a:prstGeom prst="roundRect">
            <a:avLst>
              <a:gd name="adj" fmla="val 3529"/>
            </a:avLst>
          </a:prstGeom>
          <a:solidFill>
            <a:srgbClr val="F5F0EB"/>
          </a:solidFill>
          <a:ln w="12700">
            <a:solidFill>
              <a:srgbClr val="F5F0EB">
                <a:alpha val="0"/>
              </a:srgbClr>
            </a:solidFill>
            <a:prstDash val="solid"/>
          </a:ln>
        </p:spPr>
        <p:txBody>
          <a:bodyPr/>
          <a:lstStyle/>
          <a:p>
            <a:endParaRPr lang="en-US"/>
          </a:p>
        </p:txBody>
      </p:sp>
      <p:sp>
        <p:nvSpPr>
          <p:cNvPr id="10" name="Text 8"/>
          <p:cNvSpPr/>
          <p:nvPr/>
        </p:nvSpPr>
        <p:spPr>
          <a:xfrm>
            <a:off x="969264" y="2689539"/>
            <a:ext cx="1802289" cy="393192"/>
          </a:xfrm>
          <a:prstGeom prst="rect">
            <a:avLst/>
          </a:prstGeom>
          <a:noFill/>
          <a:ln/>
        </p:spPr>
        <p:txBody>
          <a:bodyPr wrap="square" lIns="0" tIns="0" rIns="0" bIns="0" rtlCol="0" anchor="ctr">
            <a:normAutofit/>
          </a:bodyPr>
          <a:lstStyle/>
          <a:p>
            <a:pPr marL="0" indent="0" algn="l">
              <a:buNone/>
            </a:pPr>
            <a:r>
              <a:rPr lang="en-US" sz="2200" b="1" dirty="0">
                <a:solidFill>
                  <a:srgbClr val="292929"/>
                </a:solidFill>
                <a:latin typeface="Aptos" pitchFamily="34" charset="0"/>
                <a:ea typeface="Aptos" pitchFamily="34" charset="-122"/>
                <a:cs typeface="Aptos" pitchFamily="34" charset="-120"/>
              </a:rPr>
              <a:t>Paracetamol</a:t>
            </a:r>
            <a:endParaRPr lang="en-US" sz="2200" dirty="0"/>
          </a:p>
        </p:txBody>
      </p:sp>
      <p:sp>
        <p:nvSpPr>
          <p:cNvPr id="11" name="Text 9"/>
          <p:cNvSpPr/>
          <p:nvPr/>
        </p:nvSpPr>
        <p:spPr>
          <a:xfrm>
            <a:off x="950976" y="3210747"/>
            <a:ext cx="445433" cy="777240"/>
          </a:xfrm>
          <a:prstGeom prst="rect">
            <a:avLst/>
          </a:prstGeom>
          <a:noFill/>
          <a:ln/>
        </p:spPr>
        <p:txBody>
          <a:bodyPr wrap="square" lIns="0" tIns="0" rIns="0" bIns="0" rtlCol="0" anchor="ctr">
            <a:normAutofit/>
          </a:bodyPr>
          <a:lstStyle/>
          <a:p>
            <a:pPr marL="0" indent="0" algn="l">
              <a:buNone/>
            </a:pPr>
            <a:r>
              <a:rPr lang="en-US" sz="4900" b="1" dirty="0">
                <a:solidFill>
                  <a:srgbClr val="A77958"/>
                </a:solidFill>
                <a:latin typeface="Aptos Display" pitchFamily="34" charset="0"/>
                <a:ea typeface="Aptos Display" pitchFamily="34" charset="-122"/>
                <a:cs typeface="Aptos Display" pitchFamily="34" charset="-120"/>
              </a:rPr>
              <a:t>8</a:t>
            </a:r>
            <a:endParaRPr lang="en-US" sz="4900" dirty="0"/>
          </a:p>
        </p:txBody>
      </p:sp>
      <p:sp>
        <p:nvSpPr>
          <p:cNvPr id="12" name="Text 10"/>
          <p:cNvSpPr/>
          <p:nvPr/>
        </p:nvSpPr>
        <p:spPr>
          <a:xfrm>
            <a:off x="2130552" y="3448491"/>
            <a:ext cx="2235885" cy="320040"/>
          </a:xfrm>
          <a:prstGeom prst="rect">
            <a:avLst/>
          </a:prstGeom>
          <a:noFill/>
          <a:ln/>
        </p:spPr>
        <p:txBody>
          <a:bodyPr wrap="square" lIns="0" tIns="0" rIns="0" bIns="0" rtlCol="0" anchor="ctr">
            <a:normAutofit/>
          </a:bodyPr>
          <a:lstStyle/>
          <a:p>
            <a:pPr marL="0" indent="0" algn="l">
              <a:buNone/>
            </a:pPr>
            <a:r>
              <a:rPr lang="en-US" sz="1610" dirty="0">
                <a:solidFill>
                  <a:srgbClr val="292929"/>
                </a:solidFill>
                <a:latin typeface="Aptos" pitchFamily="34" charset="0"/>
                <a:ea typeface="Aptos" pitchFamily="34" charset="-122"/>
                <a:cs typeface="Aptos" pitchFamily="34" charset="-120"/>
              </a:rPr>
              <a:t>de 20 unidades mínimas</a:t>
            </a:r>
            <a:endParaRPr lang="en-US" sz="1610" dirty="0"/>
          </a:p>
        </p:txBody>
      </p:sp>
      <p:sp>
        <p:nvSpPr>
          <p:cNvPr id="13" name="Shape 11"/>
          <p:cNvSpPr/>
          <p:nvPr/>
        </p:nvSpPr>
        <p:spPr>
          <a:xfrm>
            <a:off x="969264" y="4244019"/>
            <a:ext cx="4105656" cy="0"/>
          </a:xfrm>
          <a:prstGeom prst="line">
            <a:avLst/>
          </a:prstGeom>
          <a:noFill/>
          <a:ln w="31750">
            <a:solidFill>
              <a:srgbClr val="D6C7BB"/>
            </a:solidFill>
            <a:prstDash val="solid"/>
          </a:ln>
        </p:spPr>
        <p:txBody>
          <a:bodyPr/>
          <a:lstStyle/>
          <a:p>
            <a:endParaRPr lang="en-US"/>
          </a:p>
        </p:txBody>
      </p:sp>
      <p:sp>
        <p:nvSpPr>
          <p:cNvPr id="14" name="Shape 12"/>
          <p:cNvSpPr/>
          <p:nvPr/>
        </p:nvSpPr>
        <p:spPr>
          <a:xfrm>
            <a:off x="969264" y="4143435"/>
            <a:ext cx="1655064" cy="192024"/>
          </a:xfrm>
          <a:prstGeom prst="roundRect">
            <a:avLst>
              <a:gd name="adj" fmla="val 14286"/>
            </a:avLst>
          </a:prstGeom>
          <a:solidFill>
            <a:srgbClr val="A77958"/>
          </a:solidFill>
          <a:ln w="12700">
            <a:solidFill>
              <a:srgbClr val="A77958">
                <a:alpha val="0"/>
              </a:srgbClr>
            </a:solidFill>
            <a:prstDash val="solid"/>
          </a:ln>
        </p:spPr>
        <p:txBody>
          <a:bodyPr/>
          <a:lstStyle/>
          <a:p>
            <a:endParaRPr lang="en-US"/>
          </a:p>
        </p:txBody>
      </p:sp>
      <p:sp>
        <p:nvSpPr>
          <p:cNvPr id="15" name="Shape 13"/>
          <p:cNvSpPr/>
          <p:nvPr/>
        </p:nvSpPr>
        <p:spPr>
          <a:xfrm>
            <a:off x="978408" y="4573203"/>
            <a:ext cx="1380744" cy="356616"/>
          </a:xfrm>
          <a:prstGeom prst="roundRect">
            <a:avLst>
              <a:gd name="adj" fmla="val 30769"/>
            </a:avLst>
          </a:prstGeom>
          <a:solidFill>
            <a:srgbClr val="C00000"/>
          </a:solidFill>
          <a:ln w="12700">
            <a:solidFill>
              <a:srgbClr val="F7ECE8">
                <a:alpha val="0"/>
              </a:srgbClr>
            </a:solidFill>
            <a:prstDash val="solid"/>
          </a:ln>
        </p:spPr>
        <p:txBody>
          <a:bodyPr/>
          <a:lstStyle/>
          <a:p>
            <a:endParaRPr lang="en-US"/>
          </a:p>
        </p:txBody>
      </p:sp>
      <p:sp>
        <p:nvSpPr>
          <p:cNvPr id="16" name="Text 14"/>
          <p:cNvSpPr/>
          <p:nvPr/>
        </p:nvSpPr>
        <p:spPr>
          <a:xfrm>
            <a:off x="1088136" y="4600635"/>
            <a:ext cx="1161288" cy="283464"/>
          </a:xfrm>
          <a:prstGeom prst="rect">
            <a:avLst/>
          </a:prstGeom>
          <a:noFill/>
          <a:ln/>
        </p:spPr>
        <p:txBody>
          <a:bodyPr wrap="square" lIns="0" tIns="0" rIns="0" bIns="0" rtlCol="0" anchor="ctr">
            <a:normAutofit/>
          </a:bodyPr>
          <a:lstStyle/>
          <a:p>
            <a:pPr marL="0" indent="0" algn="ctr">
              <a:buNone/>
            </a:pPr>
            <a:r>
              <a:rPr lang="en-US" sz="1240" b="1" dirty="0">
                <a:solidFill>
                  <a:schemeClr val="bg1"/>
                </a:solidFill>
                <a:latin typeface="Aptos" pitchFamily="34" charset="0"/>
                <a:ea typeface="Aptos" pitchFamily="34" charset="-122"/>
                <a:cs typeface="Aptos" pitchFamily="34" charset="-120"/>
              </a:rPr>
              <a:t>CRÍTICO</a:t>
            </a:r>
            <a:endParaRPr lang="en-US" sz="1240" dirty="0">
              <a:solidFill>
                <a:schemeClr val="bg1"/>
              </a:solidFill>
            </a:endParaRPr>
          </a:p>
        </p:txBody>
      </p:sp>
      <p:sp>
        <p:nvSpPr>
          <p:cNvPr id="17" name="Text 15"/>
          <p:cNvSpPr/>
          <p:nvPr/>
        </p:nvSpPr>
        <p:spPr>
          <a:xfrm>
            <a:off x="2587752" y="4609779"/>
            <a:ext cx="1927541" cy="274320"/>
          </a:xfrm>
          <a:prstGeom prst="rect">
            <a:avLst/>
          </a:prstGeom>
          <a:noFill/>
          <a:ln/>
        </p:spPr>
        <p:txBody>
          <a:bodyPr wrap="square" lIns="0" tIns="0" rIns="0" bIns="0" rtlCol="0" anchor="ctr">
            <a:normAutofit/>
          </a:bodyPr>
          <a:lstStyle/>
          <a:p>
            <a:pPr marL="0" indent="0" algn="l">
              <a:buNone/>
            </a:pPr>
            <a:r>
              <a:rPr lang="en-US" sz="1700" b="1" dirty="0">
                <a:solidFill>
                  <a:srgbClr val="292929"/>
                </a:solidFill>
                <a:latin typeface="Aptos" pitchFamily="34" charset="0"/>
                <a:ea typeface="Aptos" pitchFamily="34" charset="-122"/>
                <a:cs typeface="Aptos" pitchFamily="34" charset="-120"/>
              </a:rPr>
              <a:t>Faltan 12 unidades</a:t>
            </a:r>
            <a:endParaRPr lang="en-US" sz="1700" dirty="0"/>
          </a:p>
        </p:txBody>
      </p:sp>
      <p:sp>
        <p:nvSpPr>
          <p:cNvPr id="18" name="Shape 16"/>
          <p:cNvSpPr/>
          <p:nvPr/>
        </p:nvSpPr>
        <p:spPr>
          <a:xfrm>
            <a:off x="5641848" y="2369499"/>
            <a:ext cx="5833872" cy="3108960"/>
          </a:xfrm>
          <a:prstGeom prst="roundRect">
            <a:avLst>
              <a:gd name="adj" fmla="val 3529"/>
            </a:avLst>
          </a:prstGeom>
          <a:solidFill>
            <a:srgbClr val="FFFFFF"/>
          </a:solidFill>
          <a:ln w="8890">
            <a:solidFill>
              <a:srgbClr val="DEDAD5"/>
            </a:solidFill>
            <a:prstDash val="solid"/>
          </a:ln>
        </p:spPr>
        <p:txBody>
          <a:bodyPr/>
          <a:lstStyle/>
          <a:p>
            <a:endParaRPr lang="en-US"/>
          </a:p>
        </p:txBody>
      </p:sp>
      <p:sp>
        <p:nvSpPr>
          <p:cNvPr id="19" name="Text 17"/>
          <p:cNvSpPr/>
          <p:nvPr/>
        </p:nvSpPr>
        <p:spPr>
          <a:xfrm>
            <a:off x="5916168" y="2698683"/>
            <a:ext cx="2845060" cy="347472"/>
          </a:xfrm>
          <a:prstGeom prst="rect">
            <a:avLst/>
          </a:prstGeom>
          <a:noFill/>
          <a:ln/>
        </p:spPr>
        <p:txBody>
          <a:bodyPr wrap="square" lIns="0" tIns="0" rIns="0" bIns="0" rtlCol="0" anchor="ctr">
            <a:normAutofit/>
          </a:bodyPr>
          <a:lstStyle/>
          <a:p>
            <a:pPr marL="0" indent="0" algn="l">
              <a:buNone/>
            </a:pPr>
            <a:r>
              <a:rPr lang="en-US" sz="1900" b="1" dirty="0">
                <a:solidFill>
                  <a:srgbClr val="292929"/>
                </a:solidFill>
                <a:latin typeface="Aptos" pitchFamily="34" charset="0"/>
                <a:ea typeface="Aptos" pitchFamily="34" charset="-122"/>
                <a:cs typeface="Aptos" pitchFamily="34" charset="-120"/>
              </a:rPr>
              <a:t>Regla en RecursoMedico</a:t>
            </a:r>
            <a:endParaRPr lang="en-US" sz="1900" dirty="0"/>
          </a:p>
        </p:txBody>
      </p:sp>
      <p:sp>
        <p:nvSpPr>
          <p:cNvPr id="20" name="Shape 18"/>
          <p:cNvSpPr/>
          <p:nvPr/>
        </p:nvSpPr>
        <p:spPr>
          <a:xfrm>
            <a:off x="5916168" y="3238179"/>
            <a:ext cx="5276088" cy="594360"/>
          </a:xfrm>
          <a:prstGeom prst="roundRect">
            <a:avLst>
              <a:gd name="adj" fmla="val 9231"/>
            </a:avLst>
          </a:prstGeom>
          <a:solidFill>
            <a:srgbClr val="F2F1EF"/>
          </a:solidFill>
          <a:ln w="12700">
            <a:solidFill>
              <a:srgbClr val="F2F1EF">
                <a:alpha val="0"/>
              </a:srgbClr>
            </a:solidFill>
            <a:prstDash val="solid"/>
          </a:ln>
        </p:spPr>
        <p:txBody>
          <a:bodyPr/>
          <a:lstStyle/>
          <a:p>
            <a:endParaRPr lang="en-US"/>
          </a:p>
        </p:txBody>
      </p:sp>
      <p:pic>
        <p:nvPicPr>
          <p:cNvPr id="21" name="Image 0" descr="/mnt/data/_ppt_rebuild/assets/code_rule.png"/>
          <p:cNvPicPr>
            <a:picLocks noChangeAspect="1"/>
          </p:cNvPicPr>
          <p:nvPr/>
        </p:nvPicPr>
        <p:blipFill>
          <a:blip r:embed="rId3"/>
          <a:stretch>
            <a:fillRect/>
          </a:stretch>
        </p:blipFill>
        <p:spPr>
          <a:xfrm>
            <a:off x="6080760" y="3366195"/>
            <a:ext cx="4992624" cy="374904"/>
          </a:xfrm>
          <a:prstGeom prst="rect">
            <a:avLst/>
          </a:prstGeom>
        </p:spPr>
      </p:pic>
      <p:sp>
        <p:nvSpPr>
          <p:cNvPr id="22" name="Text 19"/>
          <p:cNvSpPr/>
          <p:nvPr/>
        </p:nvSpPr>
        <p:spPr>
          <a:xfrm>
            <a:off x="5916168" y="4225731"/>
            <a:ext cx="3135683" cy="283464"/>
          </a:xfrm>
          <a:prstGeom prst="rect">
            <a:avLst/>
          </a:prstGeom>
          <a:noFill/>
          <a:ln/>
        </p:spPr>
        <p:txBody>
          <a:bodyPr wrap="square" lIns="0" tIns="0" rIns="0" bIns="0" rtlCol="0" anchor="ctr">
            <a:normAutofit/>
          </a:bodyPr>
          <a:lstStyle/>
          <a:p>
            <a:pPr marL="0" indent="0" algn="l">
              <a:buNone/>
            </a:pPr>
            <a:r>
              <a:rPr lang="en-US" sz="1640" dirty="0">
                <a:solidFill>
                  <a:srgbClr val="292929"/>
                </a:solidFill>
                <a:latin typeface="Aptos" pitchFamily="34" charset="0"/>
                <a:ea typeface="Aptos" pitchFamily="34" charset="-122"/>
                <a:cs typeface="Aptos" pitchFamily="34" charset="-120"/>
              </a:rPr>
              <a:t>Y para encontrar solo los críticos:</a:t>
            </a:r>
            <a:endParaRPr lang="en-US" sz="1640" dirty="0"/>
          </a:p>
        </p:txBody>
      </p:sp>
      <p:sp>
        <p:nvSpPr>
          <p:cNvPr id="23" name="Shape 20"/>
          <p:cNvSpPr/>
          <p:nvPr/>
        </p:nvSpPr>
        <p:spPr>
          <a:xfrm>
            <a:off x="5916168" y="4682931"/>
            <a:ext cx="5276088" cy="493776"/>
          </a:xfrm>
          <a:prstGeom prst="roundRect">
            <a:avLst>
              <a:gd name="adj" fmla="val 11111"/>
            </a:avLst>
          </a:prstGeom>
          <a:solidFill>
            <a:srgbClr val="F2F1EF"/>
          </a:solidFill>
          <a:ln w="12700">
            <a:solidFill>
              <a:srgbClr val="F2F1EF">
                <a:alpha val="0"/>
              </a:srgbClr>
            </a:solidFill>
            <a:prstDash val="solid"/>
          </a:ln>
        </p:spPr>
        <p:txBody>
          <a:bodyPr/>
          <a:lstStyle/>
          <a:p>
            <a:endParaRPr lang="en-US"/>
          </a:p>
        </p:txBody>
      </p:sp>
      <p:pic>
        <p:nvPicPr>
          <p:cNvPr id="24" name="Image 1" descr="/mnt/data/_ppt_rebuild/assets/code_filter.png"/>
          <p:cNvPicPr>
            <a:picLocks noChangeAspect="1"/>
          </p:cNvPicPr>
          <p:nvPr/>
        </p:nvPicPr>
        <p:blipFill>
          <a:blip r:embed="rId4"/>
          <a:stretch>
            <a:fillRect/>
          </a:stretch>
        </p:blipFill>
        <p:spPr>
          <a:xfrm>
            <a:off x="6080760" y="4737795"/>
            <a:ext cx="5001768"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2831450"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07  ·  INTERFAZ DE ESCRITORIO</a:t>
            </a:r>
            <a:endParaRPr lang="en-US" sz="1120" dirty="0"/>
          </a:p>
        </p:txBody>
      </p:sp>
      <p:sp>
        <p:nvSpPr>
          <p:cNvPr id="4" name="Text 2"/>
          <p:cNvSpPr/>
          <p:nvPr/>
        </p:nvSpPr>
        <p:spPr>
          <a:xfrm>
            <a:off x="621792" y="914400"/>
            <a:ext cx="7296912"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¿Qué sucede cuando presionamos un botón?</a:t>
            </a:r>
            <a:endParaRPr lang="en-US" sz="2950" dirty="0"/>
          </a:p>
        </p:txBody>
      </p:sp>
      <p:sp>
        <p:nvSpPr>
          <p:cNvPr id="5" name="Text 3"/>
          <p:cNvSpPr/>
          <p:nvPr/>
        </p:nvSpPr>
        <p:spPr>
          <a:xfrm>
            <a:off x="649224" y="1527048"/>
            <a:ext cx="6219409"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Esta es la aplicación Java Swing ejecutándose con registros ficticios.</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07 / 09</a:t>
            </a:r>
            <a:endParaRPr lang="en-US" sz="910" dirty="0"/>
          </a:p>
        </p:txBody>
      </p:sp>
      <p:sp>
        <p:nvSpPr>
          <p:cNvPr id="9" name="Shape 7"/>
          <p:cNvSpPr/>
          <p:nvPr/>
        </p:nvSpPr>
        <p:spPr>
          <a:xfrm>
            <a:off x="704088" y="2057400"/>
            <a:ext cx="6473952" cy="4109484"/>
          </a:xfrm>
          <a:prstGeom prst="roundRect">
            <a:avLst>
              <a:gd name="adj" fmla="val 2759"/>
            </a:avLst>
          </a:prstGeom>
          <a:solidFill>
            <a:srgbClr val="FFFFFF"/>
          </a:solidFill>
          <a:ln w="8890">
            <a:solidFill>
              <a:srgbClr val="DEDAD5"/>
            </a:solidFill>
            <a:prstDash val="solid"/>
          </a:ln>
        </p:spPr>
        <p:txBody>
          <a:bodyPr/>
          <a:lstStyle/>
          <a:p>
            <a:endParaRPr lang="en-US"/>
          </a:p>
        </p:txBody>
      </p:sp>
      <p:pic>
        <p:nvPicPr>
          <p:cNvPr id="10" name="Image 0" descr="/mnt/data/_ppt_rebuild/assets/app_real.png"/>
          <p:cNvPicPr>
            <a:picLocks noChangeAspect="1"/>
          </p:cNvPicPr>
          <p:nvPr/>
        </p:nvPicPr>
        <p:blipFill>
          <a:blip r:embed="rId3"/>
          <a:stretch>
            <a:fillRect/>
          </a:stretch>
        </p:blipFill>
        <p:spPr>
          <a:xfrm>
            <a:off x="1774102" y="2221992"/>
            <a:ext cx="4333924" cy="3630168"/>
          </a:xfrm>
          <a:prstGeom prst="rect">
            <a:avLst/>
          </a:prstGeom>
        </p:spPr>
      </p:pic>
      <p:sp>
        <p:nvSpPr>
          <p:cNvPr id="11" name="Text 8"/>
          <p:cNvSpPr/>
          <p:nvPr/>
        </p:nvSpPr>
        <p:spPr>
          <a:xfrm>
            <a:off x="868680" y="5899504"/>
            <a:ext cx="6135624" cy="219456"/>
          </a:xfrm>
          <a:prstGeom prst="rect">
            <a:avLst/>
          </a:prstGeom>
          <a:noFill/>
          <a:ln/>
        </p:spPr>
        <p:txBody>
          <a:bodyPr wrap="square" lIns="0" tIns="0" rIns="0" bIns="0" rtlCol="0" anchor="ctr">
            <a:normAutofit/>
          </a:bodyPr>
          <a:lstStyle/>
          <a:p>
            <a:pPr marL="0" indent="0" algn="ctr">
              <a:buNone/>
            </a:pPr>
            <a:r>
              <a:rPr lang="en-US" sz="1160" i="1" dirty="0">
                <a:solidFill>
                  <a:srgbClr val="6E6A66"/>
                </a:solidFill>
                <a:latin typeface="Aptos" pitchFamily="34" charset="0"/>
                <a:ea typeface="Aptos" pitchFamily="34" charset="-122"/>
                <a:cs typeface="Aptos" pitchFamily="34" charset="-120"/>
              </a:rPr>
              <a:t>Captura real del prototipo · Datos ficticios</a:t>
            </a:r>
            <a:endParaRPr lang="en-US" sz="1160" dirty="0"/>
          </a:p>
        </p:txBody>
      </p:sp>
      <p:sp>
        <p:nvSpPr>
          <p:cNvPr id="12" name="Shape 9"/>
          <p:cNvSpPr/>
          <p:nvPr/>
        </p:nvSpPr>
        <p:spPr>
          <a:xfrm>
            <a:off x="7635240" y="2331720"/>
            <a:ext cx="347472" cy="347472"/>
          </a:xfrm>
          <a:prstGeom prst="ellipse">
            <a:avLst/>
          </a:prstGeom>
          <a:solidFill>
            <a:srgbClr val="A77958"/>
          </a:solidFill>
          <a:ln w="12700">
            <a:solidFill>
              <a:srgbClr val="A77958">
                <a:alpha val="0"/>
              </a:srgbClr>
            </a:solidFill>
            <a:prstDash val="solid"/>
          </a:ln>
        </p:spPr>
        <p:txBody>
          <a:bodyPr/>
          <a:lstStyle/>
          <a:p>
            <a:endParaRPr lang="en-US"/>
          </a:p>
        </p:txBody>
      </p:sp>
      <p:sp>
        <p:nvSpPr>
          <p:cNvPr id="13" name="Text 10"/>
          <p:cNvSpPr/>
          <p:nvPr/>
        </p:nvSpPr>
        <p:spPr>
          <a:xfrm>
            <a:off x="7635240" y="2377440"/>
            <a:ext cx="347472" cy="228600"/>
          </a:xfrm>
          <a:prstGeom prst="rect">
            <a:avLst/>
          </a:prstGeom>
          <a:noFill/>
          <a:ln/>
        </p:spPr>
        <p:txBody>
          <a:bodyPr wrap="square" lIns="0" tIns="0" rIns="0" bIns="0" rtlCol="0" anchor="ctr">
            <a:normAutofit/>
          </a:bodyPr>
          <a:lstStyle/>
          <a:p>
            <a:pPr marL="0" indent="0" algn="ctr">
              <a:buNone/>
            </a:pPr>
            <a:r>
              <a:rPr lang="en-US" sz="1360" b="1" dirty="0">
                <a:solidFill>
                  <a:srgbClr val="FFFFFF"/>
                </a:solidFill>
                <a:latin typeface="Aptos" pitchFamily="34" charset="0"/>
                <a:ea typeface="Aptos" pitchFamily="34" charset="-122"/>
                <a:cs typeface="Aptos" pitchFamily="34" charset="-120"/>
              </a:rPr>
              <a:t>1</a:t>
            </a:r>
            <a:endParaRPr lang="en-US" sz="1360" dirty="0"/>
          </a:p>
        </p:txBody>
      </p:sp>
      <p:sp>
        <p:nvSpPr>
          <p:cNvPr id="14" name="Text 11"/>
          <p:cNvSpPr/>
          <p:nvPr/>
        </p:nvSpPr>
        <p:spPr>
          <a:xfrm>
            <a:off x="8138160" y="2304288"/>
            <a:ext cx="3246120" cy="374904"/>
          </a:xfrm>
          <a:prstGeom prst="rect">
            <a:avLst/>
          </a:prstGeom>
          <a:noFill/>
          <a:ln/>
        </p:spPr>
        <p:txBody>
          <a:bodyPr wrap="square" lIns="0" tIns="0" rIns="0" bIns="0" rtlCol="0" anchor="ctr">
            <a:normAutofit/>
          </a:bodyPr>
          <a:lstStyle/>
          <a:p>
            <a:pPr marL="0" indent="0" algn="l">
              <a:buNone/>
            </a:pPr>
            <a:r>
              <a:rPr lang="en-US" sz="1860" b="1" dirty="0">
                <a:solidFill>
                  <a:srgbClr val="292929"/>
                </a:solidFill>
                <a:latin typeface="Aptos" pitchFamily="34" charset="0"/>
                <a:ea typeface="Aptos" pitchFamily="34" charset="-122"/>
                <a:cs typeface="Aptos" pitchFamily="34" charset="-120"/>
              </a:rPr>
              <a:t>La persona hace clic</a:t>
            </a:r>
            <a:endParaRPr lang="en-US" sz="1860" dirty="0"/>
          </a:p>
        </p:txBody>
      </p:sp>
      <p:sp>
        <p:nvSpPr>
          <p:cNvPr id="15" name="Text 12"/>
          <p:cNvSpPr/>
          <p:nvPr/>
        </p:nvSpPr>
        <p:spPr>
          <a:xfrm>
            <a:off x="8138160" y="2761488"/>
            <a:ext cx="3145536" cy="475488"/>
          </a:xfrm>
          <a:prstGeom prst="rect">
            <a:avLst/>
          </a:prstGeom>
          <a:noFill/>
          <a:ln/>
        </p:spPr>
        <p:txBody>
          <a:bodyPr wrap="square" lIns="0" tIns="0" rIns="0" bIns="0" rtlCol="0" anchor="t">
            <a:normAutofit/>
          </a:bodyPr>
          <a:lstStyle/>
          <a:p>
            <a:pPr marL="0" indent="0" algn="l">
              <a:buNone/>
            </a:pPr>
            <a:r>
              <a:rPr lang="en-US" sz="1450" dirty="0">
                <a:solidFill>
                  <a:srgbClr val="6E6A66"/>
                </a:solidFill>
                <a:latin typeface="Aptos" pitchFamily="34" charset="0"/>
                <a:ea typeface="Aptos" pitchFamily="34" charset="-122"/>
                <a:cs typeface="Aptos" pitchFamily="34" charset="-120"/>
              </a:rPr>
              <a:t>Por ejemplo: «Ver críticos».</a:t>
            </a:r>
            <a:endParaRPr lang="en-US" sz="1450" dirty="0"/>
          </a:p>
        </p:txBody>
      </p:sp>
      <p:sp>
        <p:nvSpPr>
          <p:cNvPr id="16" name="Shape 13"/>
          <p:cNvSpPr/>
          <p:nvPr/>
        </p:nvSpPr>
        <p:spPr>
          <a:xfrm>
            <a:off x="7808976" y="2715768"/>
            <a:ext cx="0" cy="704088"/>
          </a:xfrm>
          <a:prstGeom prst="line">
            <a:avLst/>
          </a:prstGeom>
          <a:noFill/>
          <a:ln w="17780">
            <a:solidFill>
              <a:srgbClr val="DEDAD5"/>
            </a:solidFill>
            <a:prstDash val="solid"/>
          </a:ln>
        </p:spPr>
        <p:txBody>
          <a:bodyPr/>
          <a:lstStyle/>
          <a:p>
            <a:endParaRPr lang="en-US"/>
          </a:p>
        </p:txBody>
      </p:sp>
      <p:sp>
        <p:nvSpPr>
          <p:cNvPr id="17" name="Shape 14"/>
          <p:cNvSpPr/>
          <p:nvPr/>
        </p:nvSpPr>
        <p:spPr>
          <a:xfrm>
            <a:off x="7635240" y="3474720"/>
            <a:ext cx="347472" cy="347472"/>
          </a:xfrm>
          <a:prstGeom prst="ellipse">
            <a:avLst/>
          </a:prstGeom>
          <a:solidFill>
            <a:srgbClr val="A77958"/>
          </a:solidFill>
          <a:ln w="12700">
            <a:solidFill>
              <a:srgbClr val="A77958">
                <a:alpha val="0"/>
              </a:srgbClr>
            </a:solidFill>
            <a:prstDash val="solid"/>
          </a:ln>
        </p:spPr>
        <p:txBody>
          <a:bodyPr/>
          <a:lstStyle/>
          <a:p>
            <a:endParaRPr lang="en-US"/>
          </a:p>
        </p:txBody>
      </p:sp>
      <p:sp>
        <p:nvSpPr>
          <p:cNvPr id="18" name="Text 15"/>
          <p:cNvSpPr/>
          <p:nvPr/>
        </p:nvSpPr>
        <p:spPr>
          <a:xfrm>
            <a:off x="7635240" y="3520440"/>
            <a:ext cx="347472" cy="228600"/>
          </a:xfrm>
          <a:prstGeom prst="rect">
            <a:avLst/>
          </a:prstGeom>
          <a:noFill/>
          <a:ln/>
        </p:spPr>
        <p:txBody>
          <a:bodyPr wrap="square" lIns="0" tIns="0" rIns="0" bIns="0" rtlCol="0" anchor="ctr">
            <a:normAutofit/>
          </a:bodyPr>
          <a:lstStyle/>
          <a:p>
            <a:pPr marL="0" indent="0" algn="ctr">
              <a:buNone/>
            </a:pPr>
            <a:r>
              <a:rPr lang="en-US" sz="1360" b="1" dirty="0">
                <a:solidFill>
                  <a:srgbClr val="FFFFFF"/>
                </a:solidFill>
                <a:latin typeface="Aptos" pitchFamily="34" charset="0"/>
                <a:ea typeface="Aptos" pitchFamily="34" charset="-122"/>
                <a:cs typeface="Aptos" pitchFamily="34" charset="-120"/>
              </a:rPr>
              <a:t>2</a:t>
            </a:r>
            <a:endParaRPr lang="en-US" sz="1360" dirty="0"/>
          </a:p>
        </p:txBody>
      </p:sp>
      <p:sp>
        <p:nvSpPr>
          <p:cNvPr id="19" name="Text 16"/>
          <p:cNvSpPr/>
          <p:nvPr/>
        </p:nvSpPr>
        <p:spPr>
          <a:xfrm>
            <a:off x="8138160" y="3447288"/>
            <a:ext cx="3246120" cy="374904"/>
          </a:xfrm>
          <a:prstGeom prst="rect">
            <a:avLst/>
          </a:prstGeom>
          <a:noFill/>
          <a:ln/>
        </p:spPr>
        <p:txBody>
          <a:bodyPr wrap="square" lIns="0" tIns="0" rIns="0" bIns="0" rtlCol="0" anchor="ctr">
            <a:normAutofit/>
          </a:bodyPr>
          <a:lstStyle/>
          <a:p>
            <a:pPr marL="0" indent="0" algn="l">
              <a:buNone/>
            </a:pPr>
            <a:r>
              <a:rPr lang="en-US" sz="1860" b="1" dirty="0">
                <a:solidFill>
                  <a:srgbClr val="292929"/>
                </a:solidFill>
                <a:latin typeface="Aptos" pitchFamily="34" charset="0"/>
                <a:ea typeface="Aptos" pitchFamily="34" charset="-122"/>
                <a:cs typeface="Aptos" pitchFamily="34" charset="-120"/>
              </a:rPr>
              <a:t>Java ejecuta una acción</a:t>
            </a:r>
            <a:endParaRPr lang="en-US" sz="1860" dirty="0"/>
          </a:p>
        </p:txBody>
      </p:sp>
      <p:sp>
        <p:nvSpPr>
          <p:cNvPr id="20" name="Text 17"/>
          <p:cNvSpPr/>
          <p:nvPr/>
        </p:nvSpPr>
        <p:spPr>
          <a:xfrm>
            <a:off x="8138160" y="3904488"/>
            <a:ext cx="3145536" cy="475488"/>
          </a:xfrm>
          <a:prstGeom prst="rect">
            <a:avLst/>
          </a:prstGeom>
          <a:noFill/>
          <a:ln/>
        </p:spPr>
        <p:txBody>
          <a:bodyPr wrap="square" lIns="0" tIns="0" rIns="0" bIns="0" rtlCol="0" anchor="t">
            <a:normAutofit/>
          </a:bodyPr>
          <a:lstStyle/>
          <a:p>
            <a:pPr marL="0" indent="0" algn="l">
              <a:buNone/>
            </a:pPr>
            <a:r>
              <a:rPr lang="en-US" sz="1450" dirty="0">
                <a:solidFill>
                  <a:srgbClr val="6E6A66"/>
                </a:solidFill>
                <a:latin typeface="Aptos" pitchFamily="34" charset="0"/>
                <a:ea typeface="Aptos" pitchFamily="34" charset="-122"/>
                <a:cs typeface="Aptos" pitchFamily="34" charset="-120"/>
              </a:rPr>
              <a:t>El botón activa su método.</a:t>
            </a:r>
            <a:endParaRPr lang="en-US" sz="1450" dirty="0"/>
          </a:p>
        </p:txBody>
      </p:sp>
      <p:sp>
        <p:nvSpPr>
          <p:cNvPr id="21" name="Shape 18"/>
          <p:cNvSpPr/>
          <p:nvPr/>
        </p:nvSpPr>
        <p:spPr>
          <a:xfrm>
            <a:off x="7808976" y="3858768"/>
            <a:ext cx="0" cy="704088"/>
          </a:xfrm>
          <a:prstGeom prst="line">
            <a:avLst/>
          </a:prstGeom>
          <a:noFill/>
          <a:ln w="17780">
            <a:solidFill>
              <a:srgbClr val="DEDAD5"/>
            </a:solidFill>
            <a:prstDash val="solid"/>
          </a:ln>
        </p:spPr>
        <p:txBody>
          <a:bodyPr/>
          <a:lstStyle/>
          <a:p>
            <a:endParaRPr lang="en-US"/>
          </a:p>
        </p:txBody>
      </p:sp>
      <p:sp>
        <p:nvSpPr>
          <p:cNvPr id="22" name="Shape 19"/>
          <p:cNvSpPr/>
          <p:nvPr/>
        </p:nvSpPr>
        <p:spPr>
          <a:xfrm>
            <a:off x="7635240" y="4617720"/>
            <a:ext cx="347472" cy="347472"/>
          </a:xfrm>
          <a:prstGeom prst="ellipse">
            <a:avLst/>
          </a:prstGeom>
          <a:solidFill>
            <a:srgbClr val="A77958"/>
          </a:solidFill>
          <a:ln w="12700">
            <a:solidFill>
              <a:srgbClr val="A77958">
                <a:alpha val="0"/>
              </a:srgbClr>
            </a:solidFill>
            <a:prstDash val="solid"/>
          </a:ln>
        </p:spPr>
        <p:txBody>
          <a:bodyPr/>
          <a:lstStyle/>
          <a:p>
            <a:endParaRPr lang="en-US"/>
          </a:p>
        </p:txBody>
      </p:sp>
      <p:sp>
        <p:nvSpPr>
          <p:cNvPr id="23" name="Text 20"/>
          <p:cNvSpPr/>
          <p:nvPr/>
        </p:nvSpPr>
        <p:spPr>
          <a:xfrm>
            <a:off x="7635240" y="4663440"/>
            <a:ext cx="347472" cy="228600"/>
          </a:xfrm>
          <a:prstGeom prst="rect">
            <a:avLst/>
          </a:prstGeom>
          <a:noFill/>
          <a:ln/>
        </p:spPr>
        <p:txBody>
          <a:bodyPr wrap="square" lIns="0" tIns="0" rIns="0" bIns="0" rtlCol="0" anchor="ctr">
            <a:normAutofit/>
          </a:bodyPr>
          <a:lstStyle/>
          <a:p>
            <a:pPr marL="0" indent="0" algn="ctr">
              <a:buNone/>
            </a:pPr>
            <a:r>
              <a:rPr lang="en-US" sz="1360" b="1" dirty="0">
                <a:solidFill>
                  <a:srgbClr val="FFFFFF"/>
                </a:solidFill>
                <a:latin typeface="Aptos" pitchFamily="34" charset="0"/>
                <a:ea typeface="Aptos" pitchFamily="34" charset="-122"/>
                <a:cs typeface="Aptos" pitchFamily="34" charset="-120"/>
              </a:rPr>
              <a:t>3</a:t>
            </a:r>
            <a:endParaRPr lang="en-US" sz="1360" dirty="0"/>
          </a:p>
        </p:txBody>
      </p:sp>
      <p:sp>
        <p:nvSpPr>
          <p:cNvPr id="24" name="Text 21"/>
          <p:cNvSpPr/>
          <p:nvPr/>
        </p:nvSpPr>
        <p:spPr>
          <a:xfrm>
            <a:off x="8138160" y="4590288"/>
            <a:ext cx="3246120" cy="374904"/>
          </a:xfrm>
          <a:prstGeom prst="rect">
            <a:avLst/>
          </a:prstGeom>
          <a:noFill/>
          <a:ln/>
        </p:spPr>
        <p:txBody>
          <a:bodyPr wrap="square" lIns="0" tIns="0" rIns="0" bIns="0" rtlCol="0" anchor="ctr">
            <a:normAutofit/>
          </a:bodyPr>
          <a:lstStyle/>
          <a:p>
            <a:pPr marL="0" indent="0" algn="l">
              <a:buNone/>
            </a:pPr>
            <a:r>
              <a:rPr lang="en-US" sz="1860" b="1" dirty="0">
                <a:solidFill>
                  <a:srgbClr val="292929"/>
                </a:solidFill>
                <a:latin typeface="Aptos" pitchFamily="34" charset="0"/>
                <a:ea typeface="Aptos" pitchFamily="34" charset="-122"/>
                <a:cs typeface="Aptos" pitchFamily="34" charset="-120"/>
              </a:rPr>
              <a:t>El resultado aparece</a:t>
            </a:r>
            <a:endParaRPr lang="en-US" sz="1860" dirty="0"/>
          </a:p>
        </p:txBody>
      </p:sp>
      <p:sp>
        <p:nvSpPr>
          <p:cNvPr id="25" name="Text 22"/>
          <p:cNvSpPr/>
          <p:nvPr/>
        </p:nvSpPr>
        <p:spPr>
          <a:xfrm>
            <a:off x="8138160" y="5047488"/>
            <a:ext cx="3145536" cy="475488"/>
          </a:xfrm>
          <a:prstGeom prst="rect">
            <a:avLst/>
          </a:prstGeom>
          <a:noFill/>
          <a:ln/>
        </p:spPr>
        <p:txBody>
          <a:bodyPr wrap="square" lIns="0" tIns="0" rIns="0" bIns="0" rtlCol="0" anchor="t">
            <a:normAutofit/>
          </a:bodyPr>
          <a:lstStyle/>
          <a:p>
            <a:pPr marL="0" indent="0" algn="l">
              <a:buNone/>
            </a:pPr>
            <a:r>
              <a:rPr lang="en-US" sz="1450" dirty="0">
                <a:solidFill>
                  <a:srgbClr val="6E6A66"/>
                </a:solidFill>
                <a:latin typeface="Aptos" pitchFamily="34" charset="0"/>
                <a:ea typeface="Aptos" pitchFamily="34" charset="-122"/>
                <a:cs typeface="Aptos" pitchFamily="34" charset="-120"/>
              </a:rPr>
              <a:t>La tabla muestra los recursos críticos.</a:t>
            </a:r>
            <a:endParaRPr lang="en-US" sz="1450" dirty="0"/>
          </a:p>
        </p:txBody>
      </p:sp>
      <p:sp>
        <p:nvSpPr>
          <p:cNvPr id="26" name="Shape 23"/>
          <p:cNvSpPr/>
          <p:nvPr/>
        </p:nvSpPr>
        <p:spPr>
          <a:xfrm>
            <a:off x="7598664" y="5797296"/>
            <a:ext cx="3739896" cy="301752"/>
          </a:xfrm>
          <a:prstGeom prst="roundRect">
            <a:avLst>
              <a:gd name="adj" fmla="val 9091"/>
            </a:avLst>
          </a:prstGeom>
          <a:solidFill>
            <a:srgbClr val="F5F0EB"/>
          </a:solidFill>
          <a:ln w="12700">
            <a:solidFill>
              <a:srgbClr val="F5F0EB">
                <a:alpha val="0"/>
              </a:srgbClr>
            </a:solidFill>
            <a:prstDash val="solid"/>
          </a:ln>
        </p:spPr>
        <p:txBody>
          <a:bodyPr/>
          <a:lstStyle/>
          <a:p>
            <a:endParaRPr lang="en-US"/>
          </a:p>
        </p:txBody>
      </p:sp>
      <p:sp>
        <p:nvSpPr>
          <p:cNvPr id="27" name="Text 24"/>
          <p:cNvSpPr/>
          <p:nvPr/>
        </p:nvSpPr>
        <p:spPr>
          <a:xfrm>
            <a:off x="7781544" y="5843016"/>
            <a:ext cx="3456432" cy="210312"/>
          </a:xfrm>
          <a:prstGeom prst="rect">
            <a:avLst/>
          </a:prstGeom>
          <a:noFill/>
          <a:ln/>
        </p:spPr>
        <p:txBody>
          <a:bodyPr wrap="square" lIns="0" tIns="0" rIns="0" bIns="0" rtlCol="0" anchor="ctr">
            <a:normAutofit/>
          </a:bodyPr>
          <a:lstStyle/>
          <a:p>
            <a:pPr marL="0" indent="0" algn="l">
              <a:buNone/>
            </a:pPr>
            <a:r>
              <a:rPr lang="en-US" sz="1220" dirty="0">
                <a:solidFill>
                  <a:srgbClr val="6E6A66"/>
                </a:solidFill>
                <a:latin typeface="Aptos" pitchFamily="34" charset="0"/>
                <a:ea typeface="Aptos" pitchFamily="34" charset="-122"/>
                <a:cs typeface="Aptos" pitchFamily="34" charset="-120"/>
              </a:rPr>
              <a:t>Si un dato es inválido, aparece un aviso.</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2016500"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08  ·  COMPROBACIÓN</a:t>
            </a:r>
            <a:endParaRPr lang="en-US" sz="1120" dirty="0"/>
          </a:p>
        </p:txBody>
      </p:sp>
      <p:sp>
        <p:nvSpPr>
          <p:cNvPr id="4" name="Text 2"/>
          <p:cNvSpPr/>
          <p:nvPr/>
        </p:nvSpPr>
        <p:spPr>
          <a:xfrm>
            <a:off x="621792" y="914400"/>
            <a:ext cx="8508031"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Tres pruebas automáticas respaldan funciones clave</a:t>
            </a:r>
            <a:endParaRPr lang="en-US" sz="2950" dirty="0"/>
          </a:p>
        </p:txBody>
      </p:sp>
      <p:sp>
        <p:nvSpPr>
          <p:cNvPr id="5" name="Text 3"/>
          <p:cNvSpPr/>
          <p:nvPr/>
        </p:nvSpPr>
        <p:spPr>
          <a:xfrm>
            <a:off x="649224" y="1527048"/>
            <a:ext cx="6169790"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JUnit compara un resultado real con el resultado que esperábamos.</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08 / 09</a:t>
            </a:r>
            <a:endParaRPr lang="en-US" sz="910" dirty="0"/>
          </a:p>
        </p:txBody>
      </p:sp>
      <p:sp>
        <p:nvSpPr>
          <p:cNvPr id="9" name="Shape 7"/>
          <p:cNvSpPr/>
          <p:nvPr/>
        </p:nvSpPr>
        <p:spPr>
          <a:xfrm>
            <a:off x="713232" y="2387575"/>
            <a:ext cx="7424928" cy="941832"/>
          </a:xfrm>
          <a:prstGeom prst="roundRect">
            <a:avLst>
              <a:gd name="adj" fmla="val 11650"/>
            </a:avLst>
          </a:prstGeom>
          <a:solidFill>
            <a:srgbClr val="FFFFFF"/>
          </a:solidFill>
          <a:ln w="8890">
            <a:solidFill>
              <a:srgbClr val="DEDAD5"/>
            </a:solidFill>
            <a:prstDash val="solid"/>
          </a:ln>
        </p:spPr>
        <p:txBody>
          <a:bodyPr/>
          <a:lstStyle/>
          <a:p>
            <a:endParaRPr lang="en-US"/>
          </a:p>
        </p:txBody>
      </p:sp>
      <p:grpSp>
        <p:nvGrpSpPr>
          <p:cNvPr id="41" name="Grupo 40">
            <a:extLst>
              <a:ext uri="{FF2B5EF4-FFF2-40B4-BE49-F238E27FC236}">
                <a16:creationId xmlns:a16="http://schemas.microsoft.com/office/drawing/2014/main" id="{F310D2DF-9708-0139-BAE0-A002FD322CBD}"/>
              </a:ext>
            </a:extLst>
          </p:cNvPr>
          <p:cNvGrpSpPr/>
          <p:nvPr/>
        </p:nvGrpSpPr>
        <p:grpSpPr>
          <a:xfrm>
            <a:off x="950976" y="2671039"/>
            <a:ext cx="402336" cy="402336"/>
            <a:chOff x="950976" y="2671039"/>
            <a:chExt cx="402336" cy="402336"/>
          </a:xfrm>
        </p:grpSpPr>
        <p:sp>
          <p:nvSpPr>
            <p:cNvPr id="10" name="Shape 8"/>
            <p:cNvSpPr/>
            <p:nvPr/>
          </p:nvSpPr>
          <p:spPr>
            <a:xfrm>
              <a:off x="950976" y="2671039"/>
              <a:ext cx="402336" cy="402336"/>
            </a:xfrm>
            <a:prstGeom prst="ellipse">
              <a:avLst/>
            </a:prstGeom>
            <a:solidFill>
              <a:srgbClr val="E8F2ED"/>
            </a:solidFill>
            <a:ln w="12700">
              <a:solidFill>
                <a:srgbClr val="E8F2ED">
                  <a:alpha val="0"/>
                </a:srgbClr>
              </a:solidFill>
              <a:prstDash val="solid"/>
            </a:ln>
          </p:spPr>
          <p:txBody>
            <a:bodyPr/>
            <a:lstStyle/>
            <a:p>
              <a:endParaRPr lang="en-US"/>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704" y="2789911"/>
              <a:ext cx="182880" cy="164592"/>
            </a:xfrm>
            <a:prstGeom prst="rect">
              <a:avLst/>
            </a:prstGeom>
          </p:spPr>
        </p:pic>
      </p:grpSp>
      <p:sp>
        <p:nvSpPr>
          <p:cNvPr id="12" name="Text 9"/>
          <p:cNvSpPr/>
          <p:nvPr/>
        </p:nvSpPr>
        <p:spPr>
          <a:xfrm>
            <a:off x="1508760" y="2524735"/>
            <a:ext cx="1532152" cy="338328"/>
          </a:xfrm>
          <a:prstGeom prst="rect">
            <a:avLst/>
          </a:prstGeom>
          <a:noFill/>
          <a:ln/>
        </p:spPr>
        <p:txBody>
          <a:bodyPr wrap="square" lIns="0" tIns="0" rIns="0" bIns="0" rtlCol="0" anchor="ctr">
            <a:normAutofit/>
          </a:bodyPr>
          <a:lstStyle/>
          <a:p>
            <a:pPr marL="0" indent="0" algn="l">
              <a:buNone/>
            </a:pPr>
            <a:r>
              <a:rPr lang="en-US" sz="1860" b="1" dirty="0">
                <a:solidFill>
                  <a:srgbClr val="292929"/>
                </a:solidFill>
                <a:latin typeface="Aptos" pitchFamily="34" charset="0"/>
                <a:ea typeface="Aptos" pitchFamily="34" charset="-122"/>
                <a:cs typeface="Aptos" pitchFamily="34" charset="-120"/>
              </a:rPr>
              <a:t>Stock crítico</a:t>
            </a:r>
            <a:endParaRPr lang="en-US" sz="1860" dirty="0"/>
          </a:p>
        </p:txBody>
      </p:sp>
      <p:sp>
        <p:nvSpPr>
          <p:cNvPr id="13" name="Text 10"/>
          <p:cNvSpPr/>
          <p:nvPr/>
        </p:nvSpPr>
        <p:spPr>
          <a:xfrm>
            <a:off x="1508760" y="2908783"/>
            <a:ext cx="2113398" cy="237744"/>
          </a:xfrm>
          <a:prstGeom prst="rect">
            <a:avLst/>
          </a:prstGeom>
          <a:noFill/>
          <a:ln/>
        </p:spPr>
        <p:txBody>
          <a:bodyPr wrap="square" lIns="0" tIns="0" rIns="0" bIns="0" rtlCol="0" anchor="ctr">
            <a:normAutofit/>
          </a:bodyPr>
          <a:lstStyle/>
          <a:p>
            <a:pPr marL="0" indent="0" algn="l">
              <a:buNone/>
            </a:pPr>
            <a:r>
              <a:rPr lang="en-US" sz="1440" dirty="0">
                <a:solidFill>
                  <a:srgbClr val="6E6A66"/>
                </a:solidFill>
                <a:latin typeface="Aptos" pitchFamily="34" charset="0"/>
                <a:ea typeface="Aptos" pitchFamily="34" charset="-122"/>
                <a:cs typeface="Aptos" pitchFamily="34" charset="-120"/>
              </a:rPr>
              <a:t>10 unidades ≤ mínimo 20</a:t>
            </a:r>
            <a:endParaRPr lang="en-US" sz="1440" dirty="0"/>
          </a:p>
        </p:txBody>
      </p:sp>
      <p:grpSp>
        <p:nvGrpSpPr>
          <p:cNvPr id="40" name="Grupo 39">
            <a:extLst>
              <a:ext uri="{FF2B5EF4-FFF2-40B4-BE49-F238E27FC236}">
                <a16:creationId xmlns:a16="http://schemas.microsoft.com/office/drawing/2014/main" id="{26C3E380-DEF0-16E3-E42F-1CC29215DA2B}"/>
              </a:ext>
            </a:extLst>
          </p:cNvPr>
          <p:cNvGrpSpPr/>
          <p:nvPr/>
        </p:nvGrpSpPr>
        <p:grpSpPr>
          <a:xfrm>
            <a:off x="7178040" y="2693899"/>
            <a:ext cx="630936" cy="356616"/>
            <a:chOff x="7178040" y="2680183"/>
            <a:chExt cx="630936" cy="356616"/>
          </a:xfrm>
        </p:grpSpPr>
        <p:sp>
          <p:nvSpPr>
            <p:cNvPr id="14" name="Shape 11"/>
            <p:cNvSpPr/>
            <p:nvPr/>
          </p:nvSpPr>
          <p:spPr>
            <a:xfrm>
              <a:off x="7178040" y="2680183"/>
              <a:ext cx="630936" cy="356616"/>
            </a:xfrm>
            <a:prstGeom prst="roundRect">
              <a:avLst>
                <a:gd name="adj" fmla="val 30769"/>
              </a:avLst>
            </a:prstGeom>
            <a:solidFill>
              <a:srgbClr val="E8F2ED"/>
            </a:solidFill>
            <a:ln w="12700">
              <a:solidFill>
                <a:srgbClr val="E8F2ED">
                  <a:alpha val="0"/>
                </a:srgbClr>
              </a:solidFill>
              <a:prstDash val="solid"/>
            </a:ln>
          </p:spPr>
          <p:txBody>
            <a:bodyPr/>
            <a:lstStyle/>
            <a:p>
              <a:endParaRPr lang="en-US"/>
            </a:p>
          </p:txBody>
        </p:sp>
        <p:sp>
          <p:nvSpPr>
            <p:cNvPr id="15" name="Text 12"/>
            <p:cNvSpPr/>
            <p:nvPr/>
          </p:nvSpPr>
          <p:spPr>
            <a:xfrm>
              <a:off x="7287768" y="2707615"/>
              <a:ext cx="411480" cy="283464"/>
            </a:xfrm>
            <a:prstGeom prst="rect">
              <a:avLst/>
            </a:prstGeom>
            <a:noFill/>
            <a:ln/>
          </p:spPr>
          <p:txBody>
            <a:bodyPr wrap="square" lIns="0" tIns="0" rIns="0" bIns="0" rtlCol="0" anchor="ctr">
              <a:normAutofit/>
            </a:bodyPr>
            <a:lstStyle/>
            <a:p>
              <a:pPr marL="0" indent="0" algn="ctr">
                <a:buNone/>
              </a:pPr>
              <a:r>
                <a:rPr lang="en-US" sz="1200" b="1" dirty="0">
                  <a:solidFill>
                    <a:srgbClr val="32755E"/>
                  </a:solidFill>
                  <a:latin typeface="Aptos" pitchFamily="34" charset="0"/>
                  <a:ea typeface="Aptos" pitchFamily="34" charset="-122"/>
                  <a:cs typeface="Aptos" pitchFamily="34" charset="-120"/>
                </a:rPr>
                <a:t>OK</a:t>
              </a:r>
              <a:endParaRPr lang="en-US" sz="1200" dirty="0"/>
            </a:p>
          </p:txBody>
        </p:sp>
      </p:grpSp>
      <p:sp>
        <p:nvSpPr>
          <p:cNvPr id="16" name="Shape 13"/>
          <p:cNvSpPr/>
          <p:nvPr/>
        </p:nvSpPr>
        <p:spPr>
          <a:xfrm>
            <a:off x="713232" y="3521431"/>
            <a:ext cx="7424928" cy="941832"/>
          </a:xfrm>
          <a:prstGeom prst="roundRect">
            <a:avLst>
              <a:gd name="adj" fmla="val 11650"/>
            </a:avLst>
          </a:prstGeom>
          <a:solidFill>
            <a:srgbClr val="FFFFFF"/>
          </a:solidFill>
          <a:ln w="8890">
            <a:solidFill>
              <a:srgbClr val="DEDAD5"/>
            </a:solidFill>
            <a:prstDash val="solid"/>
          </a:ln>
        </p:spPr>
        <p:txBody>
          <a:bodyPr/>
          <a:lstStyle/>
          <a:p>
            <a:endParaRPr lang="en-US"/>
          </a:p>
        </p:txBody>
      </p:sp>
      <p:grpSp>
        <p:nvGrpSpPr>
          <p:cNvPr id="42" name="Grupo 41">
            <a:extLst>
              <a:ext uri="{FF2B5EF4-FFF2-40B4-BE49-F238E27FC236}">
                <a16:creationId xmlns:a16="http://schemas.microsoft.com/office/drawing/2014/main" id="{E8CCBC19-DA7F-97D6-3427-14A2FE51CCF3}"/>
              </a:ext>
            </a:extLst>
          </p:cNvPr>
          <p:cNvGrpSpPr/>
          <p:nvPr/>
        </p:nvGrpSpPr>
        <p:grpSpPr>
          <a:xfrm>
            <a:off x="950976" y="3804895"/>
            <a:ext cx="402336" cy="402336"/>
            <a:chOff x="950976" y="3804895"/>
            <a:chExt cx="402336" cy="402336"/>
          </a:xfrm>
        </p:grpSpPr>
        <p:sp>
          <p:nvSpPr>
            <p:cNvPr id="17" name="Shape 14"/>
            <p:cNvSpPr/>
            <p:nvPr/>
          </p:nvSpPr>
          <p:spPr>
            <a:xfrm>
              <a:off x="950976" y="3804895"/>
              <a:ext cx="402336" cy="402336"/>
            </a:xfrm>
            <a:prstGeom prst="ellipse">
              <a:avLst/>
            </a:prstGeom>
            <a:solidFill>
              <a:srgbClr val="E8F2ED"/>
            </a:solidFill>
            <a:ln w="12700">
              <a:solidFill>
                <a:srgbClr val="E8F2ED">
                  <a:alpha val="0"/>
                </a:srgbClr>
              </a:solidFill>
              <a:prstDash val="solid"/>
            </a:ln>
          </p:spPr>
          <p:txBody>
            <a:bodyPr/>
            <a:lstStyle/>
            <a:p>
              <a:endParaRPr 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704" y="3923767"/>
              <a:ext cx="182880" cy="164592"/>
            </a:xfrm>
            <a:prstGeom prst="rect">
              <a:avLst/>
            </a:prstGeom>
          </p:spPr>
        </p:pic>
      </p:grpSp>
      <p:sp>
        <p:nvSpPr>
          <p:cNvPr id="19" name="Text 15"/>
          <p:cNvSpPr/>
          <p:nvPr/>
        </p:nvSpPr>
        <p:spPr>
          <a:xfrm>
            <a:off x="1508760" y="3679855"/>
            <a:ext cx="2035426" cy="338328"/>
          </a:xfrm>
          <a:prstGeom prst="rect">
            <a:avLst/>
          </a:prstGeom>
          <a:noFill/>
          <a:ln/>
        </p:spPr>
        <p:txBody>
          <a:bodyPr wrap="square" lIns="0" tIns="0" rIns="0" bIns="0" rtlCol="0" anchor="ctr">
            <a:normAutofit/>
          </a:bodyPr>
          <a:lstStyle/>
          <a:p>
            <a:pPr marL="0" indent="0" algn="l">
              <a:buNone/>
            </a:pPr>
            <a:r>
              <a:rPr lang="en-US" sz="1860" b="1" dirty="0">
                <a:solidFill>
                  <a:srgbClr val="292929"/>
                </a:solidFill>
                <a:latin typeface="Aptos" pitchFamily="34" charset="0"/>
                <a:ea typeface="Aptos" pitchFamily="34" charset="-122"/>
                <a:cs typeface="Aptos" pitchFamily="34" charset="-120"/>
              </a:rPr>
              <a:t>Código duplicado</a:t>
            </a:r>
            <a:endParaRPr lang="en-US" sz="1860" dirty="0"/>
          </a:p>
        </p:txBody>
      </p:sp>
      <p:sp>
        <p:nvSpPr>
          <p:cNvPr id="20" name="Text 16"/>
          <p:cNvSpPr/>
          <p:nvPr/>
        </p:nvSpPr>
        <p:spPr>
          <a:xfrm>
            <a:off x="1508760" y="4063903"/>
            <a:ext cx="3290068" cy="237744"/>
          </a:xfrm>
          <a:prstGeom prst="rect">
            <a:avLst/>
          </a:prstGeom>
          <a:noFill/>
          <a:ln/>
        </p:spPr>
        <p:txBody>
          <a:bodyPr wrap="square" lIns="0" tIns="0" rIns="0" bIns="0" rtlCol="0" anchor="ctr">
            <a:normAutofit/>
          </a:bodyPr>
          <a:lstStyle/>
          <a:p>
            <a:pPr marL="0" indent="0" algn="l">
              <a:buNone/>
            </a:pPr>
            <a:r>
              <a:rPr lang="en-US" sz="1440" dirty="0">
                <a:solidFill>
                  <a:srgbClr val="6E6A66"/>
                </a:solidFill>
                <a:latin typeface="Aptos" pitchFamily="34" charset="0"/>
                <a:ea typeface="Aptos" pitchFamily="34" charset="-122"/>
                <a:cs typeface="Aptos" pitchFamily="34" charset="-120"/>
              </a:rPr>
              <a:t>No permite registrar dos veces TEST001</a:t>
            </a:r>
            <a:endParaRPr lang="en-US" sz="1440" dirty="0"/>
          </a:p>
        </p:txBody>
      </p:sp>
      <p:grpSp>
        <p:nvGrpSpPr>
          <p:cNvPr id="39" name="Grupo 38">
            <a:extLst>
              <a:ext uri="{FF2B5EF4-FFF2-40B4-BE49-F238E27FC236}">
                <a16:creationId xmlns:a16="http://schemas.microsoft.com/office/drawing/2014/main" id="{F3E19B90-C013-BE93-3F4D-C2B4488ACF22}"/>
              </a:ext>
            </a:extLst>
          </p:cNvPr>
          <p:cNvGrpSpPr/>
          <p:nvPr/>
        </p:nvGrpSpPr>
        <p:grpSpPr>
          <a:xfrm>
            <a:off x="7178040" y="3827755"/>
            <a:ext cx="630936" cy="356616"/>
            <a:chOff x="7178040" y="3814039"/>
            <a:chExt cx="630936" cy="356616"/>
          </a:xfrm>
        </p:grpSpPr>
        <p:sp>
          <p:nvSpPr>
            <p:cNvPr id="21" name="Shape 17"/>
            <p:cNvSpPr/>
            <p:nvPr/>
          </p:nvSpPr>
          <p:spPr>
            <a:xfrm>
              <a:off x="7178040" y="3814039"/>
              <a:ext cx="630936" cy="356616"/>
            </a:xfrm>
            <a:prstGeom prst="roundRect">
              <a:avLst>
                <a:gd name="adj" fmla="val 30769"/>
              </a:avLst>
            </a:prstGeom>
            <a:solidFill>
              <a:srgbClr val="E8F2ED"/>
            </a:solidFill>
            <a:ln w="12700">
              <a:solidFill>
                <a:srgbClr val="E8F2ED">
                  <a:alpha val="0"/>
                </a:srgbClr>
              </a:solidFill>
              <a:prstDash val="solid"/>
            </a:ln>
          </p:spPr>
          <p:txBody>
            <a:bodyPr/>
            <a:lstStyle/>
            <a:p>
              <a:endParaRPr lang="en-US"/>
            </a:p>
          </p:txBody>
        </p:sp>
        <p:sp>
          <p:nvSpPr>
            <p:cNvPr id="22" name="Text 18"/>
            <p:cNvSpPr/>
            <p:nvPr/>
          </p:nvSpPr>
          <p:spPr>
            <a:xfrm>
              <a:off x="7287768" y="3841471"/>
              <a:ext cx="411480" cy="283464"/>
            </a:xfrm>
            <a:prstGeom prst="rect">
              <a:avLst/>
            </a:prstGeom>
            <a:noFill/>
            <a:ln/>
          </p:spPr>
          <p:txBody>
            <a:bodyPr wrap="square" lIns="0" tIns="0" rIns="0" bIns="0" rtlCol="0" anchor="ctr">
              <a:normAutofit/>
            </a:bodyPr>
            <a:lstStyle/>
            <a:p>
              <a:pPr marL="0" indent="0" algn="ctr">
                <a:buNone/>
              </a:pPr>
              <a:r>
                <a:rPr lang="en-US" sz="1200" b="1" dirty="0">
                  <a:solidFill>
                    <a:srgbClr val="32755E"/>
                  </a:solidFill>
                  <a:latin typeface="Aptos" pitchFamily="34" charset="0"/>
                  <a:ea typeface="Aptos" pitchFamily="34" charset="-122"/>
                  <a:cs typeface="Aptos" pitchFamily="34" charset="-120"/>
                </a:rPr>
                <a:t>OK</a:t>
              </a:r>
              <a:endParaRPr lang="en-US" sz="1200" dirty="0"/>
            </a:p>
          </p:txBody>
        </p:sp>
      </p:grpSp>
      <p:sp>
        <p:nvSpPr>
          <p:cNvPr id="23" name="Shape 19"/>
          <p:cNvSpPr/>
          <p:nvPr/>
        </p:nvSpPr>
        <p:spPr>
          <a:xfrm>
            <a:off x="713232" y="4655287"/>
            <a:ext cx="7424928" cy="941832"/>
          </a:xfrm>
          <a:prstGeom prst="roundRect">
            <a:avLst>
              <a:gd name="adj" fmla="val 11650"/>
            </a:avLst>
          </a:prstGeom>
          <a:solidFill>
            <a:srgbClr val="FFFFFF"/>
          </a:solidFill>
          <a:ln w="8890">
            <a:solidFill>
              <a:srgbClr val="DEDAD5"/>
            </a:solidFill>
            <a:prstDash val="solid"/>
          </a:ln>
        </p:spPr>
        <p:txBody>
          <a:bodyPr/>
          <a:lstStyle/>
          <a:p>
            <a:endParaRPr lang="en-US"/>
          </a:p>
        </p:txBody>
      </p:sp>
      <p:grpSp>
        <p:nvGrpSpPr>
          <p:cNvPr id="43" name="Grupo 42">
            <a:extLst>
              <a:ext uri="{FF2B5EF4-FFF2-40B4-BE49-F238E27FC236}">
                <a16:creationId xmlns:a16="http://schemas.microsoft.com/office/drawing/2014/main" id="{C974E3E7-F5F5-438C-3C0C-4894472B13F8}"/>
              </a:ext>
            </a:extLst>
          </p:cNvPr>
          <p:cNvGrpSpPr/>
          <p:nvPr/>
        </p:nvGrpSpPr>
        <p:grpSpPr>
          <a:xfrm>
            <a:off x="950976" y="4938751"/>
            <a:ext cx="402336" cy="402336"/>
            <a:chOff x="950976" y="4938751"/>
            <a:chExt cx="402336" cy="402336"/>
          </a:xfrm>
        </p:grpSpPr>
        <p:sp>
          <p:nvSpPr>
            <p:cNvPr id="24" name="Shape 20"/>
            <p:cNvSpPr/>
            <p:nvPr/>
          </p:nvSpPr>
          <p:spPr>
            <a:xfrm>
              <a:off x="950976" y="4938751"/>
              <a:ext cx="402336" cy="402336"/>
            </a:xfrm>
            <a:prstGeom prst="ellipse">
              <a:avLst/>
            </a:prstGeom>
            <a:solidFill>
              <a:srgbClr val="E8F2ED"/>
            </a:solidFill>
            <a:ln w="12700">
              <a:solidFill>
                <a:srgbClr val="E8F2ED">
                  <a:alpha val="0"/>
                </a:srgbClr>
              </a:solidFill>
              <a:prstDash val="solid"/>
            </a:ln>
          </p:spPr>
          <p:txBody>
            <a:bodyPr/>
            <a:lstStyle/>
            <a:p>
              <a:endParaRPr lang="en-US"/>
            </a:p>
          </p:txBody>
        </p:sp>
        <p:pic>
          <p:nvPicPr>
            <p:cNvPr id="25"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704" y="5057623"/>
              <a:ext cx="182880" cy="164592"/>
            </a:xfrm>
            <a:prstGeom prst="rect">
              <a:avLst/>
            </a:prstGeom>
          </p:spPr>
        </p:pic>
      </p:grpSp>
      <p:sp>
        <p:nvSpPr>
          <p:cNvPr id="26" name="Text 21"/>
          <p:cNvSpPr/>
          <p:nvPr/>
        </p:nvSpPr>
        <p:spPr>
          <a:xfrm>
            <a:off x="1508760" y="4792447"/>
            <a:ext cx="2481993" cy="338328"/>
          </a:xfrm>
          <a:prstGeom prst="rect">
            <a:avLst/>
          </a:prstGeom>
          <a:noFill/>
          <a:ln/>
        </p:spPr>
        <p:txBody>
          <a:bodyPr wrap="square" lIns="0" tIns="0" rIns="0" bIns="0" rtlCol="0" anchor="ctr">
            <a:normAutofit/>
          </a:bodyPr>
          <a:lstStyle/>
          <a:p>
            <a:pPr marL="0" indent="0" algn="l">
              <a:buNone/>
            </a:pPr>
            <a:r>
              <a:rPr lang="en-US" sz="1860" b="1" dirty="0">
                <a:solidFill>
                  <a:srgbClr val="292929"/>
                </a:solidFill>
                <a:latin typeface="Aptos" pitchFamily="34" charset="0"/>
                <a:ea typeface="Aptos" pitchFamily="34" charset="-122"/>
                <a:cs typeface="Aptos" pitchFamily="34" charset="-120"/>
              </a:rPr>
              <a:t>Prioridad de faltantes</a:t>
            </a:r>
            <a:endParaRPr lang="en-US" sz="1860" dirty="0"/>
          </a:p>
        </p:txBody>
      </p:sp>
      <p:sp>
        <p:nvSpPr>
          <p:cNvPr id="27" name="Text 22"/>
          <p:cNvSpPr/>
          <p:nvPr/>
        </p:nvSpPr>
        <p:spPr>
          <a:xfrm>
            <a:off x="1508760" y="5176495"/>
            <a:ext cx="2922111" cy="237744"/>
          </a:xfrm>
          <a:prstGeom prst="rect">
            <a:avLst/>
          </a:prstGeom>
          <a:noFill/>
          <a:ln/>
        </p:spPr>
        <p:txBody>
          <a:bodyPr wrap="square" lIns="0" tIns="0" rIns="0" bIns="0" rtlCol="0" anchor="ctr">
            <a:normAutofit/>
          </a:bodyPr>
          <a:lstStyle/>
          <a:p>
            <a:pPr marL="0" indent="0" algn="l">
              <a:buNone/>
            </a:pPr>
            <a:r>
              <a:rPr lang="en-US" sz="1440" dirty="0">
                <a:solidFill>
                  <a:srgbClr val="6E6A66"/>
                </a:solidFill>
                <a:latin typeface="Aptos" pitchFamily="34" charset="0"/>
                <a:ea typeface="Aptos" pitchFamily="34" charset="-122"/>
                <a:cs typeface="Aptos" pitchFamily="34" charset="-120"/>
              </a:rPr>
              <a:t>25 unidades faltantes antes que 12</a:t>
            </a:r>
            <a:endParaRPr lang="en-US" sz="1440" dirty="0"/>
          </a:p>
        </p:txBody>
      </p:sp>
      <p:grpSp>
        <p:nvGrpSpPr>
          <p:cNvPr id="38" name="Grupo 37">
            <a:extLst>
              <a:ext uri="{FF2B5EF4-FFF2-40B4-BE49-F238E27FC236}">
                <a16:creationId xmlns:a16="http://schemas.microsoft.com/office/drawing/2014/main" id="{9F95F0A1-6953-1A88-480B-0BC09125B7C5}"/>
              </a:ext>
            </a:extLst>
          </p:cNvPr>
          <p:cNvGrpSpPr/>
          <p:nvPr/>
        </p:nvGrpSpPr>
        <p:grpSpPr>
          <a:xfrm>
            <a:off x="7178040" y="4961611"/>
            <a:ext cx="630936" cy="356616"/>
            <a:chOff x="7178040" y="4947895"/>
            <a:chExt cx="630936" cy="356616"/>
          </a:xfrm>
        </p:grpSpPr>
        <p:sp>
          <p:nvSpPr>
            <p:cNvPr id="28" name="Shape 23"/>
            <p:cNvSpPr/>
            <p:nvPr/>
          </p:nvSpPr>
          <p:spPr>
            <a:xfrm>
              <a:off x="7178040" y="4947895"/>
              <a:ext cx="630936" cy="356616"/>
            </a:xfrm>
            <a:prstGeom prst="roundRect">
              <a:avLst>
                <a:gd name="adj" fmla="val 30769"/>
              </a:avLst>
            </a:prstGeom>
            <a:solidFill>
              <a:srgbClr val="E8F2ED"/>
            </a:solidFill>
            <a:ln w="12700">
              <a:solidFill>
                <a:srgbClr val="E8F2ED">
                  <a:alpha val="0"/>
                </a:srgbClr>
              </a:solidFill>
              <a:prstDash val="solid"/>
            </a:ln>
          </p:spPr>
          <p:txBody>
            <a:bodyPr/>
            <a:lstStyle/>
            <a:p>
              <a:endParaRPr lang="en-US"/>
            </a:p>
          </p:txBody>
        </p:sp>
        <p:sp>
          <p:nvSpPr>
            <p:cNvPr id="29" name="Text 24"/>
            <p:cNvSpPr/>
            <p:nvPr/>
          </p:nvSpPr>
          <p:spPr>
            <a:xfrm>
              <a:off x="7287768" y="4975327"/>
              <a:ext cx="411480" cy="283464"/>
            </a:xfrm>
            <a:prstGeom prst="rect">
              <a:avLst/>
            </a:prstGeom>
            <a:noFill/>
            <a:ln/>
          </p:spPr>
          <p:txBody>
            <a:bodyPr wrap="square" lIns="0" tIns="0" rIns="0" bIns="0" rtlCol="0" anchor="ctr">
              <a:normAutofit/>
            </a:bodyPr>
            <a:lstStyle/>
            <a:p>
              <a:pPr marL="0" indent="0" algn="ctr">
                <a:buNone/>
              </a:pPr>
              <a:r>
                <a:rPr lang="en-US" sz="1200" b="1" dirty="0">
                  <a:solidFill>
                    <a:srgbClr val="32755E"/>
                  </a:solidFill>
                  <a:latin typeface="Aptos" pitchFamily="34" charset="0"/>
                  <a:ea typeface="Aptos" pitchFamily="34" charset="-122"/>
                  <a:cs typeface="Aptos" pitchFamily="34" charset="-120"/>
                </a:rPr>
                <a:t>OK</a:t>
              </a:r>
              <a:endParaRPr lang="en-US" sz="1200" dirty="0"/>
            </a:p>
          </p:txBody>
        </p:sp>
      </p:grpSp>
      <p:sp>
        <p:nvSpPr>
          <p:cNvPr id="30" name="Shape 25"/>
          <p:cNvSpPr/>
          <p:nvPr/>
        </p:nvSpPr>
        <p:spPr>
          <a:xfrm>
            <a:off x="8394192" y="2387575"/>
            <a:ext cx="3090672" cy="3209544"/>
          </a:xfrm>
          <a:prstGeom prst="roundRect">
            <a:avLst>
              <a:gd name="adj" fmla="val 3550"/>
            </a:avLst>
          </a:prstGeom>
          <a:solidFill>
            <a:srgbClr val="F5F0EB"/>
          </a:solidFill>
          <a:ln w="12700">
            <a:solidFill>
              <a:srgbClr val="F5F0EB">
                <a:alpha val="0"/>
              </a:srgbClr>
            </a:solidFill>
            <a:prstDash val="solid"/>
          </a:ln>
        </p:spPr>
        <p:txBody>
          <a:bodyPr/>
          <a:lstStyle/>
          <a:p>
            <a:endParaRPr lang="en-US"/>
          </a:p>
        </p:txBody>
      </p:sp>
      <p:sp>
        <p:nvSpPr>
          <p:cNvPr id="31" name="Text 26"/>
          <p:cNvSpPr/>
          <p:nvPr/>
        </p:nvSpPr>
        <p:spPr>
          <a:xfrm>
            <a:off x="8714232" y="2826487"/>
            <a:ext cx="2414016" cy="886968"/>
          </a:xfrm>
          <a:prstGeom prst="rect">
            <a:avLst/>
          </a:prstGeom>
          <a:noFill/>
          <a:ln/>
        </p:spPr>
        <p:txBody>
          <a:bodyPr wrap="square" lIns="0" tIns="0" rIns="0" bIns="0" rtlCol="0" anchor="ctr">
            <a:normAutofit/>
          </a:bodyPr>
          <a:lstStyle/>
          <a:p>
            <a:pPr marL="0" indent="0" algn="ctr">
              <a:buNone/>
            </a:pPr>
            <a:r>
              <a:rPr lang="en-US" sz="5300" b="1" dirty="0">
                <a:solidFill>
                  <a:srgbClr val="32755E"/>
                </a:solidFill>
                <a:latin typeface="Aptos Display" pitchFamily="34" charset="0"/>
                <a:ea typeface="Aptos Display" pitchFamily="34" charset="-122"/>
                <a:cs typeface="Aptos Display" pitchFamily="34" charset="-120"/>
              </a:rPr>
              <a:t>3 / 3</a:t>
            </a:r>
            <a:endParaRPr lang="en-US" sz="5300" dirty="0"/>
          </a:p>
        </p:txBody>
      </p:sp>
      <p:sp>
        <p:nvSpPr>
          <p:cNvPr id="32" name="Text 27"/>
          <p:cNvSpPr/>
          <p:nvPr/>
        </p:nvSpPr>
        <p:spPr>
          <a:xfrm>
            <a:off x="8705088" y="3786607"/>
            <a:ext cx="2468880" cy="411480"/>
          </a:xfrm>
          <a:prstGeom prst="rect">
            <a:avLst/>
          </a:prstGeom>
          <a:noFill/>
          <a:ln/>
        </p:spPr>
        <p:txBody>
          <a:bodyPr wrap="square" lIns="0" tIns="0" rIns="0" bIns="0" rtlCol="0" anchor="ctr">
            <a:normAutofit/>
          </a:bodyPr>
          <a:lstStyle/>
          <a:p>
            <a:pPr marL="0" indent="0" algn="ctr">
              <a:buNone/>
            </a:pPr>
            <a:r>
              <a:rPr lang="en-US" sz="1800" b="1" dirty="0">
                <a:solidFill>
                  <a:srgbClr val="292929"/>
                </a:solidFill>
                <a:latin typeface="Aptos" pitchFamily="34" charset="0"/>
                <a:ea typeface="Aptos" pitchFamily="34" charset="-122"/>
                <a:cs typeface="Aptos" pitchFamily="34" charset="-120"/>
              </a:rPr>
              <a:t>casos aprobados</a:t>
            </a:r>
            <a:endParaRPr lang="en-US" sz="1800" dirty="0"/>
          </a:p>
        </p:txBody>
      </p:sp>
      <p:sp>
        <p:nvSpPr>
          <p:cNvPr id="33" name="Shape 28"/>
          <p:cNvSpPr/>
          <p:nvPr/>
        </p:nvSpPr>
        <p:spPr>
          <a:xfrm>
            <a:off x="8714232" y="4463263"/>
            <a:ext cx="2432304" cy="0"/>
          </a:xfrm>
          <a:prstGeom prst="line">
            <a:avLst/>
          </a:prstGeom>
          <a:noFill/>
          <a:ln w="11430">
            <a:solidFill>
              <a:srgbClr val="D7C9BE"/>
            </a:solidFill>
            <a:prstDash val="solid"/>
          </a:ln>
        </p:spPr>
        <p:txBody>
          <a:bodyPr/>
          <a:lstStyle/>
          <a:p>
            <a:endParaRPr lang="en-US"/>
          </a:p>
        </p:txBody>
      </p:sp>
      <p:sp>
        <p:nvSpPr>
          <p:cNvPr id="34" name="Text 29"/>
          <p:cNvSpPr/>
          <p:nvPr/>
        </p:nvSpPr>
        <p:spPr>
          <a:xfrm>
            <a:off x="8759952" y="4664431"/>
            <a:ext cx="2404872" cy="585216"/>
          </a:xfrm>
          <a:prstGeom prst="rect">
            <a:avLst/>
          </a:prstGeom>
          <a:noFill/>
          <a:ln/>
        </p:spPr>
        <p:txBody>
          <a:bodyPr wrap="square" lIns="0" tIns="0" rIns="0" bIns="0" rtlCol="0" anchor="ctr">
            <a:normAutofit/>
          </a:bodyPr>
          <a:lstStyle/>
          <a:p>
            <a:pPr marL="0" indent="0" algn="ctr">
              <a:buNone/>
            </a:pPr>
            <a:r>
              <a:rPr lang="en-US" sz="1440" dirty="0">
                <a:solidFill>
                  <a:srgbClr val="6E6A66"/>
                </a:solidFill>
                <a:latin typeface="Aptos" pitchFamily="34" charset="0"/>
                <a:ea typeface="Aptos" pitchFamily="34" charset="-122"/>
                <a:cs typeface="Aptos" pitchFamily="34" charset="-120"/>
              </a:rPr>
              <a:t>No significa que toda la aplicación esté probada.</a:t>
            </a:r>
            <a:endParaRPr lang="en-US" sz="1440" dirty="0"/>
          </a:p>
        </p:txBody>
      </p:sp>
      <p:pic>
        <p:nvPicPr>
          <p:cNvPr id="3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2144" y="5806440"/>
            <a:ext cx="237744" cy="2103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12648" y="470916"/>
            <a:ext cx="64008" cy="320040"/>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804672" y="521208"/>
            <a:ext cx="1215514" cy="219456"/>
          </a:xfrm>
          <a:prstGeom prst="rect">
            <a:avLst/>
          </a:prstGeom>
          <a:noFill/>
          <a:ln/>
        </p:spPr>
        <p:txBody>
          <a:bodyPr wrap="square" lIns="0" tIns="0" rIns="0" bIns="0" rtlCol="0" anchor="ctr">
            <a:normAutofit/>
          </a:bodyPr>
          <a:lstStyle/>
          <a:p>
            <a:pPr marL="0" indent="0" algn="l">
              <a:buNone/>
            </a:pPr>
            <a:r>
              <a:rPr lang="en-US" sz="1120" b="1" kern="0" spc="200" dirty="0">
                <a:solidFill>
                  <a:srgbClr val="A77958"/>
                </a:solidFill>
                <a:latin typeface="Aptos" pitchFamily="34" charset="0"/>
                <a:ea typeface="Aptos" pitchFamily="34" charset="-122"/>
                <a:cs typeface="Aptos" pitchFamily="34" charset="-120"/>
              </a:rPr>
              <a:t>09  ·  CIERRE</a:t>
            </a:r>
            <a:endParaRPr lang="en-US" sz="1120" dirty="0"/>
          </a:p>
        </p:txBody>
      </p:sp>
      <p:sp>
        <p:nvSpPr>
          <p:cNvPr id="4" name="Text 2"/>
          <p:cNvSpPr/>
          <p:nvPr/>
        </p:nvSpPr>
        <p:spPr>
          <a:xfrm>
            <a:off x="621792" y="914400"/>
            <a:ext cx="5833872" cy="566928"/>
          </a:xfrm>
          <a:prstGeom prst="rect">
            <a:avLst/>
          </a:prstGeom>
          <a:noFill/>
          <a:ln/>
        </p:spPr>
        <p:txBody>
          <a:bodyPr wrap="square" lIns="0" tIns="0" rIns="0" bIns="0" rtlCol="0" anchor="ctr">
            <a:normAutofit/>
          </a:bodyPr>
          <a:lstStyle/>
          <a:p>
            <a:pPr marL="0" indent="0" algn="l">
              <a:buNone/>
            </a:pPr>
            <a:r>
              <a:rPr lang="en-US" sz="2950" b="1" dirty="0">
                <a:solidFill>
                  <a:srgbClr val="292929"/>
                </a:solidFill>
                <a:latin typeface="Aptos Display" pitchFamily="34" charset="0"/>
                <a:ea typeface="Aptos Display" pitchFamily="34" charset="-122"/>
                <a:cs typeface="Aptos Display" pitchFamily="34" charset="-120"/>
              </a:rPr>
              <a:t>¿Qué logramos y qué mejoraríamos?</a:t>
            </a:r>
            <a:endParaRPr lang="en-US" sz="2950" dirty="0"/>
          </a:p>
        </p:txBody>
      </p:sp>
      <p:sp>
        <p:nvSpPr>
          <p:cNvPr id="5" name="Text 3"/>
          <p:cNvSpPr/>
          <p:nvPr/>
        </p:nvSpPr>
        <p:spPr>
          <a:xfrm>
            <a:off x="649224" y="1527048"/>
            <a:ext cx="7807204" cy="365760"/>
          </a:xfrm>
          <a:prstGeom prst="rect">
            <a:avLst/>
          </a:prstGeom>
          <a:noFill/>
          <a:ln/>
        </p:spPr>
        <p:txBody>
          <a:bodyPr wrap="square" lIns="0" tIns="0" rIns="0" bIns="0" rtlCol="0" anchor="ctr">
            <a:normAutofit/>
          </a:bodyPr>
          <a:lstStyle/>
          <a:p>
            <a:pPr marL="0" indent="0" algn="l">
              <a:buNone/>
            </a:pPr>
            <a:r>
              <a:rPr lang="en-US" sz="1640" dirty="0">
                <a:solidFill>
                  <a:srgbClr val="6E6A66"/>
                </a:solidFill>
                <a:latin typeface="Aptos" pitchFamily="34" charset="0"/>
                <a:ea typeface="Aptos" pitchFamily="34" charset="-122"/>
                <a:cs typeface="Aptos" pitchFamily="34" charset="-120"/>
              </a:rPr>
              <a:t>Un prototipo pequeño, pero con decisiones de diseño que podemos explicar y </a:t>
            </a:r>
            <a:r>
              <a:rPr lang="en-US" sz="1640" dirty="0" err="1">
                <a:solidFill>
                  <a:srgbClr val="6E6A66"/>
                </a:solidFill>
                <a:latin typeface="Aptos" pitchFamily="34" charset="0"/>
                <a:ea typeface="Aptos" pitchFamily="34" charset="-122"/>
                <a:cs typeface="Aptos" pitchFamily="34" charset="-120"/>
              </a:rPr>
              <a:t>probar</a:t>
            </a:r>
            <a:endParaRPr lang="en-US" sz="1640" dirty="0"/>
          </a:p>
        </p:txBody>
      </p:sp>
      <p:sp>
        <p:nvSpPr>
          <p:cNvPr id="6" name="Shape 4"/>
          <p:cNvSpPr/>
          <p:nvPr/>
        </p:nvSpPr>
        <p:spPr>
          <a:xfrm>
            <a:off x="612648" y="6492240"/>
            <a:ext cx="10963656" cy="0"/>
          </a:xfrm>
          <a:prstGeom prst="line">
            <a:avLst/>
          </a:prstGeom>
          <a:noFill/>
          <a:ln w="8890">
            <a:solidFill>
              <a:srgbClr val="DEDAD5"/>
            </a:solidFill>
            <a:prstDash val="solid"/>
          </a:ln>
        </p:spPr>
        <p:txBody>
          <a:bodyPr/>
          <a:lstStyle/>
          <a:p>
            <a:endParaRPr lang="en-US"/>
          </a:p>
        </p:txBody>
      </p:sp>
      <p:sp>
        <p:nvSpPr>
          <p:cNvPr id="7" name="Text 5"/>
          <p:cNvSpPr/>
          <p:nvPr/>
        </p:nvSpPr>
        <p:spPr>
          <a:xfrm>
            <a:off x="658368" y="6574536"/>
            <a:ext cx="8046720" cy="164592"/>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
        <p:nvSpPr>
          <p:cNvPr id="8" name="Text 6"/>
          <p:cNvSpPr/>
          <p:nvPr/>
        </p:nvSpPr>
        <p:spPr>
          <a:xfrm>
            <a:off x="10561320" y="6565392"/>
            <a:ext cx="969264" cy="164592"/>
          </a:xfrm>
          <a:prstGeom prst="rect">
            <a:avLst/>
          </a:prstGeom>
          <a:noFill/>
          <a:ln/>
        </p:spPr>
        <p:txBody>
          <a:bodyPr wrap="square" lIns="0" tIns="0" rIns="0" bIns="0" rtlCol="0" anchor="ctr">
            <a:normAutofit/>
          </a:bodyPr>
          <a:lstStyle/>
          <a:p>
            <a:pPr marL="0" indent="0" algn="r">
              <a:buNone/>
            </a:pPr>
            <a:r>
              <a:rPr lang="en-US" sz="910" dirty="0">
                <a:solidFill>
                  <a:srgbClr val="6E6A66"/>
                </a:solidFill>
                <a:latin typeface="Aptos" pitchFamily="34" charset="0"/>
                <a:ea typeface="Aptos" pitchFamily="34" charset="-122"/>
                <a:cs typeface="Aptos" pitchFamily="34" charset="-120"/>
              </a:rPr>
              <a:t>09 / 09</a:t>
            </a:r>
            <a:endParaRPr lang="en-US" sz="910" dirty="0"/>
          </a:p>
        </p:txBody>
      </p:sp>
      <p:sp>
        <p:nvSpPr>
          <p:cNvPr id="9" name="Shape 7"/>
          <p:cNvSpPr/>
          <p:nvPr/>
        </p:nvSpPr>
        <p:spPr>
          <a:xfrm>
            <a:off x="713232" y="2121408"/>
            <a:ext cx="5184648" cy="3282696"/>
          </a:xfrm>
          <a:prstGeom prst="roundRect">
            <a:avLst>
              <a:gd name="adj" fmla="val 3343"/>
            </a:avLst>
          </a:prstGeom>
          <a:solidFill>
            <a:srgbClr val="FFFFFF"/>
          </a:solidFill>
          <a:ln w="8890">
            <a:solidFill>
              <a:srgbClr val="DEDAD5"/>
            </a:solidFill>
            <a:prstDash val="solid"/>
          </a:ln>
        </p:spPr>
        <p:txBody>
          <a:bodyPr/>
          <a:lstStyle/>
          <a:p>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7552" y="2414016"/>
            <a:ext cx="402336" cy="402336"/>
          </a:xfrm>
          <a:prstGeom prst="rect">
            <a:avLst/>
          </a:prstGeom>
        </p:spPr>
      </p:pic>
      <p:sp>
        <p:nvSpPr>
          <p:cNvPr id="11" name="Text 8"/>
          <p:cNvSpPr/>
          <p:nvPr/>
        </p:nvSpPr>
        <p:spPr>
          <a:xfrm>
            <a:off x="1508760" y="2423160"/>
            <a:ext cx="2127575" cy="402336"/>
          </a:xfrm>
          <a:prstGeom prst="rect">
            <a:avLst/>
          </a:prstGeom>
          <a:noFill/>
          <a:ln/>
        </p:spPr>
        <p:txBody>
          <a:bodyPr wrap="square" lIns="0" tIns="0" rIns="0" bIns="0" rtlCol="0" anchor="ctr">
            <a:normAutofit/>
          </a:bodyPr>
          <a:lstStyle/>
          <a:p>
            <a:pPr marL="0" indent="0" algn="l">
              <a:buNone/>
            </a:pPr>
            <a:r>
              <a:rPr lang="en-US" sz="2200" b="1" dirty="0">
                <a:solidFill>
                  <a:srgbClr val="292929"/>
                </a:solidFill>
                <a:latin typeface="Aptos" pitchFamily="34" charset="0"/>
                <a:ea typeface="Aptos" pitchFamily="34" charset="-122"/>
                <a:cs typeface="Aptos" pitchFamily="34" charset="-120"/>
              </a:rPr>
              <a:t>Lo que funciona</a:t>
            </a:r>
            <a:endParaRPr lang="en-US" sz="2200" dirty="0"/>
          </a:p>
        </p:txBody>
      </p:sp>
      <p:sp>
        <p:nvSpPr>
          <p:cNvPr id="12" name="Shape 9"/>
          <p:cNvSpPr/>
          <p:nvPr/>
        </p:nvSpPr>
        <p:spPr>
          <a:xfrm>
            <a:off x="1005840" y="3209544"/>
            <a:ext cx="128016" cy="128016"/>
          </a:xfrm>
          <a:prstGeom prst="ellipse">
            <a:avLst/>
          </a:prstGeom>
          <a:solidFill>
            <a:srgbClr val="32755E"/>
          </a:solidFill>
          <a:ln w="12700">
            <a:solidFill>
              <a:srgbClr val="32755E">
                <a:alpha val="0"/>
              </a:srgbClr>
            </a:solidFill>
            <a:prstDash val="solid"/>
          </a:ln>
        </p:spPr>
        <p:txBody>
          <a:bodyPr/>
          <a:lstStyle/>
          <a:p>
            <a:endParaRPr lang="en-US"/>
          </a:p>
        </p:txBody>
      </p:sp>
      <p:sp>
        <p:nvSpPr>
          <p:cNvPr id="13" name="Text 10"/>
          <p:cNvSpPr/>
          <p:nvPr/>
        </p:nvSpPr>
        <p:spPr>
          <a:xfrm>
            <a:off x="1316736" y="3072384"/>
            <a:ext cx="3276529" cy="438912"/>
          </a:xfrm>
          <a:prstGeom prst="rect">
            <a:avLst/>
          </a:prstGeom>
          <a:noFill/>
          <a:ln/>
        </p:spPr>
        <p:txBody>
          <a:bodyPr wrap="square" lIns="0" tIns="0" rIns="0" bIns="0" rtlCol="0" anchor="ctr">
            <a:normAutofit/>
          </a:bodyPr>
          <a:lstStyle/>
          <a:p>
            <a:pPr marL="0" indent="0" algn="l">
              <a:buNone/>
            </a:pPr>
            <a:r>
              <a:rPr lang="en-US" sz="1720" dirty="0">
                <a:solidFill>
                  <a:srgbClr val="292929"/>
                </a:solidFill>
                <a:latin typeface="Aptos" pitchFamily="34" charset="0"/>
                <a:ea typeface="Aptos" pitchFamily="34" charset="-122"/>
                <a:cs typeface="Aptos" pitchFamily="34" charset="-120"/>
              </a:rPr>
              <a:t>Registrar y actualizar existencias</a:t>
            </a:r>
            <a:endParaRPr lang="en-US" sz="1720" dirty="0"/>
          </a:p>
        </p:txBody>
      </p:sp>
      <p:sp>
        <p:nvSpPr>
          <p:cNvPr id="14" name="Shape 11"/>
          <p:cNvSpPr/>
          <p:nvPr/>
        </p:nvSpPr>
        <p:spPr>
          <a:xfrm>
            <a:off x="1005840" y="3959352"/>
            <a:ext cx="128016" cy="128016"/>
          </a:xfrm>
          <a:prstGeom prst="ellipse">
            <a:avLst/>
          </a:prstGeom>
          <a:solidFill>
            <a:srgbClr val="32755E"/>
          </a:solidFill>
          <a:ln w="12700">
            <a:solidFill>
              <a:srgbClr val="32755E">
                <a:alpha val="0"/>
              </a:srgbClr>
            </a:solidFill>
            <a:prstDash val="solid"/>
          </a:ln>
        </p:spPr>
        <p:txBody>
          <a:bodyPr/>
          <a:lstStyle/>
          <a:p>
            <a:endParaRPr lang="en-US"/>
          </a:p>
        </p:txBody>
      </p:sp>
      <p:sp>
        <p:nvSpPr>
          <p:cNvPr id="15" name="Text 12"/>
          <p:cNvSpPr/>
          <p:nvPr/>
        </p:nvSpPr>
        <p:spPr>
          <a:xfrm>
            <a:off x="1316736" y="3822192"/>
            <a:ext cx="3446650" cy="438912"/>
          </a:xfrm>
          <a:prstGeom prst="rect">
            <a:avLst/>
          </a:prstGeom>
          <a:noFill/>
          <a:ln/>
        </p:spPr>
        <p:txBody>
          <a:bodyPr wrap="square" lIns="0" tIns="0" rIns="0" bIns="0" rtlCol="0" anchor="ctr">
            <a:normAutofit/>
          </a:bodyPr>
          <a:lstStyle/>
          <a:p>
            <a:pPr marL="0" indent="0" algn="l">
              <a:buNone/>
            </a:pPr>
            <a:r>
              <a:rPr lang="en-US" sz="1720" dirty="0">
                <a:solidFill>
                  <a:srgbClr val="292929"/>
                </a:solidFill>
                <a:latin typeface="Aptos" pitchFamily="34" charset="0"/>
                <a:ea typeface="Aptos" pitchFamily="34" charset="-122"/>
                <a:cs typeface="Aptos" pitchFamily="34" charset="-120"/>
              </a:rPr>
              <a:t>Detectar y ordenar recursos críticos</a:t>
            </a:r>
            <a:endParaRPr lang="en-US" sz="1720" dirty="0"/>
          </a:p>
        </p:txBody>
      </p:sp>
      <p:sp>
        <p:nvSpPr>
          <p:cNvPr id="16" name="Shape 13"/>
          <p:cNvSpPr/>
          <p:nvPr/>
        </p:nvSpPr>
        <p:spPr>
          <a:xfrm>
            <a:off x="1005840" y="4709160"/>
            <a:ext cx="128016" cy="128016"/>
          </a:xfrm>
          <a:prstGeom prst="ellipse">
            <a:avLst/>
          </a:prstGeom>
          <a:solidFill>
            <a:srgbClr val="32755E"/>
          </a:solidFill>
          <a:ln w="12700">
            <a:solidFill>
              <a:srgbClr val="32755E">
                <a:alpha val="0"/>
              </a:srgbClr>
            </a:solidFill>
            <a:prstDash val="solid"/>
          </a:ln>
        </p:spPr>
        <p:txBody>
          <a:bodyPr/>
          <a:lstStyle/>
          <a:p>
            <a:endParaRPr lang="en-US"/>
          </a:p>
        </p:txBody>
      </p:sp>
      <p:sp>
        <p:nvSpPr>
          <p:cNvPr id="17" name="Text 14"/>
          <p:cNvSpPr/>
          <p:nvPr/>
        </p:nvSpPr>
        <p:spPr>
          <a:xfrm>
            <a:off x="1316736" y="4572000"/>
            <a:ext cx="3609683" cy="438912"/>
          </a:xfrm>
          <a:prstGeom prst="rect">
            <a:avLst/>
          </a:prstGeom>
          <a:noFill/>
          <a:ln/>
        </p:spPr>
        <p:txBody>
          <a:bodyPr wrap="square" lIns="0" tIns="0" rIns="0" bIns="0" rtlCol="0" anchor="ctr">
            <a:normAutofit/>
          </a:bodyPr>
          <a:lstStyle/>
          <a:p>
            <a:pPr marL="0" indent="0" algn="l">
              <a:buNone/>
            </a:pPr>
            <a:r>
              <a:rPr lang="en-US" sz="1720" dirty="0">
                <a:solidFill>
                  <a:srgbClr val="292929"/>
                </a:solidFill>
                <a:latin typeface="Aptos" pitchFamily="34" charset="0"/>
                <a:ea typeface="Aptos" pitchFamily="34" charset="-122"/>
                <a:cs typeface="Aptos" pitchFamily="34" charset="-120"/>
              </a:rPr>
              <a:t>Analizar datos y responder a eventos</a:t>
            </a:r>
            <a:endParaRPr lang="en-US" sz="1720" dirty="0"/>
          </a:p>
        </p:txBody>
      </p:sp>
      <p:sp>
        <p:nvSpPr>
          <p:cNvPr id="18" name="Shape 15"/>
          <p:cNvSpPr/>
          <p:nvPr/>
        </p:nvSpPr>
        <p:spPr>
          <a:xfrm>
            <a:off x="6199632" y="2121408"/>
            <a:ext cx="5266944" cy="3282696"/>
          </a:xfrm>
          <a:prstGeom prst="roundRect">
            <a:avLst>
              <a:gd name="adj" fmla="val 3343"/>
            </a:avLst>
          </a:prstGeom>
          <a:solidFill>
            <a:srgbClr val="F5F0EB"/>
          </a:solidFill>
          <a:ln w="12700">
            <a:solidFill>
              <a:srgbClr val="F5F0EB">
                <a:alpha val="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19672" y="2423160"/>
            <a:ext cx="438912" cy="384048"/>
          </a:xfrm>
          <a:prstGeom prst="rect">
            <a:avLst/>
          </a:prstGeom>
        </p:spPr>
      </p:pic>
      <p:sp>
        <p:nvSpPr>
          <p:cNvPr id="20" name="Text 16"/>
          <p:cNvSpPr/>
          <p:nvPr/>
        </p:nvSpPr>
        <p:spPr>
          <a:xfrm>
            <a:off x="7104888" y="2423160"/>
            <a:ext cx="1691782" cy="402336"/>
          </a:xfrm>
          <a:prstGeom prst="rect">
            <a:avLst/>
          </a:prstGeom>
          <a:noFill/>
          <a:ln/>
        </p:spPr>
        <p:txBody>
          <a:bodyPr wrap="square" lIns="0" tIns="0" rIns="0" bIns="0" rtlCol="0" anchor="ctr">
            <a:normAutofit/>
          </a:bodyPr>
          <a:lstStyle/>
          <a:p>
            <a:pPr marL="0" indent="0" algn="l">
              <a:buNone/>
            </a:pPr>
            <a:r>
              <a:rPr lang="en-US" sz="2200" b="1" dirty="0">
                <a:solidFill>
                  <a:srgbClr val="292929"/>
                </a:solidFill>
                <a:latin typeface="Aptos" pitchFamily="34" charset="0"/>
                <a:ea typeface="Aptos" pitchFamily="34" charset="-122"/>
                <a:cs typeface="Aptos" pitchFamily="34" charset="-120"/>
              </a:rPr>
              <a:t>Lo que sigue</a:t>
            </a:r>
            <a:endParaRPr lang="en-US" sz="2200" dirty="0"/>
          </a:p>
        </p:txBody>
      </p:sp>
      <p:sp>
        <p:nvSpPr>
          <p:cNvPr id="21" name="Shape 17"/>
          <p:cNvSpPr/>
          <p:nvPr/>
        </p:nvSpPr>
        <p:spPr>
          <a:xfrm>
            <a:off x="6528816" y="3209544"/>
            <a:ext cx="128016" cy="128016"/>
          </a:xfrm>
          <a:prstGeom prst="ellipse">
            <a:avLst/>
          </a:prstGeom>
          <a:solidFill>
            <a:srgbClr val="A77958"/>
          </a:solidFill>
          <a:ln w="12700">
            <a:solidFill>
              <a:srgbClr val="A77958">
                <a:alpha val="0"/>
              </a:srgbClr>
            </a:solidFill>
            <a:prstDash val="solid"/>
          </a:ln>
        </p:spPr>
        <p:txBody>
          <a:bodyPr/>
          <a:lstStyle/>
          <a:p>
            <a:endParaRPr lang="en-US"/>
          </a:p>
        </p:txBody>
      </p:sp>
      <p:sp>
        <p:nvSpPr>
          <p:cNvPr id="22" name="Text 18"/>
          <p:cNvSpPr/>
          <p:nvPr/>
        </p:nvSpPr>
        <p:spPr>
          <a:xfrm>
            <a:off x="6830568" y="3072384"/>
            <a:ext cx="4044696" cy="448056"/>
          </a:xfrm>
          <a:prstGeom prst="rect">
            <a:avLst/>
          </a:prstGeom>
          <a:noFill/>
          <a:ln/>
        </p:spPr>
        <p:txBody>
          <a:bodyPr wrap="square" lIns="0" tIns="0" rIns="0" bIns="0" rtlCol="0" anchor="ctr">
            <a:normAutofit/>
          </a:bodyPr>
          <a:lstStyle/>
          <a:p>
            <a:pPr marL="0" indent="0" algn="l">
              <a:buNone/>
            </a:pPr>
            <a:r>
              <a:rPr lang="en-US" sz="1720" dirty="0">
                <a:solidFill>
                  <a:srgbClr val="292929"/>
                </a:solidFill>
                <a:latin typeface="Aptos" pitchFamily="34" charset="0"/>
                <a:ea typeface="Aptos" pitchFamily="34" charset="-122"/>
                <a:cs typeface="Aptos" pitchFamily="34" charset="-120"/>
              </a:rPr>
              <a:t>Guardar información al cerrar el programa</a:t>
            </a:r>
            <a:endParaRPr lang="en-US" sz="1720" dirty="0"/>
          </a:p>
        </p:txBody>
      </p:sp>
      <p:sp>
        <p:nvSpPr>
          <p:cNvPr id="23" name="Shape 19"/>
          <p:cNvSpPr/>
          <p:nvPr/>
        </p:nvSpPr>
        <p:spPr>
          <a:xfrm>
            <a:off x="6528816" y="3959352"/>
            <a:ext cx="128016" cy="128016"/>
          </a:xfrm>
          <a:prstGeom prst="ellipse">
            <a:avLst/>
          </a:prstGeom>
          <a:solidFill>
            <a:srgbClr val="A77958"/>
          </a:solidFill>
          <a:ln w="12700">
            <a:solidFill>
              <a:srgbClr val="A77958">
                <a:alpha val="0"/>
              </a:srgbClr>
            </a:solidFill>
            <a:prstDash val="solid"/>
          </a:ln>
        </p:spPr>
        <p:txBody>
          <a:bodyPr/>
          <a:lstStyle/>
          <a:p>
            <a:endParaRPr lang="en-US"/>
          </a:p>
        </p:txBody>
      </p:sp>
      <p:sp>
        <p:nvSpPr>
          <p:cNvPr id="24" name="Text 20"/>
          <p:cNvSpPr/>
          <p:nvPr/>
        </p:nvSpPr>
        <p:spPr>
          <a:xfrm>
            <a:off x="6830568" y="3822192"/>
            <a:ext cx="2972225" cy="448056"/>
          </a:xfrm>
          <a:prstGeom prst="rect">
            <a:avLst/>
          </a:prstGeom>
          <a:noFill/>
          <a:ln/>
        </p:spPr>
        <p:txBody>
          <a:bodyPr wrap="square" lIns="0" tIns="0" rIns="0" bIns="0" rtlCol="0" anchor="ctr">
            <a:normAutofit/>
          </a:bodyPr>
          <a:lstStyle/>
          <a:p>
            <a:pPr marL="0" indent="0" algn="l">
              <a:buNone/>
            </a:pPr>
            <a:r>
              <a:rPr lang="en-US" sz="1720" dirty="0">
                <a:solidFill>
                  <a:srgbClr val="292929"/>
                </a:solidFill>
                <a:latin typeface="Aptos" pitchFamily="34" charset="0"/>
                <a:ea typeface="Aptos" pitchFamily="34" charset="-122"/>
                <a:cs typeface="Aptos" pitchFamily="34" charset="-120"/>
              </a:rPr>
              <a:t>Ampliar las pruebas de interfaz</a:t>
            </a:r>
            <a:endParaRPr lang="en-US" sz="1720" dirty="0"/>
          </a:p>
        </p:txBody>
      </p:sp>
      <p:sp>
        <p:nvSpPr>
          <p:cNvPr id="25" name="Shape 21"/>
          <p:cNvSpPr/>
          <p:nvPr/>
        </p:nvSpPr>
        <p:spPr>
          <a:xfrm>
            <a:off x="6528816" y="4709160"/>
            <a:ext cx="128016" cy="128016"/>
          </a:xfrm>
          <a:prstGeom prst="ellipse">
            <a:avLst/>
          </a:prstGeom>
          <a:solidFill>
            <a:srgbClr val="A77958"/>
          </a:solidFill>
          <a:ln w="12700">
            <a:solidFill>
              <a:srgbClr val="A77958">
                <a:alpha val="0"/>
              </a:srgbClr>
            </a:solidFill>
            <a:prstDash val="solid"/>
          </a:ln>
        </p:spPr>
        <p:txBody>
          <a:bodyPr/>
          <a:lstStyle/>
          <a:p>
            <a:endParaRPr lang="en-US"/>
          </a:p>
        </p:txBody>
      </p:sp>
      <p:sp>
        <p:nvSpPr>
          <p:cNvPr id="26" name="Text 22"/>
          <p:cNvSpPr/>
          <p:nvPr/>
        </p:nvSpPr>
        <p:spPr>
          <a:xfrm>
            <a:off x="6830568" y="4572000"/>
            <a:ext cx="3327069" cy="448056"/>
          </a:xfrm>
          <a:prstGeom prst="rect">
            <a:avLst/>
          </a:prstGeom>
          <a:noFill/>
          <a:ln/>
        </p:spPr>
        <p:txBody>
          <a:bodyPr wrap="square" lIns="0" tIns="0" rIns="0" bIns="0" rtlCol="0" anchor="ctr">
            <a:normAutofit/>
          </a:bodyPr>
          <a:lstStyle/>
          <a:p>
            <a:pPr marL="0" indent="0" algn="l">
              <a:buNone/>
            </a:pPr>
            <a:r>
              <a:rPr lang="en-US" sz="1720" dirty="0">
                <a:solidFill>
                  <a:srgbClr val="292929"/>
                </a:solidFill>
                <a:latin typeface="Aptos" pitchFamily="34" charset="0"/>
                <a:ea typeface="Aptos" pitchFamily="34" charset="-122"/>
                <a:cs typeface="Aptos" pitchFamily="34" charset="-120"/>
              </a:rPr>
              <a:t>Preparar controles para un uso real</a:t>
            </a:r>
            <a:endParaRPr lang="en-US" sz="1720" dirty="0"/>
          </a:p>
        </p:txBody>
      </p:sp>
      <p:sp>
        <p:nvSpPr>
          <p:cNvPr id="27" name="Text 23"/>
          <p:cNvSpPr/>
          <p:nvPr/>
        </p:nvSpPr>
        <p:spPr>
          <a:xfrm>
            <a:off x="1143000" y="5742432"/>
            <a:ext cx="9875520" cy="411480"/>
          </a:xfrm>
          <a:prstGeom prst="rect">
            <a:avLst/>
          </a:prstGeom>
          <a:noFill/>
          <a:ln/>
        </p:spPr>
        <p:txBody>
          <a:bodyPr wrap="square" lIns="0" tIns="0" rIns="0" bIns="0" rtlCol="0" anchor="ctr">
            <a:normAutofit/>
          </a:bodyPr>
          <a:lstStyle/>
          <a:p>
            <a:pPr marL="0" indent="0" algn="ctr">
              <a:buNone/>
            </a:pPr>
            <a:r>
              <a:rPr lang="en-US" sz="2000" b="1" dirty="0">
                <a:solidFill>
                  <a:srgbClr val="292929"/>
                </a:solidFill>
                <a:latin typeface="Aptos Display" pitchFamily="34" charset="0"/>
                <a:ea typeface="Aptos Display" pitchFamily="34" charset="-122"/>
                <a:cs typeface="Aptos Display" pitchFamily="34" charset="-120"/>
              </a:rPr>
              <a:t>Lo importante: podemos explicar cómo funciona, mostrarlo en vivo y reconocer sus límites.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8"/>
        </a:solidFill>
        <a:effectLst/>
      </p:bgPr>
    </p:bg>
    <p:spTree>
      <p:nvGrpSpPr>
        <p:cNvPr id="1" name=""/>
        <p:cNvGrpSpPr/>
        <p:nvPr/>
      </p:nvGrpSpPr>
      <p:grpSpPr>
        <a:xfrm>
          <a:off x="0" y="0"/>
          <a:ext cx="0" cy="0"/>
          <a:chOff x="0" y="0"/>
          <a:chExt cx="0" cy="0"/>
        </a:xfrm>
      </p:grpSpPr>
      <p:sp>
        <p:nvSpPr>
          <p:cNvPr id="2" name="Shape 0"/>
          <p:cNvSpPr/>
          <p:nvPr/>
        </p:nvSpPr>
        <p:spPr>
          <a:xfrm>
            <a:off x="685800" y="630936"/>
            <a:ext cx="64008" cy="402336"/>
          </a:xfrm>
          <a:prstGeom prst="rect">
            <a:avLst/>
          </a:prstGeom>
          <a:solidFill>
            <a:srgbClr val="A77958"/>
          </a:solidFill>
          <a:ln w="12700">
            <a:solidFill>
              <a:srgbClr val="A77958">
                <a:alpha val="0"/>
              </a:srgbClr>
            </a:solidFill>
            <a:prstDash val="solid"/>
          </a:ln>
        </p:spPr>
        <p:txBody>
          <a:bodyPr/>
          <a:lstStyle/>
          <a:p>
            <a:endParaRPr lang="en-US"/>
          </a:p>
        </p:txBody>
      </p:sp>
      <p:sp>
        <p:nvSpPr>
          <p:cNvPr id="3" name="Text 1"/>
          <p:cNvSpPr/>
          <p:nvPr/>
        </p:nvSpPr>
        <p:spPr>
          <a:xfrm>
            <a:off x="923544" y="694944"/>
            <a:ext cx="10369296" cy="256032"/>
          </a:xfrm>
          <a:prstGeom prst="rect">
            <a:avLst/>
          </a:prstGeom>
          <a:noFill/>
          <a:ln/>
        </p:spPr>
        <p:txBody>
          <a:bodyPr wrap="square" lIns="0" tIns="0" rIns="0" bIns="0" rtlCol="0" anchor="ctr">
            <a:normAutofit/>
          </a:bodyPr>
          <a:lstStyle/>
          <a:p>
            <a:pPr marL="0" indent="0" algn="l">
              <a:buNone/>
            </a:pPr>
            <a:r>
              <a:rPr lang="en-US" sz="1220" b="1" kern="0" spc="140" dirty="0">
                <a:solidFill>
                  <a:srgbClr val="A77958"/>
                </a:solidFill>
                <a:latin typeface="Aptos" pitchFamily="34" charset="0"/>
                <a:ea typeface="Aptos" pitchFamily="34" charset="-122"/>
                <a:cs typeface="Aptos" pitchFamily="34" charset="-120"/>
              </a:rPr>
              <a:t>FUENTES Y EVIDENCIAS</a:t>
            </a:r>
            <a:endParaRPr lang="en-US" sz="1220" dirty="0"/>
          </a:p>
        </p:txBody>
      </p:sp>
      <p:sp>
        <p:nvSpPr>
          <p:cNvPr id="4" name="Text 2"/>
          <p:cNvSpPr/>
          <p:nvPr/>
        </p:nvSpPr>
        <p:spPr>
          <a:xfrm>
            <a:off x="722376" y="1271016"/>
            <a:ext cx="10808208" cy="621792"/>
          </a:xfrm>
          <a:prstGeom prst="rect">
            <a:avLst/>
          </a:prstGeom>
          <a:noFill/>
          <a:ln/>
        </p:spPr>
        <p:txBody>
          <a:bodyPr wrap="square" lIns="0" tIns="0" rIns="0" bIns="0" rtlCol="0" anchor="ctr">
            <a:normAutofit/>
          </a:bodyPr>
          <a:lstStyle/>
          <a:p>
            <a:pPr marL="0" indent="0" algn="l">
              <a:buNone/>
            </a:pPr>
            <a:r>
              <a:rPr lang="en-US" sz="3500" b="1" dirty="0">
                <a:solidFill>
                  <a:srgbClr val="292929"/>
                </a:solidFill>
                <a:latin typeface="Aptos Display" pitchFamily="34" charset="0"/>
                <a:ea typeface="Aptos Display" pitchFamily="34" charset="-122"/>
                <a:cs typeface="Aptos Display" pitchFamily="34" charset="-120"/>
              </a:rPr>
              <a:t>Referencias</a:t>
            </a:r>
            <a:endParaRPr lang="en-US" sz="3500" dirty="0"/>
          </a:p>
        </p:txBody>
      </p:sp>
      <p:sp>
        <p:nvSpPr>
          <p:cNvPr id="5" name="Shape 3"/>
          <p:cNvSpPr/>
          <p:nvPr/>
        </p:nvSpPr>
        <p:spPr>
          <a:xfrm>
            <a:off x="758952" y="2240280"/>
            <a:ext cx="10652760" cy="914400"/>
          </a:xfrm>
          <a:prstGeom prst="roundRect">
            <a:avLst>
              <a:gd name="adj" fmla="val 12000"/>
            </a:avLst>
          </a:prstGeom>
          <a:solidFill>
            <a:srgbClr val="FFFFFF"/>
          </a:solidFill>
          <a:ln w="8890">
            <a:solidFill>
              <a:srgbClr val="DEDAD5"/>
            </a:solidFill>
            <a:prstDash val="solid"/>
          </a:ln>
        </p:spPr>
        <p:txBody>
          <a:bodyPr/>
          <a:lstStyle/>
          <a:p>
            <a:endParaRPr lang="en-US"/>
          </a:p>
        </p:txBody>
      </p:sp>
      <p:sp>
        <p:nvSpPr>
          <p:cNvPr id="6" name="Text 4"/>
          <p:cNvSpPr/>
          <p:nvPr/>
        </p:nvSpPr>
        <p:spPr>
          <a:xfrm>
            <a:off x="1005840" y="2377440"/>
            <a:ext cx="2889504" cy="301752"/>
          </a:xfrm>
          <a:prstGeom prst="rect">
            <a:avLst/>
          </a:prstGeom>
          <a:noFill/>
          <a:ln/>
        </p:spPr>
        <p:txBody>
          <a:bodyPr wrap="square" lIns="0" tIns="0" rIns="0" bIns="0" rtlCol="0" anchor="ctr">
            <a:normAutofit/>
          </a:bodyPr>
          <a:lstStyle/>
          <a:p>
            <a:pPr marL="0" indent="0" algn="l">
              <a:buNone/>
            </a:pPr>
            <a:r>
              <a:rPr lang="en-US" sz="1660" b="1" dirty="0">
                <a:solidFill>
                  <a:srgbClr val="292929"/>
                </a:solidFill>
                <a:latin typeface="Aptos" pitchFamily="34" charset="0"/>
                <a:ea typeface="Aptos" pitchFamily="34" charset="-122"/>
                <a:cs typeface="Aptos" pitchFamily="34" charset="-120"/>
              </a:rPr>
              <a:t>Guía y rúbrica oficial</a:t>
            </a:r>
            <a:endParaRPr lang="en-US" sz="1660" dirty="0"/>
          </a:p>
        </p:txBody>
      </p:sp>
      <p:sp>
        <p:nvSpPr>
          <p:cNvPr id="7" name="Text 5"/>
          <p:cNvSpPr/>
          <p:nvPr/>
        </p:nvSpPr>
        <p:spPr>
          <a:xfrm>
            <a:off x="3758184" y="2359152"/>
            <a:ext cx="7269480" cy="557784"/>
          </a:xfrm>
          <a:prstGeom prst="rect">
            <a:avLst/>
          </a:prstGeom>
          <a:noFill/>
          <a:ln/>
        </p:spPr>
        <p:txBody>
          <a:bodyPr wrap="square" lIns="0" tIns="0" rIns="0" bIns="0" rtlCol="0" anchor="ctr">
            <a:normAutofit/>
          </a:bodyPr>
          <a:lstStyle/>
          <a:p>
            <a:pPr marL="0" indent="0" algn="l">
              <a:buNone/>
            </a:pPr>
            <a:r>
              <a:rPr lang="en-US" sz="1410" dirty="0">
                <a:solidFill>
                  <a:srgbClr val="6E6A66"/>
                </a:solidFill>
                <a:latin typeface="Aptos" pitchFamily="34" charset="0"/>
                <a:ea typeface="Aptos" pitchFamily="34" charset="-122"/>
                <a:cs typeface="Aptos" pitchFamily="34" charset="-120"/>
              </a:rPr>
              <a:t>Universidad Privada del Norte. (2026). Desafío UAIN1288P [Documento del curso].</a:t>
            </a:r>
            <a:endParaRPr lang="en-US" sz="1410" dirty="0"/>
          </a:p>
        </p:txBody>
      </p:sp>
      <p:sp>
        <p:nvSpPr>
          <p:cNvPr id="8" name="Shape 6"/>
          <p:cNvSpPr/>
          <p:nvPr/>
        </p:nvSpPr>
        <p:spPr>
          <a:xfrm>
            <a:off x="758952" y="3310128"/>
            <a:ext cx="10652760" cy="914400"/>
          </a:xfrm>
          <a:prstGeom prst="roundRect">
            <a:avLst>
              <a:gd name="adj" fmla="val 12000"/>
            </a:avLst>
          </a:prstGeom>
          <a:solidFill>
            <a:srgbClr val="F5F0EB"/>
          </a:solidFill>
          <a:ln w="8890">
            <a:solidFill>
              <a:srgbClr val="DEDAD5"/>
            </a:solidFill>
            <a:prstDash val="solid"/>
          </a:ln>
        </p:spPr>
        <p:txBody>
          <a:bodyPr/>
          <a:lstStyle/>
          <a:p>
            <a:endParaRPr lang="en-US"/>
          </a:p>
        </p:txBody>
      </p:sp>
      <p:sp>
        <p:nvSpPr>
          <p:cNvPr id="9" name="Text 7"/>
          <p:cNvSpPr/>
          <p:nvPr/>
        </p:nvSpPr>
        <p:spPr>
          <a:xfrm>
            <a:off x="1005840" y="3447288"/>
            <a:ext cx="2889504" cy="301752"/>
          </a:xfrm>
          <a:prstGeom prst="rect">
            <a:avLst/>
          </a:prstGeom>
          <a:noFill/>
          <a:ln/>
        </p:spPr>
        <p:txBody>
          <a:bodyPr wrap="square" lIns="0" tIns="0" rIns="0" bIns="0" rtlCol="0" anchor="ctr">
            <a:normAutofit/>
          </a:bodyPr>
          <a:lstStyle/>
          <a:p>
            <a:pPr marL="0" indent="0" algn="l">
              <a:buNone/>
            </a:pPr>
            <a:r>
              <a:rPr lang="en-US" sz="1660" b="1" dirty="0">
                <a:solidFill>
                  <a:srgbClr val="292929"/>
                </a:solidFill>
                <a:latin typeface="Aptos" pitchFamily="34" charset="0"/>
                <a:ea typeface="Aptos" pitchFamily="34" charset="-122"/>
                <a:cs typeface="Aptos" pitchFamily="34" charset="-120"/>
              </a:rPr>
              <a:t>Código y pruebas reales</a:t>
            </a:r>
            <a:endParaRPr lang="en-US" sz="1660" dirty="0"/>
          </a:p>
        </p:txBody>
      </p:sp>
      <p:sp>
        <p:nvSpPr>
          <p:cNvPr id="10" name="Text 8"/>
          <p:cNvSpPr/>
          <p:nvPr/>
        </p:nvSpPr>
        <p:spPr>
          <a:xfrm>
            <a:off x="3758184" y="3429000"/>
            <a:ext cx="7269480" cy="557784"/>
          </a:xfrm>
          <a:prstGeom prst="rect">
            <a:avLst/>
          </a:prstGeom>
          <a:noFill/>
          <a:ln/>
        </p:spPr>
        <p:txBody>
          <a:bodyPr wrap="square" lIns="0" tIns="0" rIns="0" bIns="0" rtlCol="0" anchor="ctr">
            <a:normAutofit/>
          </a:bodyPr>
          <a:lstStyle/>
          <a:p>
            <a:pPr marL="0" indent="0" algn="l">
              <a:buNone/>
            </a:pPr>
            <a:r>
              <a:rPr lang="en-US" sz="1410" dirty="0">
                <a:solidFill>
                  <a:srgbClr val="6E6A66"/>
                </a:solidFill>
                <a:latin typeface="Aptos" pitchFamily="34" charset="0"/>
                <a:ea typeface="Aptos" pitchFamily="34" charset="-122"/>
                <a:cs typeface="Aptos" pitchFamily="34" charset="-120"/>
              </a:rPr>
              <a:t>Equipo MedicRural-PE. (2026). MedicRural-PE [Código Java, UML y pruebas JUnit].</a:t>
            </a:r>
            <a:endParaRPr lang="en-US" sz="1410" dirty="0"/>
          </a:p>
        </p:txBody>
      </p:sp>
      <p:sp>
        <p:nvSpPr>
          <p:cNvPr id="11" name="Shape 9"/>
          <p:cNvSpPr/>
          <p:nvPr/>
        </p:nvSpPr>
        <p:spPr>
          <a:xfrm>
            <a:off x="758952" y="4379976"/>
            <a:ext cx="10652760" cy="914400"/>
          </a:xfrm>
          <a:prstGeom prst="roundRect">
            <a:avLst>
              <a:gd name="adj" fmla="val 12000"/>
            </a:avLst>
          </a:prstGeom>
          <a:solidFill>
            <a:srgbClr val="FFFFFF"/>
          </a:solidFill>
          <a:ln w="8890">
            <a:solidFill>
              <a:srgbClr val="DEDAD5"/>
            </a:solidFill>
            <a:prstDash val="solid"/>
          </a:ln>
        </p:spPr>
        <p:txBody>
          <a:bodyPr/>
          <a:lstStyle/>
          <a:p>
            <a:endParaRPr lang="en-US"/>
          </a:p>
        </p:txBody>
      </p:sp>
      <p:sp>
        <p:nvSpPr>
          <p:cNvPr id="12" name="Text 10"/>
          <p:cNvSpPr/>
          <p:nvPr/>
        </p:nvSpPr>
        <p:spPr>
          <a:xfrm>
            <a:off x="1005840" y="4517136"/>
            <a:ext cx="2889504" cy="301752"/>
          </a:xfrm>
          <a:prstGeom prst="rect">
            <a:avLst/>
          </a:prstGeom>
          <a:noFill/>
          <a:ln/>
        </p:spPr>
        <p:txBody>
          <a:bodyPr wrap="square" lIns="0" tIns="0" rIns="0" bIns="0" rtlCol="0" anchor="ctr">
            <a:normAutofit/>
          </a:bodyPr>
          <a:lstStyle/>
          <a:p>
            <a:pPr marL="0" indent="0" algn="l">
              <a:buNone/>
            </a:pPr>
            <a:r>
              <a:rPr lang="en-US" sz="1660" b="1" dirty="0">
                <a:solidFill>
                  <a:srgbClr val="292929"/>
                </a:solidFill>
                <a:latin typeface="Aptos" pitchFamily="34" charset="0"/>
                <a:ea typeface="Aptos" pitchFamily="34" charset="-122"/>
                <a:cs typeface="Aptos" pitchFamily="34" charset="-120"/>
              </a:rPr>
              <a:t>Informe del equipo</a:t>
            </a:r>
            <a:endParaRPr lang="en-US" sz="1660" dirty="0"/>
          </a:p>
        </p:txBody>
      </p:sp>
      <p:sp>
        <p:nvSpPr>
          <p:cNvPr id="13" name="Text 11"/>
          <p:cNvSpPr/>
          <p:nvPr/>
        </p:nvSpPr>
        <p:spPr>
          <a:xfrm>
            <a:off x="3758184" y="4498848"/>
            <a:ext cx="7269480" cy="557784"/>
          </a:xfrm>
          <a:prstGeom prst="rect">
            <a:avLst/>
          </a:prstGeom>
          <a:noFill/>
          <a:ln/>
        </p:spPr>
        <p:txBody>
          <a:bodyPr wrap="square" lIns="0" tIns="0" rIns="0" bIns="0" rtlCol="0" anchor="ctr">
            <a:normAutofit/>
          </a:bodyPr>
          <a:lstStyle/>
          <a:p>
            <a:pPr marL="0" indent="0" algn="l">
              <a:buNone/>
            </a:pPr>
            <a:r>
              <a:rPr lang="en-US" sz="1410" dirty="0">
                <a:solidFill>
                  <a:srgbClr val="6E6A66"/>
                </a:solidFill>
                <a:latin typeface="Aptos" pitchFamily="34" charset="0"/>
                <a:ea typeface="Aptos" pitchFamily="34" charset="-122"/>
                <a:cs typeface="Aptos" pitchFamily="34" charset="-120"/>
              </a:rPr>
              <a:t>Equipo MedicRural-PE. (2026). Informe técnico final MedicRural-PE [Documento académico].</a:t>
            </a:r>
            <a:endParaRPr lang="en-US" sz="1410" dirty="0"/>
          </a:p>
        </p:txBody>
      </p:sp>
      <p:sp>
        <p:nvSpPr>
          <p:cNvPr id="14" name="Text 12"/>
          <p:cNvSpPr/>
          <p:nvPr/>
        </p:nvSpPr>
        <p:spPr>
          <a:xfrm>
            <a:off x="1005840" y="5833872"/>
            <a:ext cx="10012680" cy="292608"/>
          </a:xfrm>
          <a:prstGeom prst="rect">
            <a:avLst/>
          </a:prstGeom>
          <a:noFill/>
          <a:ln/>
        </p:spPr>
        <p:txBody>
          <a:bodyPr wrap="square" lIns="0" tIns="0" rIns="0" bIns="0" rtlCol="0" anchor="ctr">
            <a:normAutofit/>
          </a:bodyPr>
          <a:lstStyle/>
          <a:p>
            <a:pPr marL="0" indent="0" algn="l">
              <a:buNone/>
            </a:pPr>
            <a:r>
              <a:rPr lang="en-US" sz="1550" dirty="0">
                <a:solidFill>
                  <a:srgbClr val="A77958"/>
                </a:solidFill>
                <a:latin typeface="Aptos" pitchFamily="34" charset="0"/>
                <a:ea typeface="Aptos" pitchFamily="34" charset="-122"/>
                <a:cs typeface="Aptos" pitchFamily="34" charset="-120"/>
              </a:rPr>
              <a:t>Repositorio del proyecto: github.com/Eduard-Gozme/MedicRuralPE</a:t>
            </a:r>
            <a:endParaRPr lang="en-US" sz="1550" dirty="0"/>
          </a:p>
        </p:txBody>
      </p:sp>
      <p:sp>
        <p:nvSpPr>
          <p:cNvPr id="15" name="Text 13"/>
          <p:cNvSpPr/>
          <p:nvPr/>
        </p:nvSpPr>
        <p:spPr>
          <a:xfrm>
            <a:off x="749808" y="6565392"/>
            <a:ext cx="6035040" cy="192024"/>
          </a:xfrm>
          <a:prstGeom prst="rect">
            <a:avLst/>
          </a:prstGeom>
          <a:noFill/>
          <a:ln/>
        </p:spPr>
        <p:txBody>
          <a:bodyPr wrap="square" lIns="0" tIns="0" rIns="0" bIns="0" rtlCol="0" anchor="ctr">
            <a:normAutofit/>
          </a:bodyPr>
          <a:lstStyle/>
          <a:p>
            <a:pPr marL="0" indent="0" algn="l">
              <a:buNone/>
            </a:pPr>
            <a:r>
              <a:rPr lang="en-US" sz="910" dirty="0">
                <a:solidFill>
                  <a:srgbClr val="6E6A66"/>
                </a:solidFill>
                <a:latin typeface="Aptos" pitchFamily="34" charset="0"/>
                <a:ea typeface="Aptos" pitchFamily="34" charset="-122"/>
                <a:cs typeface="Aptos" pitchFamily="34" charset="-120"/>
              </a:rPr>
              <a:t>MedicRural-PE  ·  UAIN1288P</a:t>
            </a:r>
            <a:endParaRPr lang="en-US" sz="9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BF703346B65041AE483FEF05F06881" ma:contentTypeVersion="5" ma:contentTypeDescription="Create a new document." ma:contentTypeScope="" ma:versionID="d1de352850c2bb34515b20659e597bb7">
  <xsd:schema xmlns:xsd="http://www.w3.org/2001/XMLSchema" xmlns:xs="http://www.w3.org/2001/XMLSchema" xmlns:p="http://schemas.microsoft.com/office/2006/metadata/properties" xmlns:ns3="80f7fed7-0a05-43c2-b3ea-829299a933d1" targetNamespace="http://schemas.microsoft.com/office/2006/metadata/properties" ma:root="true" ma:fieldsID="6e87c867807e3a69ccdc6e760f85337c" ns3:_="">
    <xsd:import namespace="80f7fed7-0a05-43c2-b3ea-829299a933d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f7fed7-0a05-43c2-b3ea-829299a933d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0f7fed7-0a05-43c2-b3ea-829299a933d1" xsi:nil="true"/>
  </documentManagement>
</p:properties>
</file>

<file path=customXml/itemProps1.xml><?xml version="1.0" encoding="utf-8"?>
<ds:datastoreItem xmlns:ds="http://schemas.openxmlformats.org/officeDocument/2006/customXml" ds:itemID="{B013CAEC-E25A-4211-AC99-72825B33ED2E}">
  <ds:schemaRefs>
    <ds:schemaRef ds:uri="http://schemas.microsoft.com/sharepoint/v3/contenttype/forms"/>
  </ds:schemaRefs>
</ds:datastoreItem>
</file>

<file path=customXml/itemProps2.xml><?xml version="1.0" encoding="utf-8"?>
<ds:datastoreItem xmlns:ds="http://schemas.openxmlformats.org/officeDocument/2006/customXml" ds:itemID="{654ACD7E-B26A-496F-87D8-0F0B8DC29C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0f7fed7-0a05-43c2-b3ea-829299a933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E0E7EA-4BF0-479F-9C8D-97BD457A3548}">
  <ds:schemaRefs>
    <ds:schemaRef ds:uri="http://purl.org/dc/elements/1.1/"/>
    <ds:schemaRef ds:uri="http://purl.org/dc/terms/"/>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80f7fed7-0a05-43c2-b3ea-829299a933d1"/>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44</TotalTime>
  <Words>1617</Words>
  <Application>Microsoft Office PowerPoint</Application>
  <PresentationFormat>Panorámica</PresentationFormat>
  <Paragraphs>222</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Aptos</vt:lpstr>
      <vt:lpstr>Aptos Display</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MedicRural-PE | Del problema a la solución</dc:title>
  <dc:subject>Sustentación final — UAIN1288P</dc:subject>
  <dc:creator>Equipo MedicRural-PE</dc:creator>
  <cp:lastModifiedBy>Eduard David Gozme Flores</cp:lastModifiedBy>
  <cp:revision>2</cp:revision>
  <dcterms:created xsi:type="dcterms:W3CDTF">2026-10-10T01:47:46Z</dcterms:created>
  <dcterms:modified xsi:type="dcterms:W3CDTF">2026-10-10T02:49:07Z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0x010100D8BF703346B65041AE483FEF05F06881</vt:lpwstr>
  </property>
</Properties>
</file>